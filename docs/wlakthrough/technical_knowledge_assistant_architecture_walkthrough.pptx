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simple framing: this is not a generic chatbot. It is a controlled technical assistant. It has a knowledge side that maintains trusted, versioned technical material, and an answer side that only answers from that material. The local model helps with language, but the system design controls evidence, permissions and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anchor the audience. Tell them there is a knowledge side and an answer side. The knowledge side maintains trusted material. The answer side uses only that material. The LLM is deliberately not the overall controller.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 normal RAG system is too trusting. Similarity is not authority, and the LLM should not be deciding product safety. The architecture is designed to fail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website is crawled, content is extracted, split by structure, embedded locally, and published as a snapshot. The key point is that the new snapshot is only activated when 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very important slide. Use the coverage example. A naive RAG index may contain both old and new datasheets. Your design keeps old versions for audit, but the active-version invariant prevents retrieval from mixing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line to memorise. Do not say the database stores everything. It stores the knowledge model and provenance. The original source files remain on disk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dependency inversion. SQLite is not a toy rewrite and Postgres is not a separate product. Both adapters serve the same KnowledgeRepository contract. This lets you satisfy both offline assessment and production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CLI and UI are not separate logic. This matters because future website and CRM integration is straightforward if everything calls the same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strong security explanation. Never retrieve staff data for a public user and then ask the model not to reveal it. Filter before the model sees the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clear that retrieval is not just vector search. It is a controlled evidence-selection stage. pgvector helps because filtering and similarity can live in the same production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examples. Water ratio can be extracted by code. Product choice may require compose across passages. Unpublished or dangerous requests refuse or hand off. The key is that this is an ordered router, not model instinct.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model governance. Emphasise that the LLM is not being trusted blindly. It performs bounded synthesis over supplied passages, and then deterministic checks validate the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production-minded slide. The system has to be evaluated as a whole: retrieval, router, checks and model. Under load the expensive model path can be reduced, but safety behaviour must not be weakened.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addresses the image-photo question. The VLM extracts context, with confidence and what it cannot determine. It does not directly recommend a product. This keeps multimodal consistent with the current safety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the final rehearsal script. The goal is to sound like you understand the system. Do not describe every component. Tell the story: knowledge side, answer side, safety, local models, multimodal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11480" y="6565392"/>
            <a:ext cx="11384280" cy="0"/>
          </a:xfrm>
          <a:prstGeom prst="line">
            <a:avLst/>
          </a:prstGeom>
          <a:noFill/>
          <a:ln w="9525">
            <a:solidFill>
              <a:srgbClr val="CBD5E1"/>
            </a:solidFill>
            <a:prstDash val="solid"/>
          </a:ln>
        </p:spPr>
      </p:sp>
      <p:sp>
        <p:nvSpPr>
          <p:cNvPr id="3" name="Text 1"/>
          <p:cNvSpPr/>
          <p:nvPr/>
        </p:nvSpPr>
        <p:spPr>
          <a:xfrm>
            <a:off x="502920" y="6601968"/>
            <a:ext cx="6858000" cy="182880"/>
          </a:xfrm>
          <a:prstGeom prst="rect">
            <a:avLst/>
          </a:prstGeom>
          <a:noFill/>
          <a:ln/>
        </p:spPr>
        <p:txBody>
          <a:bodyPr wrap="square" lIns="0" tIns="0" rIns="0" bIns="0" rtlCol="0" anchor="ctr"/>
          <a:lstStyle/>
          <a:p>
            <a:pPr indent="0" marL="0">
              <a:buNone/>
            </a:pPr>
            <a:r>
              <a:rPr lang="en-US" sz="700" dirty="0">
                <a:solidFill>
                  <a:srgbClr val="64748B"/>
                </a:solidFill>
              </a:rPr>
              <a:t>Technical Knowledge Assistant · Lime Green architecture walkthrough</a:t>
            </a:r>
            <a:endParaRPr lang="en-US" sz="70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9646920" y="731520"/>
            <a:ext cx="1508760" cy="4480560"/>
          </a:xfrm>
          <a:prstGeom prst="rect">
            <a:avLst/>
          </a:prstGeom>
          <a:solidFill>
            <a:srgbClr val="1E3A8A">
              <a:alpha val="52000"/>
            </a:srgbClr>
          </a:solidFill>
          <a:ln w="12700">
            <a:solidFill>
              <a:srgbClr val="1E3A8A">
                <a:alpha val="0"/>
              </a:srgbClr>
            </a:solidFill>
            <a:prstDash val="solid"/>
          </a:ln>
        </p:spPr>
      </p:sp>
      <p:sp>
        <p:nvSpPr>
          <p:cNvPr id="3" name="Shape 1"/>
          <p:cNvSpPr/>
          <p:nvPr/>
        </p:nvSpPr>
        <p:spPr>
          <a:xfrm>
            <a:off x="10058400" y="1298448"/>
            <a:ext cx="868680" cy="3566160"/>
          </a:xfrm>
          <a:prstGeom prst="rect">
            <a:avLst/>
          </a:prstGeom>
          <a:solidFill>
            <a:srgbClr val="0E7C7B">
              <a:alpha val="65000"/>
            </a:srgbClr>
          </a:solidFill>
          <a:ln w="12700">
            <a:solidFill>
              <a:srgbClr val="0E7C7B">
                <a:alpha val="0"/>
              </a:srgbClr>
            </a:solidFill>
            <a:prstDash val="solid"/>
          </a:ln>
        </p:spPr>
      </p:sp>
      <p:sp>
        <p:nvSpPr>
          <p:cNvPr id="4" name="Text 2"/>
          <p:cNvSpPr/>
          <p:nvPr/>
        </p:nvSpPr>
        <p:spPr>
          <a:xfrm>
            <a:off x="685800" y="1417320"/>
            <a:ext cx="8686800" cy="640080"/>
          </a:xfrm>
          <a:prstGeom prst="rect">
            <a:avLst/>
          </a:prstGeom>
          <a:noFill/>
          <a:ln/>
        </p:spPr>
        <p:txBody>
          <a:bodyPr wrap="square" lIns="0" tIns="0" rIns="0" bIns="0" rtlCol="0" anchor="ct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Technical Knowledge Assistant</a:t>
            </a:r>
            <a:endParaRPr lang="en-US" sz="4200" dirty="0"/>
          </a:p>
        </p:txBody>
      </p:sp>
      <p:sp>
        <p:nvSpPr>
          <p:cNvPr id="5" name="Text 3"/>
          <p:cNvSpPr/>
          <p:nvPr/>
        </p:nvSpPr>
        <p:spPr>
          <a:xfrm>
            <a:off x="713232" y="2139696"/>
            <a:ext cx="7863840" cy="365760"/>
          </a:xfrm>
          <a:prstGeom prst="rect">
            <a:avLst/>
          </a:prstGeom>
          <a:noFill/>
          <a:ln/>
        </p:spPr>
        <p:txBody>
          <a:bodyPr wrap="square" lIns="0" tIns="0" rIns="0" bIns="0" rtlCol="0" anchor="ctr"/>
          <a:lstStyle/>
          <a:p>
            <a:pPr indent="0" marL="0">
              <a:buNone/>
            </a:pPr>
            <a:r>
              <a:rPr lang="en-US" sz="1900" dirty="0">
                <a:solidFill>
                  <a:srgbClr val="CBD5E1"/>
                </a:solidFill>
              </a:rPr>
              <a:t>Architecture walkthrough for explaining the system clearly</a:t>
            </a:r>
            <a:endParaRPr lang="en-US" sz="1900" dirty="0"/>
          </a:p>
        </p:txBody>
      </p:sp>
      <p:sp>
        <p:nvSpPr>
          <p:cNvPr id="6" name="Text 4"/>
          <p:cNvSpPr/>
          <p:nvPr/>
        </p:nvSpPr>
        <p:spPr>
          <a:xfrm>
            <a:off x="713232" y="2852928"/>
            <a:ext cx="7680960" cy="329184"/>
          </a:xfrm>
          <a:prstGeom prst="rect">
            <a:avLst/>
          </a:prstGeom>
          <a:noFill/>
          <a:ln/>
        </p:spPr>
        <p:txBody>
          <a:bodyPr wrap="square" lIns="0" tIns="0" rIns="0" bIns="0" rtlCol="0" anchor="ctr"/>
          <a:lstStyle/>
          <a:p>
            <a:pPr indent="0" marL="0">
              <a:buNone/>
            </a:pPr>
            <a:r>
              <a:rPr lang="en-US" sz="1500" b="1" dirty="0">
                <a:solidFill>
                  <a:srgbClr val="93C5FD"/>
                </a:solidFill>
              </a:rPr>
              <a:t>Lime Green · local AI · versioned knowledge · cited answers</a:t>
            </a:r>
            <a:endParaRPr lang="en-US" sz="1500" dirty="0"/>
          </a:p>
        </p:txBody>
      </p:sp>
      <p:sp>
        <p:nvSpPr>
          <p:cNvPr id="7" name="Shape 5"/>
          <p:cNvSpPr/>
          <p:nvPr/>
        </p:nvSpPr>
        <p:spPr>
          <a:xfrm>
            <a:off x="822960" y="4754880"/>
            <a:ext cx="2377440" cy="676656"/>
          </a:xfrm>
          <a:prstGeom prst="roundRect">
            <a:avLst>
              <a:gd name="adj" fmla="val 10811"/>
            </a:avLst>
          </a:prstGeom>
          <a:solidFill>
            <a:srgbClr val="CCFBF1"/>
          </a:solidFill>
          <a:ln w="15240">
            <a:solidFill>
              <a:srgbClr val="0E7C7B"/>
            </a:solidFill>
            <a:prstDash val="solid"/>
          </a:ln>
        </p:spPr>
      </p:sp>
      <p:sp>
        <p:nvSpPr>
          <p:cNvPr id="8" name="Text 6"/>
          <p:cNvSpPr/>
          <p:nvPr/>
        </p:nvSpPr>
        <p:spPr>
          <a:xfrm>
            <a:off x="941832" y="4828032"/>
            <a:ext cx="2139696" cy="566928"/>
          </a:xfrm>
          <a:prstGeom prst="rect">
            <a:avLst/>
          </a:prstGeom>
          <a:noFill/>
          <a:ln/>
        </p:spPr>
        <p:txBody>
          <a:bodyPr wrap="square" lIns="127" tIns="127" rIns="127" bIns="127" rtlCol="0" anchor="ctr">
            <a:normAutofit/>
          </a:bodyPr>
          <a:lstStyle/>
          <a:p>
            <a:pPr indent="0" marL="0">
              <a:buNone/>
            </a:pPr>
            <a:r>
              <a:rPr lang="en-US" sz="1600" b="1" dirty="0">
                <a:solidFill>
                  <a:srgbClr val="0F172A"/>
                </a:solidFill>
              </a:rPr>
              <a:t>Knowledge pipeline</a:t>
            </a:r>
            <a:pPr indent="0" marL="0">
              <a:buNone/>
            </a:pPr>
            <a:endParaRPr lang="en-US" sz="1600" dirty="0"/>
          </a:p>
          <a:p>
            <a:pPr indent="0" marL="0">
              <a:buNone/>
            </a:pPr>
            <a:r>
              <a:rPr lang="en-US" sz="1000" dirty="0">
                <a:solidFill>
                  <a:srgbClr val="334155"/>
                </a:solidFill>
              </a:rPr>
              <a:t>website → versions → index</a:t>
            </a:r>
            <a:endParaRPr lang="en-US" sz="1600" dirty="0"/>
          </a:p>
        </p:txBody>
      </p:sp>
      <p:sp>
        <p:nvSpPr>
          <p:cNvPr id="9" name="Shape 7"/>
          <p:cNvSpPr/>
          <p:nvPr/>
        </p:nvSpPr>
        <p:spPr>
          <a:xfrm>
            <a:off x="3474720" y="4754880"/>
            <a:ext cx="2377440" cy="676656"/>
          </a:xfrm>
          <a:prstGeom prst="roundRect">
            <a:avLst>
              <a:gd name="adj" fmla="val 10811"/>
            </a:avLst>
          </a:prstGeom>
          <a:solidFill>
            <a:srgbClr val="E0F2FE"/>
          </a:solidFill>
          <a:ln w="15240">
            <a:solidFill>
              <a:srgbClr val="1F4E79"/>
            </a:solidFill>
            <a:prstDash val="solid"/>
          </a:ln>
        </p:spPr>
      </p:sp>
      <p:sp>
        <p:nvSpPr>
          <p:cNvPr id="10" name="Text 8"/>
          <p:cNvSpPr/>
          <p:nvPr/>
        </p:nvSpPr>
        <p:spPr>
          <a:xfrm>
            <a:off x="3593592" y="4828032"/>
            <a:ext cx="2139696" cy="566928"/>
          </a:xfrm>
          <a:prstGeom prst="rect">
            <a:avLst/>
          </a:prstGeom>
          <a:noFill/>
          <a:ln/>
        </p:spPr>
        <p:txBody>
          <a:bodyPr wrap="square" lIns="127" tIns="127" rIns="127" bIns="127" rtlCol="0" anchor="ctr">
            <a:normAutofit/>
          </a:bodyPr>
          <a:lstStyle/>
          <a:p>
            <a:pPr indent="0" marL="0">
              <a:buNone/>
            </a:pPr>
            <a:r>
              <a:rPr lang="en-US" sz="1600" b="1" dirty="0">
                <a:solidFill>
                  <a:srgbClr val="0F172A"/>
                </a:solidFill>
              </a:rPr>
              <a:t>Answer pipeline</a:t>
            </a:r>
            <a:pPr indent="0" marL="0">
              <a:buNone/>
            </a:pPr>
            <a:endParaRPr lang="en-US" sz="1600" dirty="0"/>
          </a:p>
          <a:p>
            <a:pPr indent="0" marL="0">
              <a:buNone/>
            </a:pPr>
            <a:r>
              <a:rPr lang="en-US" sz="1000" dirty="0">
                <a:solidFill>
                  <a:srgbClr val="334155"/>
                </a:solidFill>
              </a:rPr>
              <a:t>question → retrieval → cited reply</a:t>
            </a:r>
            <a:endParaRPr lang="en-US" sz="1600" dirty="0"/>
          </a:p>
        </p:txBody>
      </p:sp>
      <p:sp>
        <p:nvSpPr>
          <p:cNvPr id="11" name="Shape 9"/>
          <p:cNvSpPr/>
          <p:nvPr/>
        </p:nvSpPr>
        <p:spPr>
          <a:xfrm>
            <a:off x="6126480" y="4754880"/>
            <a:ext cx="2377440" cy="676656"/>
          </a:xfrm>
          <a:prstGeom prst="roundRect">
            <a:avLst>
              <a:gd name="adj" fmla="val 10811"/>
            </a:avLst>
          </a:prstGeom>
          <a:solidFill>
            <a:srgbClr val="FEF3C7"/>
          </a:solidFill>
          <a:ln w="15240">
            <a:solidFill>
              <a:srgbClr val="F59E0B"/>
            </a:solidFill>
            <a:prstDash val="solid"/>
          </a:ln>
        </p:spPr>
      </p:sp>
      <p:sp>
        <p:nvSpPr>
          <p:cNvPr id="12" name="Text 10"/>
          <p:cNvSpPr/>
          <p:nvPr/>
        </p:nvSpPr>
        <p:spPr>
          <a:xfrm>
            <a:off x="6245352" y="4828032"/>
            <a:ext cx="2139696" cy="566928"/>
          </a:xfrm>
          <a:prstGeom prst="rect">
            <a:avLst/>
          </a:prstGeom>
          <a:noFill/>
          <a:ln/>
        </p:spPr>
        <p:txBody>
          <a:bodyPr wrap="square" lIns="127" tIns="127" rIns="127" bIns="127" rtlCol="0" anchor="ctr">
            <a:normAutofit/>
          </a:bodyPr>
          <a:lstStyle/>
          <a:p>
            <a:pPr indent="0" marL="0">
              <a:buNone/>
            </a:pPr>
            <a:r>
              <a:rPr lang="en-US" sz="1600" b="1" dirty="0">
                <a:solidFill>
                  <a:srgbClr val="0F172A"/>
                </a:solidFill>
              </a:rPr>
              <a:t>Safety envelope</a:t>
            </a:r>
            <a:pPr indent="0" marL="0">
              <a:buNone/>
            </a:pPr>
            <a:endParaRPr lang="en-US" sz="1600" dirty="0"/>
          </a:p>
          <a:p>
            <a:pPr indent="0" marL="0">
              <a:buNone/>
            </a:pPr>
            <a:r>
              <a:rPr lang="en-US" sz="1000" dirty="0">
                <a:solidFill>
                  <a:srgbClr val="334155"/>
                </a:solidFill>
              </a:rPr>
              <a:t>code gates before model output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8686800" cy="438912"/>
          </a:xfrm>
          <a:prstGeom prst="rect">
            <a:avLst/>
          </a:prstGeom>
          <a:noFill/>
          <a:ln/>
        </p:spPr>
        <p:txBody>
          <a:bodyPr wrap="square" lIns="0" tIns="0" rIns="0" bIns="0" rtlCol="0" anchor="ctr"/>
          <a:lstStyle/>
          <a:p>
            <a:pPr indent="0" marL="0">
              <a:buNone/>
            </a:pPr>
            <a:r>
              <a:rPr lang="en-US" sz="2800" b="1" dirty="0">
                <a:solidFill>
                  <a:srgbClr val="0F172A"/>
                </a:solidFill>
                <a:latin typeface="Aptos Display" pitchFamily="34" charset="0"/>
                <a:ea typeface="Aptos Display" pitchFamily="34" charset="-122"/>
                <a:cs typeface="Aptos Display" pitchFamily="34" charset="-120"/>
              </a:rPr>
              <a:t>The simplest story: two pipelines</a:t>
            </a:r>
            <a:endParaRPr lang="en-US" sz="2800" dirty="0"/>
          </a:p>
        </p:txBody>
      </p:sp>
      <p:sp>
        <p:nvSpPr>
          <p:cNvPr id="3" name="Text 1"/>
          <p:cNvSpPr/>
          <p:nvPr/>
        </p:nvSpPr>
        <p:spPr>
          <a:xfrm>
            <a:off x="530352" y="786384"/>
            <a:ext cx="9875520" cy="274320"/>
          </a:xfrm>
          <a:prstGeom prst="rect">
            <a:avLst/>
          </a:prstGeom>
          <a:noFill/>
          <a:ln/>
        </p:spPr>
        <p:txBody>
          <a:bodyPr wrap="square" lIns="0" tIns="0" rIns="0" bIns="0" rtlCol="0" anchor="ctr"/>
          <a:lstStyle/>
          <a:p>
            <a:pPr indent="0" marL="0">
              <a:buNone/>
            </a:pPr>
            <a:r>
              <a:rPr lang="en-US" sz="1050" dirty="0">
                <a:solidFill>
                  <a:srgbClr val="64748B"/>
                </a:solidFill>
              </a:rPr>
              <a:t>Explain this first, before going into individual boxes.</a:t>
            </a:r>
            <a:endParaRPr lang="en-US" sz="1050" dirty="0"/>
          </a:p>
        </p:txBody>
      </p:sp>
      <p:sp>
        <p:nvSpPr>
          <p:cNvPr id="4" name="Shape 2"/>
          <p:cNvSpPr/>
          <p:nvPr/>
        </p:nvSpPr>
        <p:spPr>
          <a:xfrm>
            <a:off x="502920" y="1078992"/>
            <a:ext cx="11155680" cy="0"/>
          </a:xfrm>
          <a:prstGeom prst="line">
            <a:avLst/>
          </a:prstGeom>
          <a:noFill/>
          <a:ln w="9525">
            <a:solidFill>
              <a:srgbClr val="E2E8F0"/>
            </a:solidFill>
            <a:prstDash val="solid"/>
          </a:ln>
        </p:spPr>
      </p:sp>
      <p:sp>
        <p:nvSpPr>
          <p:cNvPr id="5" name="Text 3"/>
          <p:cNvSpPr/>
          <p:nvPr/>
        </p:nvSpPr>
        <p:spPr>
          <a:xfrm>
            <a:off x="594360" y="1325880"/>
            <a:ext cx="5669280" cy="320040"/>
          </a:xfrm>
          <a:prstGeom prst="rect">
            <a:avLst/>
          </a:prstGeom>
          <a:noFill/>
          <a:ln/>
        </p:spPr>
        <p:txBody>
          <a:bodyPr wrap="square" lIns="0" tIns="0" rIns="0" bIns="0" rtlCol="0" anchor="ctr"/>
          <a:lstStyle/>
          <a:p>
            <a:pPr indent="0" marL="0">
              <a:buNone/>
            </a:pPr>
            <a:r>
              <a:rPr lang="en-US" sz="1800" b="1" dirty="0">
                <a:solidFill>
                  <a:srgbClr val="0F172A"/>
                </a:solidFill>
              </a:rPr>
              <a:t>The system has two jobs that must stay separate.</a:t>
            </a:r>
            <a:endParaRPr lang="en-US" sz="1800" dirty="0"/>
          </a:p>
        </p:txBody>
      </p:sp>
      <p:sp>
        <p:nvSpPr>
          <p:cNvPr id="6" name="Shape 4"/>
          <p:cNvSpPr/>
          <p:nvPr/>
        </p:nvSpPr>
        <p:spPr>
          <a:xfrm>
            <a:off x="685800" y="1874520"/>
            <a:ext cx="4023360" cy="1097280"/>
          </a:xfrm>
          <a:prstGeom prst="roundRect">
            <a:avLst>
              <a:gd name="adj" fmla="val 6667"/>
            </a:avLst>
          </a:prstGeom>
          <a:solidFill>
            <a:srgbClr val="CCFBF1"/>
          </a:solidFill>
          <a:ln w="15240">
            <a:solidFill>
              <a:srgbClr val="0E7C7B"/>
            </a:solidFill>
            <a:prstDash val="solid"/>
          </a:ln>
        </p:spPr>
      </p:sp>
      <p:sp>
        <p:nvSpPr>
          <p:cNvPr id="7" name="Text 5"/>
          <p:cNvSpPr/>
          <p:nvPr/>
        </p:nvSpPr>
        <p:spPr>
          <a:xfrm>
            <a:off x="804672" y="1947672"/>
            <a:ext cx="3785616" cy="987552"/>
          </a:xfrm>
          <a:prstGeom prst="rect">
            <a:avLst/>
          </a:prstGeom>
          <a:noFill/>
          <a:ln/>
        </p:spPr>
        <p:txBody>
          <a:bodyPr wrap="square" lIns="127" tIns="127" rIns="127" bIns="127" rtlCol="0" anchor="ctr">
            <a:normAutofit/>
          </a:bodyPr>
          <a:lstStyle/>
          <a:p>
            <a:pPr indent="0" marL="0">
              <a:buNone/>
            </a:pPr>
            <a:r>
              <a:rPr lang="en-US" sz="1700" b="1" dirty="0">
                <a:solidFill>
                  <a:srgbClr val="0F172A"/>
                </a:solidFill>
              </a:rPr>
              <a:t>1 · Knowledge pipeline</a:t>
            </a:r>
            <a:pPr indent="0" marL="0">
              <a:buNone/>
            </a:pPr>
            <a:endParaRPr lang="en-US" sz="1700" dirty="0"/>
          </a:p>
          <a:p>
            <a:pPr indent="0" marL="0">
              <a:buNone/>
            </a:pPr>
            <a:r>
              <a:rPr lang="en-US" sz="1130" dirty="0">
                <a:solidFill>
                  <a:srgbClr val="334155"/>
                </a:solidFill>
              </a:rPr>
              <a:t>Turns Lime Green technical content into a versioned, searchable knowledge base.</a:t>
            </a:r>
            <a:endParaRPr lang="en-US" sz="1700" dirty="0"/>
          </a:p>
        </p:txBody>
      </p:sp>
      <p:sp>
        <p:nvSpPr>
          <p:cNvPr id="8" name="Shape 6"/>
          <p:cNvSpPr/>
          <p:nvPr/>
        </p:nvSpPr>
        <p:spPr>
          <a:xfrm>
            <a:off x="685800" y="3337560"/>
            <a:ext cx="4023360" cy="1097280"/>
          </a:xfrm>
          <a:prstGeom prst="roundRect">
            <a:avLst>
              <a:gd name="adj" fmla="val 6667"/>
            </a:avLst>
          </a:prstGeom>
          <a:solidFill>
            <a:srgbClr val="E0F2FE"/>
          </a:solidFill>
          <a:ln w="15240">
            <a:solidFill>
              <a:srgbClr val="1F4E79"/>
            </a:solidFill>
            <a:prstDash val="solid"/>
          </a:ln>
        </p:spPr>
      </p:sp>
      <p:sp>
        <p:nvSpPr>
          <p:cNvPr id="9" name="Text 7"/>
          <p:cNvSpPr/>
          <p:nvPr/>
        </p:nvSpPr>
        <p:spPr>
          <a:xfrm>
            <a:off x="804672" y="3410712"/>
            <a:ext cx="3785616" cy="987552"/>
          </a:xfrm>
          <a:prstGeom prst="rect">
            <a:avLst/>
          </a:prstGeom>
          <a:noFill/>
          <a:ln/>
        </p:spPr>
        <p:txBody>
          <a:bodyPr wrap="square" lIns="127" tIns="127" rIns="127" bIns="127" rtlCol="0" anchor="ctr">
            <a:normAutofit/>
          </a:bodyPr>
          <a:lstStyle/>
          <a:p>
            <a:pPr indent="0" marL="0">
              <a:buNone/>
            </a:pPr>
            <a:r>
              <a:rPr lang="en-US" sz="1700" b="1" dirty="0">
                <a:solidFill>
                  <a:srgbClr val="0F172A"/>
                </a:solidFill>
              </a:rPr>
              <a:t>2 · Answer pipeline</a:t>
            </a:r>
            <a:pPr indent="0" marL="0">
              <a:buNone/>
            </a:pPr>
            <a:endParaRPr lang="en-US" sz="1700" dirty="0"/>
          </a:p>
          <a:p>
            <a:pPr indent="0" marL="0">
              <a:buNone/>
            </a:pPr>
            <a:r>
              <a:rPr lang="en-US" sz="1130" dirty="0">
                <a:solidFill>
                  <a:srgbClr val="334155"/>
                </a:solidFill>
              </a:rPr>
              <a:t>Takes a user question, retrieves permitted current evidence, and produces a cited reply.</a:t>
            </a:r>
            <a:endParaRPr lang="en-US" sz="1700" dirty="0"/>
          </a:p>
        </p:txBody>
      </p:sp>
      <p:sp>
        <p:nvSpPr>
          <p:cNvPr id="10" name="Shape 8"/>
          <p:cNvSpPr/>
          <p:nvPr/>
        </p:nvSpPr>
        <p:spPr>
          <a:xfrm>
            <a:off x="4983480" y="2423160"/>
            <a:ext cx="1527048" cy="0"/>
          </a:xfrm>
          <a:prstGeom prst="line">
            <a:avLst/>
          </a:prstGeom>
          <a:noFill/>
          <a:ln w="25400">
            <a:solidFill>
              <a:srgbClr val="0E7C7B"/>
            </a:solidFill>
            <a:prstDash val="solid"/>
            <a:headEnd type="none"/>
            <a:tailEnd type="triangle"/>
          </a:ln>
        </p:spPr>
      </p:sp>
      <p:sp>
        <p:nvSpPr>
          <p:cNvPr id="11" name="Shape 9"/>
          <p:cNvSpPr/>
          <p:nvPr/>
        </p:nvSpPr>
        <p:spPr>
          <a:xfrm>
            <a:off x="4983480" y="3886200"/>
            <a:ext cx="1527048" cy="0"/>
          </a:xfrm>
          <a:prstGeom prst="line">
            <a:avLst/>
          </a:prstGeom>
          <a:noFill/>
          <a:ln w="25400">
            <a:solidFill>
              <a:srgbClr val="1F4E79"/>
            </a:solidFill>
            <a:prstDash val="solid"/>
            <a:headEnd type="none"/>
            <a:tailEnd type="triangle"/>
          </a:ln>
        </p:spPr>
      </p:sp>
      <p:sp>
        <p:nvSpPr>
          <p:cNvPr id="12" name="Shape 10"/>
          <p:cNvSpPr/>
          <p:nvPr/>
        </p:nvSpPr>
        <p:spPr>
          <a:xfrm>
            <a:off x="6720840" y="1874520"/>
            <a:ext cx="4251960" cy="1097280"/>
          </a:xfrm>
          <a:prstGeom prst="roundRect">
            <a:avLst>
              <a:gd name="adj" fmla="val 6667"/>
            </a:avLst>
          </a:prstGeom>
          <a:solidFill>
            <a:srgbClr val="FFFFFF"/>
          </a:solidFill>
          <a:ln w="15240">
            <a:solidFill>
              <a:srgbClr val="E2E8F0"/>
            </a:solidFill>
            <a:prstDash val="solid"/>
          </a:ln>
        </p:spPr>
      </p:sp>
      <p:sp>
        <p:nvSpPr>
          <p:cNvPr id="13" name="Text 11"/>
          <p:cNvSpPr/>
          <p:nvPr/>
        </p:nvSpPr>
        <p:spPr>
          <a:xfrm>
            <a:off x="6839712" y="1947672"/>
            <a:ext cx="4014216" cy="987552"/>
          </a:xfrm>
          <a:prstGeom prst="rect">
            <a:avLst/>
          </a:prstGeom>
          <a:noFill/>
          <a:ln/>
        </p:spPr>
        <p:txBody>
          <a:bodyPr wrap="square" lIns="127" tIns="127" rIns="127" bIns="127" rtlCol="0" anchor="ctr">
            <a:normAutofit/>
          </a:bodyPr>
          <a:lstStyle/>
          <a:p>
            <a:pPr indent="0" marL="0">
              <a:buNone/>
            </a:pPr>
            <a:r>
              <a:rPr lang="en-US" sz="1600" b="1" dirty="0">
                <a:solidFill>
                  <a:srgbClr val="0F172A"/>
                </a:solidFill>
              </a:rPr>
              <a:t>Controlled knowledge</a:t>
            </a:r>
            <a:pPr indent="0" marL="0">
              <a:buNone/>
            </a:pPr>
            <a:endParaRPr lang="en-US" sz="1600" dirty="0"/>
          </a:p>
          <a:p>
            <a:pPr indent="0" marL="0">
              <a:buNone/>
            </a:pPr>
            <a:r>
              <a:rPr lang="en-US" sz="1050" dirty="0">
                <a:solidFill>
                  <a:srgbClr val="334155"/>
                </a:solidFill>
              </a:rPr>
              <a:t>Current active versions, chunks, citations, caveats, audience tags and embeddings.</a:t>
            </a:r>
            <a:endParaRPr lang="en-US" sz="1600" dirty="0"/>
          </a:p>
        </p:txBody>
      </p:sp>
      <p:sp>
        <p:nvSpPr>
          <p:cNvPr id="14" name="Shape 12"/>
          <p:cNvSpPr/>
          <p:nvPr/>
        </p:nvSpPr>
        <p:spPr>
          <a:xfrm>
            <a:off x="6720840" y="3337560"/>
            <a:ext cx="4251960" cy="1097280"/>
          </a:xfrm>
          <a:prstGeom prst="roundRect">
            <a:avLst>
              <a:gd name="adj" fmla="val 6667"/>
            </a:avLst>
          </a:prstGeom>
          <a:solidFill>
            <a:srgbClr val="FFFFFF"/>
          </a:solidFill>
          <a:ln w="15240">
            <a:solidFill>
              <a:srgbClr val="E2E8F0"/>
            </a:solidFill>
            <a:prstDash val="solid"/>
          </a:ln>
        </p:spPr>
      </p:sp>
      <p:sp>
        <p:nvSpPr>
          <p:cNvPr id="15" name="Text 13"/>
          <p:cNvSpPr/>
          <p:nvPr/>
        </p:nvSpPr>
        <p:spPr>
          <a:xfrm>
            <a:off x="6839712" y="3410712"/>
            <a:ext cx="4014216" cy="987552"/>
          </a:xfrm>
          <a:prstGeom prst="rect">
            <a:avLst/>
          </a:prstGeom>
          <a:noFill/>
          <a:ln/>
        </p:spPr>
        <p:txBody>
          <a:bodyPr wrap="square" lIns="127" tIns="127" rIns="127" bIns="127" rtlCol="0" anchor="ctr">
            <a:normAutofit/>
          </a:bodyPr>
          <a:lstStyle/>
          <a:p>
            <a:pPr indent="0" marL="0">
              <a:buNone/>
            </a:pPr>
            <a:r>
              <a:rPr lang="en-US" sz="1600" b="1" dirty="0">
                <a:solidFill>
                  <a:srgbClr val="0F172A"/>
                </a:solidFill>
              </a:rPr>
              <a:t>Controlled answer</a:t>
            </a:r>
            <a:pPr indent="0" marL="0">
              <a:buNone/>
            </a:pPr>
            <a:endParaRPr lang="en-US" sz="1600" dirty="0"/>
          </a:p>
          <a:p>
            <a:pPr indent="0" marL="0">
              <a:buNone/>
            </a:pPr>
            <a:r>
              <a:rPr lang="en-US" sz="1050" dirty="0">
                <a:solidFill>
                  <a:srgbClr val="334155"/>
                </a:solidFill>
              </a:rPr>
              <a:t>Extract, compose, refuse or hand off — decided by deterministic code.</a:t>
            </a:r>
            <a:endParaRPr lang="en-US" sz="1600" dirty="0"/>
          </a:p>
        </p:txBody>
      </p:sp>
      <p:sp>
        <p:nvSpPr>
          <p:cNvPr id="16" name="Shape 14"/>
          <p:cNvSpPr/>
          <p:nvPr/>
        </p:nvSpPr>
        <p:spPr>
          <a:xfrm>
            <a:off x="731520" y="5212080"/>
            <a:ext cx="54864" cy="786384"/>
          </a:xfrm>
          <a:prstGeom prst="rect">
            <a:avLst/>
          </a:prstGeom>
          <a:solidFill>
            <a:srgbClr val="F97316"/>
          </a:solidFill>
          <a:ln w="12700">
            <a:solidFill>
              <a:srgbClr val="F97316"/>
            </a:solidFill>
            <a:prstDash val="solid"/>
          </a:ln>
        </p:spPr>
      </p:sp>
      <p:sp>
        <p:nvSpPr>
          <p:cNvPr id="17" name="Text 15"/>
          <p:cNvSpPr/>
          <p:nvPr/>
        </p:nvSpPr>
        <p:spPr>
          <a:xfrm>
            <a:off x="896112" y="5212080"/>
            <a:ext cx="9784080" cy="822960"/>
          </a:xfrm>
          <a:prstGeom prst="rect">
            <a:avLst/>
          </a:prstGeom>
          <a:noFill/>
          <a:ln/>
        </p:spPr>
        <p:txBody>
          <a:bodyPr wrap="square" lIns="254" tIns="254" rIns="254" bIns="254" rtlCol="0" anchor="ctr">
            <a:normAutofit/>
          </a:bodyPr>
          <a:lstStyle/>
          <a:p>
            <a:pPr indent="0" marL="0">
              <a:buNone/>
            </a:pPr>
            <a:r>
              <a:rPr lang="en-US" sz="1900" i="1" dirty="0">
                <a:solidFill>
                  <a:srgbClr val="0F172A"/>
                </a:solidFill>
              </a:rPr>
              <a:t>The local model helps with language, but the system controls evidence, permissions and safety.</a:t>
            </a:r>
            <a:endParaRPr lang="en-US" sz="190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8686800" cy="438912"/>
          </a:xfrm>
          <a:prstGeom prst="rect">
            <a:avLst/>
          </a:prstGeom>
          <a:noFill/>
          <a:ln/>
        </p:spPr>
        <p:txBody>
          <a:bodyPr wrap="square" lIns="0" tIns="0" rIns="0" bIns="0" rtlCol="0" anchor="ctr"/>
          <a:lstStyle/>
          <a:p>
            <a:pPr indent="0" marL="0">
              <a:buNone/>
            </a:pPr>
            <a:r>
              <a:rPr lang="en-US" sz="2800" b="1" dirty="0">
                <a:solidFill>
                  <a:srgbClr val="0F172A"/>
                </a:solidFill>
                <a:latin typeface="Aptos Display" pitchFamily="34" charset="0"/>
                <a:ea typeface="Aptos Display" pitchFamily="34" charset="-122"/>
                <a:cs typeface="Aptos Display" pitchFamily="34" charset="-120"/>
              </a:rPr>
              <a:t>Why not just build a normal RAG chatbot?</a:t>
            </a:r>
            <a:endParaRPr lang="en-US" sz="2800" dirty="0"/>
          </a:p>
        </p:txBody>
      </p:sp>
      <p:sp>
        <p:nvSpPr>
          <p:cNvPr id="3" name="Text 1"/>
          <p:cNvSpPr/>
          <p:nvPr/>
        </p:nvSpPr>
        <p:spPr>
          <a:xfrm>
            <a:off x="530352" y="786384"/>
            <a:ext cx="9875520" cy="274320"/>
          </a:xfrm>
          <a:prstGeom prst="rect">
            <a:avLst/>
          </a:prstGeom>
          <a:noFill/>
          <a:ln/>
        </p:spPr>
        <p:txBody>
          <a:bodyPr wrap="square" lIns="0" tIns="0" rIns="0" bIns="0" rtlCol="0" anchor="ctr"/>
          <a:lstStyle/>
          <a:p>
            <a:pPr indent="0" marL="0">
              <a:buNone/>
            </a:pPr>
            <a:r>
              <a:rPr lang="en-US" sz="1050" dirty="0">
                <a:solidFill>
                  <a:srgbClr val="64748B"/>
                </a:solidFill>
              </a:rPr>
              <a:t>The architecture exists because technical advice has failure modes that generic RAG ignores.</a:t>
            </a:r>
            <a:endParaRPr lang="en-US" sz="1050" dirty="0"/>
          </a:p>
        </p:txBody>
      </p:sp>
      <p:sp>
        <p:nvSpPr>
          <p:cNvPr id="4" name="Shape 2"/>
          <p:cNvSpPr/>
          <p:nvPr/>
        </p:nvSpPr>
        <p:spPr>
          <a:xfrm>
            <a:off x="502920" y="1078992"/>
            <a:ext cx="11155680" cy="0"/>
          </a:xfrm>
          <a:prstGeom prst="line">
            <a:avLst/>
          </a:prstGeom>
          <a:noFill/>
          <a:ln w="9525">
            <a:solidFill>
              <a:srgbClr val="E2E8F0"/>
            </a:solidFill>
            <a:prstDash val="solid"/>
          </a:ln>
        </p:spPr>
      </p:sp>
      <p:sp>
        <p:nvSpPr>
          <p:cNvPr id="5" name="Shape 3"/>
          <p:cNvSpPr/>
          <p:nvPr/>
        </p:nvSpPr>
        <p:spPr>
          <a:xfrm>
            <a:off x="685800" y="1417320"/>
            <a:ext cx="3063240" cy="914400"/>
          </a:xfrm>
          <a:prstGeom prst="roundRect">
            <a:avLst>
              <a:gd name="adj" fmla="val 8000"/>
            </a:avLst>
          </a:prstGeom>
          <a:solidFill>
            <a:srgbClr val="FEE2E2"/>
          </a:solidFill>
          <a:ln w="15240">
            <a:solidFill>
              <a:srgbClr val="DC2626"/>
            </a:solidFill>
            <a:prstDash val="solid"/>
          </a:ln>
        </p:spPr>
      </p:sp>
      <p:sp>
        <p:nvSpPr>
          <p:cNvPr id="6" name="Text 4"/>
          <p:cNvSpPr/>
          <p:nvPr/>
        </p:nvSpPr>
        <p:spPr>
          <a:xfrm>
            <a:off x="804672" y="1490472"/>
            <a:ext cx="2825496" cy="804672"/>
          </a:xfrm>
          <a:prstGeom prst="rect">
            <a:avLst/>
          </a:prstGeom>
          <a:noFill/>
          <a:ln/>
        </p:spPr>
        <p:txBody>
          <a:bodyPr wrap="square" lIns="127" tIns="127" rIns="127" bIns="127" rtlCol="0" anchor="ctr">
            <a:normAutofit/>
          </a:bodyPr>
          <a:lstStyle/>
          <a:p>
            <a:pPr indent="0" marL="0">
              <a:buNone/>
            </a:pPr>
            <a:r>
              <a:rPr lang="en-US" sz="1600" b="1" dirty="0">
                <a:solidFill>
                  <a:srgbClr val="0F172A"/>
                </a:solidFill>
              </a:rPr>
              <a:t>Generic RAG risk</a:t>
            </a:r>
            <a:pPr indent="0" marL="0">
              <a:buNone/>
            </a:pPr>
            <a:endParaRPr lang="en-US" sz="1600" dirty="0"/>
          </a:p>
          <a:p>
            <a:pPr indent="0" marL="0">
              <a:buNone/>
            </a:pPr>
            <a:r>
              <a:rPr lang="en-US" sz="1100" dirty="0">
                <a:solidFill>
                  <a:srgbClr val="334155"/>
                </a:solidFill>
              </a:rPr>
              <a:t>Retrieve similar text → ask model → answer</a:t>
            </a:r>
            <a:endParaRPr lang="en-US" sz="1600" dirty="0"/>
          </a:p>
        </p:txBody>
      </p:sp>
      <p:sp>
        <p:nvSpPr>
          <p:cNvPr id="7" name="Shape 5"/>
          <p:cNvSpPr/>
          <p:nvPr/>
        </p:nvSpPr>
        <p:spPr>
          <a:xfrm>
            <a:off x="4572000" y="1417320"/>
            <a:ext cx="3063240" cy="914400"/>
          </a:xfrm>
          <a:prstGeom prst="roundRect">
            <a:avLst>
              <a:gd name="adj" fmla="val 8000"/>
            </a:avLst>
          </a:prstGeom>
          <a:solidFill>
            <a:srgbClr val="FEF3C7"/>
          </a:solidFill>
          <a:ln w="15240">
            <a:solidFill>
              <a:srgbClr val="F59E0B"/>
            </a:solidFill>
            <a:prstDash val="solid"/>
          </a:ln>
        </p:spPr>
      </p:sp>
      <p:sp>
        <p:nvSpPr>
          <p:cNvPr id="8" name="Text 6"/>
          <p:cNvSpPr/>
          <p:nvPr/>
        </p:nvSpPr>
        <p:spPr>
          <a:xfrm>
            <a:off x="4690872" y="1490472"/>
            <a:ext cx="2825496" cy="804672"/>
          </a:xfrm>
          <a:prstGeom prst="rect">
            <a:avLst/>
          </a:prstGeom>
          <a:noFill/>
          <a:ln/>
        </p:spPr>
        <p:txBody>
          <a:bodyPr wrap="square" lIns="127" tIns="127" rIns="127" bIns="127" rtlCol="0" anchor="ctr">
            <a:normAutofit/>
          </a:bodyPr>
          <a:lstStyle/>
          <a:p>
            <a:pPr indent="0" marL="0">
              <a:buNone/>
            </a:pPr>
            <a:r>
              <a:rPr lang="en-US" sz="1600" b="1" dirty="0">
                <a:solidFill>
                  <a:srgbClr val="0F172A"/>
                </a:solidFill>
              </a:rPr>
              <a:t>Technical risk</a:t>
            </a:r>
            <a:pPr indent="0" marL="0">
              <a:buNone/>
            </a:pPr>
            <a:endParaRPr lang="en-US" sz="1600" dirty="0"/>
          </a:p>
          <a:p>
            <a:pPr indent="0" marL="0">
              <a:buNone/>
            </a:pPr>
            <a:r>
              <a:rPr lang="en-US" sz="1100" dirty="0">
                <a:solidFill>
                  <a:srgbClr val="334155"/>
                </a:solidFill>
              </a:rPr>
              <a:t>Wrong plaster, wrong substrate, old datasheet, missing caveat</a:t>
            </a:r>
            <a:endParaRPr lang="en-US" sz="1600" dirty="0"/>
          </a:p>
        </p:txBody>
      </p:sp>
      <p:sp>
        <p:nvSpPr>
          <p:cNvPr id="9" name="Shape 7"/>
          <p:cNvSpPr/>
          <p:nvPr/>
        </p:nvSpPr>
        <p:spPr>
          <a:xfrm>
            <a:off x="8458200" y="1417320"/>
            <a:ext cx="2880360" cy="914400"/>
          </a:xfrm>
          <a:prstGeom prst="roundRect">
            <a:avLst>
              <a:gd name="adj" fmla="val 8000"/>
            </a:avLst>
          </a:prstGeom>
          <a:solidFill>
            <a:srgbClr val="DCFCE7"/>
          </a:solidFill>
          <a:ln w="15240">
            <a:solidFill>
              <a:srgbClr val="38761D"/>
            </a:solidFill>
            <a:prstDash val="solid"/>
          </a:ln>
        </p:spPr>
      </p:sp>
      <p:sp>
        <p:nvSpPr>
          <p:cNvPr id="10" name="Text 8"/>
          <p:cNvSpPr/>
          <p:nvPr/>
        </p:nvSpPr>
        <p:spPr>
          <a:xfrm>
            <a:off x="8577072" y="1490472"/>
            <a:ext cx="2642616" cy="804672"/>
          </a:xfrm>
          <a:prstGeom prst="rect">
            <a:avLst/>
          </a:prstGeom>
          <a:noFill/>
          <a:ln/>
        </p:spPr>
        <p:txBody>
          <a:bodyPr wrap="square" lIns="127" tIns="127" rIns="127" bIns="127" rtlCol="0" anchor="ctr">
            <a:normAutofit/>
          </a:bodyPr>
          <a:lstStyle/>
          <a:p>
            <a:pPr indent="0" marL="0">
              <a:buNone/>
            </a:pPr>
            <a:r>
              <a:rPr lang="en-US" sz="1600" b="1" dirty="0">
                <a:solidFill>
                  <a:srgbClr val="0F172A"/>
                </a:solidFill>
              </a:rPr>
              <a:t>Design response</a:t>
            </a:r>
            <a:pPr indent="0" marL="0">
              <a:buNone/>
            </a:pPr>
            <a:endParaRPr lang="en-US" sz="1600" dirty="0"/>
          </a:p>
          <a:p>
            <a:pPr indent="0" marL="0">
              <a:buNone/>
            </a:pPr>
            <a:r>
              <a:rPr lang="en-US" sz="1080" dirty="0">
                <a:solidFill>
                  <a:srgbClr val="334155"/>
                </a:solidFill>
              </a:rPr>
              <a:t>Gate, cite, verify, refuse when evidence runs out</a:t>
            </a:r>
            <a:endParaRPr lang="en-US" sz="1600" dirty="0"/>
          </a:p>
        </p:txBody>
      </p:sp>
      <p:sp>
        <p:nvSpPr>
          <p:cNvPr id="11" name="Shape 9"/>
          <p:cNvSpPr/>
          <p:nvPr/>
        </p:nvSpPr>
        <p:spPr>
          <a:xfrm>
            <a:off x="3886200" y="1874520"/>
            <a:ext cx="521208" cy="0"/>
          </a:xfrm>
          <a:prstGeom prst="line">
            <a:avLst/>
          </a:prstGeom>
          <a:noFill/>
          <a:ln w="19050">
            <a:solidFill>
              <a:srgbClr val="64748B"/>
            </a:solidFill>
            <a:prstDash val="solid"/>
            <a:headEnd type="none"/>
            <a:tailEnd type="triangle"/>
          </a:ln>
        </p:spPr>
      </p:sp>
      <p:sp>
        <p:nvSpPr>
          <p:cNvPr id="12" name="Shape 10"/>
          <p:cNvSpPr/>
          <p:nvPr/>
        </p:nvSpPr>
        <p:spPr>
          <a:xfrm>
            <a:off x="7772400" y="1874520"/>
            <a:ext cx="521208" cy="0"/>
          </a:xfrm>
          <a:prstGeom prst="line">
            <a:avLst/>
          </a:prstGeom>
          <a:noFill/>
          <a:ln w="19050">
            <a:solidFill>
              <a:srgbClr val="64748B"/>
            </a:solidFill>
            <a:prstDash val="solid"/>
            <a:headEnd type="none"/>
            <a:tailEnd type="triangle"/>
          </a:ln>
        </p:spPr>
      </p:sp>
      <p:sp>
        <p:nvSpPr>
          <p:cNvPr id="13" name="Text 11"/>
          <p:cNvSpPr/>
          <p:nvPr/>
        </p:nvSpPr>
        <p:spPr>
          <a:xfrm>
            <a:off x="685800" y="2880360"/>
            <a:ext cx="5486400" cy="320040"/>
          </a:xfrm>
          <a:prstGeom prst="rect">
            <a:avLst/>
          </a:prstGeom>
          <a:noFill/>
          <a:ln/>
        </p:spPr>
        <p:txBody>
          <a:bodyPr wrap="square" lIns="0" tIns="0" rIns="0" bIns="0" rtlCol="0" anchor="ctr"/>
          <a:lstStyle/>
          <a:p>
            <a:pPr indent="0" marL="0">
              <a:buNone/>
            </a:pPr>
            <a:r>
              <a:rPr lang="en-US" sz="1800" b="1" dirty="0">
                <a:solidFill>
                  <a:srgbClr val="0F172A"/>
                </a:solidFill>
              </a:rPr>
              <a:t>The failure you are preventing</a:t>
            </a:r>
            <a:endParaRPr lang="en-US" sz="1800" dirty="0"/>
          </a:p>
        </p:txBody>
      </p:sp>
      <p:sp>
        <p:nvSpPr>
          <p:cNvPr id="14" name="Text 12"/>
          <p:cNvSpPr/>
          <p:nvPr/>
        </p:nvSpPr>
        <p:spPr>
          <a:xfrm>
            <a:off x="713232" y="3291840"/>
            <a:ext cx="5394960" cy="914400"/>
          </a:xfrm>
          <a:prstGeom prst="rect">
            <a:avLst/>
          </a:prstGeom>
          <a:noFill/>
          <a:ln/>
        </p:spPr>
        <p:txBody>
          <a:bodyPr wrap="square" lIns="254" tIns="254" rIns="254" bIns="254" rtlCol="0" anchor="ctr">
            <a:normAutofit/>
          </a:bodyPr>
          <a:lstStyle/>
          <a:p>
            <a:pPr indent="0" marL="0">
              <a:buNone/>
            </a:pPr>
            <a:r>
              <a:rPr lang="en-US" sz="1550" dirty="0">
                <a:solidFill>
                  <a:srgbClr val="334155"/>
                </a:solidFill>
              </a:rPr>
              <a:t>A model sounds confident, but it may mix old and new datasheets, reveal staff-only guidance, or infer a product compatibility that was never published.</a:t>
            </a:r>
            <a:endParaRPr lang="en-US" sz="1550" dirty="0"/>
          </a:p>
        </p:txBody>
      </p:sp>
      <p:sp>
        <p:nvSpPr>
          <p:cNvPr id="15" name="Text 13"/>
          <p:cNvSpPr/>
          <p:nvPr/>
        </p:nvSpPr>
        <p:spPr>
          <a:xfrm>
            <a:off x="6400800" y="2880360"/>
            <a:ext cx="4663440" cy="320040"/>
          </a:xfrm>
          <a:prstGeom prst="rect">
            <a:avLst/>
          </a:prstGeom>
          <a:noFill/>
          <a:ln/>
        </p:spPr>
        <p:txBody>
          <a:bodyPr wrap="square" lIns="0" tIns="0" rIns="0" bIns="0" rtlCol="0" anchor="ctr"/>
          <a:lstStyle/>
          <a:p>
            <a:pPr indent="0" marL="0">
              <a:buNone/>
            </a:pPr>
            <a:r>
              <a:rPr lang="en-US" sz="1800" b="1" dirty="0">
                <a:solidFill>
                  <a:srgbClr val="0F172A"/>
                </a:solidFill>
              </a:rPr>
              <a:t>The system’s answer</a:t>
            </a:r>
            <a:endParaRPr lang="en-US" sz="1800" dirty="0"/>
          </a:p>
        </p:txBody>
      </p:sp>
      <p:sp>
        <p:nvSpPr>
          <p:cNvPr id="16" name="Text 14"/>
          <p:cNvSpPr/>
          <p:nvPr/>
        </p:nvSpPr>
        <p:spPr>
          <a:xfrm>
            <a:off x="6419088" y="3291840"/>
            <a:ext cx="4754880" cy="914400"/>
          </a:xfrm>
          <a:prstGeom prst="rect">
            <a:avLst/>
          </a:prstGeom>
          <a:noFill/>
          <a:ln/>
        </p:spPr>
        <p:txBody>
          <a:bodyPr wrap="square" lIns="254" tIns="254" rIns="254" bIns="254" rtlCol="0" anchor="ctr">
            <a:normAutofit/>
          </a:bodyPr>
          <a:lstStyle/>
          <a:p>
            <a:pPr indent="0" marL="0">
              <a:buNone/>
            </a:pPr>
            <a:r>
              <a:rPr lang="en-US" sz="1550" dirty="0">
                <a:solidFill>
                  <a:srgbClr val="334155"/>
                </a:solidFill>
              </a:rPr>
              <a:t>The model only sees approved passages. Code decides the route, access, active version, citation checks and refusal behaviour.</a:t>
            </a:r>
            <a:endParaRPr lang="en-US" sz="1550" dirty="0"/>
          </a:p>
        </p:txBody>
      </p:sp>
      <p:sp>
        <p:nvSpPr>
          <p:cNvPr id="17" name="Shape 15"/>
          <p:cNvSpPr/>
          <p:nvPr/>
        </p:nvSpPr>
        <p:spPr>
          <a:xfrm>
            <a:off x="914400" y="5138928"/>
            <a:ext cx="54864" cy="786384"/>
          </a:xfrm>
          <a:prstGeom prst="rect">
            <a:avLst/>
          </a:prstGeom>
          <a:solidFill>
            <a:srgbClr val="DC2626"/>
          </a:solidFill>
          <a:ln w="12700">
            <a:solidFill>
              <a:srgbClr val="DC2626"/>
            </a:solidFill>
            <a:prstDash val="solid"/>
          </a:ln>
        </p:spPr>
      </p:sp>
      <p:sp>
        <p:nvSpPr>
          <p:cNvPr id="18" name="Text 16"/>
          <p:cNvSpPr/>
          <p:nvPr/>
        </p:nvSpPr>
        <p:spPr>
          <a:xfrm>
            <a:off x="1078992" y="5138928"/>
            <a:ext cx="9784080" cy="822960"/>
          </a:xfrm>
          <a:prstGeom prst="rect">
            <a:avLst/>
          </a:prstGeom>
          <a:noFill/>
          <a:ln/>
        </p:spPr>
        <p:txBody>
          <a:bodyPr wrap="square" lIns="254" tIns="254" rIns="254" bIns="254" rtlCol="0" anchor="ctr">
            <a:normAutofit/>
          </a:bodyPr>
          <a:lstStyle/>
          <a:p>
            <a:pPr indent="0" marL="0">
              <a:buNone/>
            </a:pPr>
            <a:r>
              <a:rPr lang="en-US" sz="1900" i="1" dirty="0">
                <a:solidFill>
                  <a:srgbClr val="0F172A"/>
                </a:solidFill>
              </a:rPr>
              <a:t>A refusal is not a failure here. A wrong confident recommendation is the failure.</a:t>
            </a:r>
            <a:endParaRPr lang="en-US" sz="190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8686800" cy="438912"/>
          </a:xfrm>
          <a:prstGeom prst="rect">
            <a:avLst/>
          </a:prstGeom>
          <a:noFill/>
          <a:ln/>
        </p:spPr>
        <p:txBody>
          <a:bodyPr wrap="square" lIns="0" tIns="0" rIns="0" bIns="0" rtlCol="0" anchor="ctr"/>
          <a:lstStyle/>
          <a:p>
            <a:pPr indent="0" marL="0">
              <a:buNone/>
            </a:pPr>
            <a:r>
              <a:rPr lang="en-US" sz="2800" b="1" dirty="0">
                <a:solidFill>
                  <a:srgbClr val="0F172A"/>
                </a:solidFill>
                <a:latin typeface="Aptos Display" pitchFamily="34" charset="0"/>
                <a:ea typeface="Aptos Display" pitchFamily="34" charset="-122"/>
                <a:cs typeface="Aptos Display" pitchFamily="34" charset="-120"/>
              </a:rPr>
              <a:t>Knowledge side: how content becomes a trusted index</a:t>
            </a:r>
            <a:endParaRPr lang="en-US" sz="2800" dirty="0"/>
          </a:p>
        </p:txBody>
      </p:sp>
      <p:sp>
        <p:nvSpPr>
          <p:cNvPr id="3" name="Text 1"/>
          <p:cNvSpPr/>
          <p:nvPr/>
        </p:nvSpPr>
        <p:spPr>
          <a:xfrm>
            <a:off x="530352" y="786384"/>
            <a:ext cx="9875520" cy="274320"/>
          </a:xfrm>
          <a:prstGeom prst="rect">
            <a:avLst/>
          </a:prstGeom>
          <a:noFill/>
          <a:ln/>
        </p:spPr>
        <p:txBody>
          <a:bodyPr wrap="square" lIns="0" tIns="0" rIns="0" bIns="0" rtlCol="0" anchor="ctr"/>
          <a:lstStyle/>
          <a:p>
            <a:pPr indent="0" marL="0">
              <a:buNone/>
            </a:pPr>
            <a:r>
              <a:rPr lang="en-US" sz="1050" dirty="0">
                <a:solidFill>
                  <a:srgbClr val="64748B"/>
                </a:solidFill>
              </a:rPr>
              <a:t>The crawler/indexer is a controlled publishing pipeline, not a blind scraper.</a:t>
            </a:r>
            <a:endParaRPr lang="en-US" sz="1050" dirty="0"/>
          </a:p>
        </p:txBody>
      </p:sp>
      <p:sp>
        <p:nvSpPr>
          <p:cNvPr id="4" name="Shape 2"/>
          <p:cNvSpPr/>
          <p:nvPr/>
        </p:nvSpPr>
        <p:spPr>
          <a:xfrm>
            <a:off x="502920" y="1078992"/>
            <a:ext cx="11155680" cy="0"/>
          </a:xfrm>
          <a:prstGeom prst="line">
            <a:avLst/>
          </a:prstGeom>
          <a:noFill/>
          <a:ln w="9525">
            <a:solidFill>
              <a:srgbClr val="E2E8F0"/>
            </a:solidFill>
            <a:prstDash val="solid"/>
          </a:ln>
        </p:spPr>
      </p:sp>
      <p:sp>
        <p:nvSpPr>
          <p:cNvPr id="5" name="Shape 3"/>
          <p:cNvSpPr/>
          <p:nvPr/>
        </p:nvSpPr>
        <p:spPr>
          <a:xfrm>
            <a:off x="411480" y="1965960"/>
            <a:ext cx="1417320" cy="749808"/>
          </a:xfrm>
          <a:prstGeom prst="roundRect">
            <a:avLst>
              <a:gd name="adj" fmla="val 9756"/>
            </a:avLst>
          </a:prstGeom>
          <a:solidFill>
            <a:srgbClr val="E0F2FE"/>
          </a:solidFill>
          <a:ln w="15240">
            <a:solidFill>
              <a:srgbClr val="1F4E79"/>
            </a:solidFill>
            <a:prstDash val="solid"/>
          </a:ln>
        </p:spPr>
      </p:sp>
      <p:sp>
        <p:nvSpPr>
          <p:cNvPr id="6" name="Text 4"/>
          <p:cNvSpPr/>
          <p:nvPr/>
        </p:nvSpPr>
        <p:spPr>
          <a:xfrm>
            <a:off x="530352" y="2039112"/>
            <a:ext cx="1179576" cy="640080"/>
          </a:xfrm>
          <a:prstGeom prst="rect">
            <a:avLst/>
          </a:prstGeom>
          <a:noFill/>
          <a:ln/>
        </p:spPr>
        <p:txBody>
          <a:bodyPr wrap="square" lIns="127" tIns="127" rIns="127" bIns="127" rtlCol="0" anchor="ctr">
            <a:normAutofit/>
          </a:bodyPr>
          <a:lstStyle/>
          <a:p>
            <a:pPr indent="0" marL="0">
              <a:buNone/>
            </a:pPr>
            <a:r>
              <a:rPr lang="en-US" sz="1400" b="1" dirty="0">
                <a:solidFill>
                  <a:srgbClr val="0F172A"/>
                </a:solidFill>
              </a:rPr>
              <a:t>Website</a:t>
            </a:r>
            <a:pPr indent="0" marL="0">
              <a:buNone/>
            </a:pPr>
            <a:endParaRPr lang="en-US" sz="1400" dirty="0"/>
          </a:p>
          <a:p>
            <a:pPr indent="0" marL="0">
              <a:buNone/>
            </a:pPr>
            <a:r>
              <a:rPr lang="en-US" sz="850" dirty="0">
                <a:solidFill>
                  <a:srgbClr val="334155"/>
                </a:solidFill>
              </a:rPr>
              <a:t>pages + PDFs</a:t>
            </a:r>
            <a:endParaRPr lang="en-US" sz="1400" dirty="0"/>
          </a:p>
        </p:txBody>
      </p:sp>
      <p:sp>
        <p:nvSpPr>
          <p:cNvPr id="7" name="Shape 5"/>
          <p:cNvSpPr/>
          <p:nvPr/>
        </p:nvSpPr>
        <p:spPr>
          <a:xfrm>
            <a:off x="1938528" y="2340864"/>
            <a:ext cx="548640" cy="0"/>
          </a:xfrm>
          <a:prstGeom prst="line">
            <a:avLst/>
          </a:prstGeom>
          <a:noFill/>
          <a:ln w="19050">
            <a:solidFill>
              <a:srgbClr val="64748B"/>
            </a:solidFill>
            <a:prstDash val="solid"/>
            <a:headEnd type="none"/>
            <a:tailEnd type="triangle"/>
          </a:ln>
        </p:spPr>
      </p:sp>
      <p:sp>
        <p:nvSpPr>
          <p:cNvPr id="8" name="Shape 6"/>
          <p:cNvSpPr/>
          <p:nvPr/>
        </p:nvSpPr>
        <p:spPr>
          <a:xfrm>
            <a:off x="2606040" y="1965960"/>
            <a:ext cx="1417320" cy="749808"/>
          </a:xfrm>
          <a:prstGeom prst="roundRect">
            <a:avLst>
              <a:gd name="adj" fmla="val 9756"/>
            </a:avLst>
          </a:prstGeom>
          <a:solidFill>
            <a:srgbClr val="CCFBF1"/>
          </a:solidFill>
          <a:ln w="15240">
            <a:solidFill>
              <a:srgbClr val="0E7C7B"/>
            </a:solidFill>
            <a:prstDash val="solid"/>
          </a:ln>
        </p:spPr>
      </p:sp>
      <p:sp>
        <p:nvSpPr>
          <p:cNvPr id="9" name="Text 7"/>
          <p:cNvSpPr/>
          <p:nvPr/>
        </p:nvSpPr>
        <p:spPr>
          <a:xfrm>
            <a:off x="2724912" y="2039112"/>
            <a:ext cx="1179576" cy="640080"/>
          </a:xfrm>
          <a:prstGeom prst="rect">
            <a:avLst/>
          </a:prstGeom>
          <a:noFill/>
          <a:ln/>
        </p:spPr>
        <p:txBody>
          <a:bodyPr wrap="square" lIns="127" tIns="127" rIns="127" bIns="127" rtlCol="0" anchor="ctr">
            <a:normAutofit/>
          </a:bodyPr>
          <a:lstStyle/>
          <a:p>
            <a:pPr indent="0" marL="0">
              <a:buNone/>
            </a:pPr>
            <a:r>
              <a:rPr lang="en-US" sz="1400" b="1" dirty="0">
                <a:solidFill>
                  <a:srgbClr val="0F172A"/>
                </a:solidFill>
              </a:rPr>
              <a:t>Crawler</a:t>
            </a:r>
            <a:pPr indent="0" marL="0">
              <a:buNone/>
            </a:pPr>
            <a:endParaRPr lang="en-US" sz="1400" dirty="0"/>
          </a:p>
          <a:p>
            <a:pPr indent="0" marL="0">
              <a:buNone/>
            </a:pPr>
            <a:r>
              <a:rPr lang="en-US" sz="850" dirty="0">
                <a:solidFill>
                  <a:srgbClr val="334155"/>
                </a:solidFill>
              </a:rPr>
              <a:t>sitemap + rules</a:t>
            </a:r>
            <a:endParaRPr lang="en-US" sz="1400" dirty="0"/>
          </a:p>
        </p:txBody>
      </p:sp>
      <p:sp>
        <p:nvSpPr>
          <p:cNvPr id="10" name="Shape 8"/>
          <p:cNvSpPr/>
          <p:nvPr/>
        </p:nvSpPr>
        <p:spPr>
          <a:xfrm>
            <a:off x="4133088" y="2340864"/>
            <a:ext cx="548640" cy="0"/>
          </a:xfrm>
          <a:prstGeom prst="line">
            <a:avLst/>
          </a:prstGeom>
          <a:noFill/>
          <a:ln w="19050">
            <a:solidFill>
              <a:srgbClr val="64748B"/>
            </a:solidFill>
            <a:prstDash val="solid"/>
            <a:headEnd type="none"/>
            <a:tailEnd type="triangle"/>
          </a:ln>
        </p:spPr>
      </p:sp>
      <p:sp>
        <p:nvSpPr>
          <p:cNvPr id="11" name="Shape 9"/>
          <p:cNvSpPr/>
          <p:nvPr/>
        </p:nvSpPr>
        <p:spPr>
          <a:xfrm>
            <a:off x="4800600" y="1965960"/>
            <a:ext cx="1417320" cy="749808"/>
          </a:xfrm>
          <a:prstGeom prst="roundRect">
            <a:avLst>
              <a:gd name="adj" fmla="val 9756"/>
            </a:avLst>
          </a:prstGeom>
          <a:solidFill>
            <a:srgbClr val="DCFCE7"/>
          </a:solidFill>
          <a:ln w="15240">
            <a:solidFill>
              <a:srgbClr val="38761D"/>
            </a:solidFill>
            <a:prstDash val="solid"/>
          </a:ln>
        </p:spPr>
      </p:sp>
      <p:sp>
        <p:nvSpPr>
          <p:cNvPr id="12" name="Text 10"/>
          <p:cNvSpPr/>
          <p:nvPr/>
        </p:nvSpPr>
        <p:spPr>
          <a:xfrm>
            <a:off x="4919472" y="2039112"/>
            <a:ext cx="1179576" cy="640080"/>
          </a:xfrm>
          <a:prstGeom prst="rect">
            <a:avLst/>
          </a:prstGeom>
          <a:noFill/>
          <a:ln/>
        </p:spPr>
        <p:txBody>
          <a:bodyPr wrap="square" lIns="127" tIns="127" rIns="127" bIns="127" rtlCol="0" anchor="ctr">
            <a:normAutofit/>
          </a:bodyPr>
          <a:lstStyle/>
          <a:p>
            <a:pPr indent="0" marL="0">
              <a:buNone/>
            </a:pPr>
            <a:r>
              <a:rPr lang="en-US" sz="1400" b="1" dirty="0">
                <a:solidFill>
                  <a:srgbClr val="0F172A"/>
                </a:solidFill>
              </a:rPr>
              <a:t>Extract</a:t>
            </a:r>
            <a:pPr indent="0" marL="0">
              <a:buNone/>
            </a:pPr>
            <a:endParaRPr lang="en-US" sz="1400" dirty="0"/>
          </a:p>
          <a:p>
            <a:pPr indent="0" marL="0">
              <a:buNone/>
            </a:pPr>
            <a:r>
              <a:rPr lang="en-US" sz="850" dirty="0">
                <a:solidFill>
                  <a:srgbClr val="334155"/>
                </a:solidFill>
              </a:rPr>
              <a:t>HTML + PDF text</a:t>
            </a:r>
            <a:endParaRPr lang="en-US" sz="1400" dirty="0"/>
          </a:p>
        </p:txBody>
      </p:sp>
      <p:sp>
        <p:nvSpPr>
          <p:cNvPr id="13" name="Shape 11"/>
          <p:cNvSpPr/>
          <p:nvPr/>
        </p:nvSpPr>
        <p:spPr>
          <a:xfrm>
            <a:off x="6327648" y="2340864"/>
            <a:ext cx="548640" cy="0"/>
          </a:xfrm>
          <a:prstGeom prst="line">
            <a:avLst/>
          </a:prstGeom>
          <a:noFill/>
          <a:ln w="19050">
            <a:solidFill>
              <a:srgbClr val="64748B"/>
            </a:solidFill>
            <a:prstDash val="solid"/>
            <a:headEnd type="none"/>
            <a:tailEnd type="triangle"/>
          </a:ln>
        </p:spPr>
      </p:sp>
      <p:sp>
        <p:nvSpPr>
          <p:cNvPr id="14" name="Shape 12"/>
          <p:cNvSpPr/>
          <p:nvPr/>
        </p:nvSpPr>
        <p:spPr>
          <a:xfrm>
            <a:off x="6995160" y="1965960"/>
            <a:ext cx="1417320" cy="749808"/>
          </a:xfrm>
          <a:prstGeom prst="roundRect">
            <a:avLst>
              <a:gd name="adj" fmla="val 9756"/>
            </a:avLst>
          </a:prstGeom>
          <a:solidFill>
            <a:srgbClr val="FEF3C7"/>
          </a:solidFill>
          <a:ln w="15240">
            <a:solidFill>
              <a:srgbClr val="F59E0B"/>
            </a:solidFill>
            <a:prstDash val="solid"/>
          </a:ln>
        </p:spPr>
      </p:sp>
      <p:sp>
        <p:nvSpPr>
          <p:cNvPr id="15" name="Text 13"/>
          <p:cNvSpPr/>
          <p:nvPr/>
        </p:nvSpPr>
        <p:spPr>
          <a:xfrm>
            <a:off x="7114032" y="2039112"/>
            <a:ext cx="1179576" cy="640080"/>
          </a:xfrm>
          <a:prstGeom prst="rect">
            <a:avLst/>
          </a:prstGeom>
          <a:noFill/>
          <a:ln/>
        </p:spPr>
        <p:txBody>
          <a:bodyPr wrap="square" lIns="127" tIns="127" rIns="127" bIns="127" rtlCol="0" anchor="ctr">
            <a:normAutofit/>
          </a:bodyPr>
          <a:lstStyle/>
          <a:p>
            <a:pPr indent="0" marL="0">
              <a:buNone/>
            </a:pPr>
            <a:r>
              <a:rPr lang="en-US" sz="1400" b="1" dirty="0">
                <a:solidFill>
                  <a:srgbClr val="0F172A"/>
                </a:solidFill>
              </a:rPr>
              <a:t>Chunk</a:t>
            </a:r>
            <a:pPr indent="0" marL="0">
              <a:buNone/>
            </a:pPr>
            <a:endParaRPr lang="en-US" sz="1400" dirty="0"/>
          </a:p>
          <a:p>
            <a:pPr indent="0" marL="0">
              <a:buNone/>
            </a:pPr>
            <a:r>
              <a:rPr lang="en-US" sz="850" dirty="0">
                <a:solidFill>
                  <a:srgbClr val="334155"/>
                </a:solidFill>
              </a:rPr>
              <a:t>heading + bullets</a:t>
            </a:r>
            <a:endParaRPr lang="en-US" sz="1400" dirty="0"/>
          </a:p>
        </p:txBody>
      </p:sp>
      <p:sp>
        <p:nvSpPr>
          <p:cNvPr id="16" name="Shape 14"/>
          <p:cNvSpPr/>
          <p:nvPr/>
        </p:nvSpPr>
        <p:spPr>
          <a:xfrm>
            <a:off x="8522208" y="2340864"/>
            <a:ext cx="548640" cy="0"/>
          </a:xfrm>
          <a:prstGeom prst="line">
            <a:avLst/>
          </a:prstGeom>
          <a:noFill/>
          <a:ln w="19050">
            <a:solidFill>
              <a:srgbClr val="64748B"/>
            </a:solidFill>
            <a:prstDash val="solid"/>
            <a:headEnd type="none"/>
            <a:tailEnd type="triangle"/>
          </a:ln>
        </p:spPr>
      </p:sp>
      <p:sp>
        <p:nvSpPr>
          <p:cNvPr id="17" name="Shape 15"/>
          <p:cNvSpPr/>
          <p:nvPr/>
        </p:nvSpPr>
        <p:spPr>
          <a:xfrm>
            <a:off x="9189720" y="1965960"/>
            <a:ext cx="1417320" cy="749808"/>
          </a:xfrm>
          <a:prstGeom prst="roundRect">
            <a:avLst>
              <a:gd name="adj" fmla="val 9756"/>
            </a:avLst>
          </a:prstGeom>
          <a:solidFill>
            <a:srgbClr val="EDE9FE"/>
          </a:solidFill>
          <a:ln w="15240">
            <a:solidFill>
              <a:srgbClr val="6B4E9E"/>
            </a:solidFill>
            <a:prstDash val="solid"/>
          </a:ln>
        </p:spPr>
      </p:sp>
      <p:sp>
        <p:nvSpPr>
          <p:cNvPr id="18" name="Text 16"/>
          <p:cNvSpPr/>
          <p:nvPr/>
        </p:nvSpPr>
        <p:spPr>
          <a:xfrm>
            <a:off x="9308592" y="2039112"/>
            <a:ext cx="1179576" cy="640080"/>
          </a:xfrm>
          <a:prstGeom prst="rect">
            <a:avLst/>
          </a:prstGeom>
          <a:noFill/>
          <a:ln/>
        </p:spPr>
        <p:txBody>
          <a:bodyPr wrap="square" lIns="127" tIns="127" rIns="127" bIns="127" rtlCol="0" anchor="ctr">
            <a:normAutofit/>
          </a:bodyPr>
          <a:lstStyle/>
          <a:p>
            <a:pPr indent="0" marL="0">
              <a:buNone/>
            </a:pPr>
            <a:r>
              <a:rPr lang="en-US" sz="1400" b="1" dirty="0">
                <a:solidFill>
                  <a:srgbClr val="0F172A"/>
                </a:solidFill>
              </a:rPr>
              <a:t>Embed</a:t>
            </a:r>
            <a:pPr indent="0" marL="0">
              <a:buNone/>
            </a:pPr>
            <a:endParaRPr lang="en-US" sz="1400" dirty="0"/>
          </a:p>
          <a:p>
            <a:pPr indent="0" marL="0">
              <a:buNone/>
            </a:pPr>
            <a:r>
              <a:rPr lang="en-US" sz="850" dirty="0">
                <a:solidFill>
                  <a:srgbClr val="334155"/>
                </a:solidFill>
              </a:rPr>
              <a:t>local vectors</a:t>
            </a:r>
            <a:endParaRPr lang="en-US" sz="1400" dirty="0"/>
          </a:p>
        </p:txBody>
      </p:sp>
      <p:sp>
        <p:nvSpPr>
          <p:cNvPr id="19" name="Shape 17"/>
          <p:cNvSpPr/>
          <p:nvPr/>
        </p:nvSpPr>
        <p:spPr>
          <a:xfrm>
            <a:off x="10716768" y="2340864"/>
            <a:ext cx="365760" cy="0"/>
          </a:xfrm>
          <a:prstGeom prst="line">
            <a:avLst/>
          </a:prstGeom>
          <a:noFill/>
          <a:ln w="19050">
            <a:solidFill>
              <a:srgbClr val="64748B"/>
            </a:solidFill>
            <a:prstDash val="solid"/>
            <a:headEnd type="none"/>
            <a:tailEnd type="triangle"/>
          </a:ln>
        </p:spPr>
      </p:sp>
      <p:sp>
        <p:nvSpPr>
          <p:cNvPr id="20" name="Shape 18"/>
          <p:cNvSpPr/>
          <p:nvPr/>
        </p:nvSpPr>
        <p:spPr>
          <a:xfrm>
            <a:off x="11155680" y="1965960"/>
            <a:ext cx="777240" cy="749808"/>
          </a:xfrm>
          <a:prstGeom prst="roundRect">
            <a:avLst>
              <a:gd name="adj" fmla="val 9756"/>
            </a:avLst>
          </a:prstGeom>
          <a:solidFill>
            <a:srgbClr val="FFFFFF"/>
          </a:solidFill>
          <a:ln w="15240">
            <a:solidFill>
              <a:srgbClr val="0F172A"/>
            </a:solidFill>
            <a:prstDash val="solid"/>
          </a:ln>
        </p:spPr>
      </p:sp>
      <p:sp>
        <p:nvSpPr>
          <p:cNvPr id="21" name="Text 19"/>
          <p:cNvSpPr/>
          <p:nvPr/>
        </p:nvSpPr>
        <p:spPr>
          <a:xfrm>
            <a:off x="11274552" y="2057400"/>
            <a:ext cx="539496" cy="566928"/>
          </a:xfrm>
          <a:prstGeom prst="rect">
            <a:avLst/>
          </a:prstGeom>
          <a:noFill/>
          <a:ln/>
        </p:spPr>
        <p:txBody>
          <a:bodyPr wrap="square" lIns="127" tIns="127" rIns="127" bIns="127" rtlCol="0" anchor="ctr">
            <a:normAutofit/>
          </a:bodyPr>
          <a:lstStyle/>
          <a:p>
            <a:pPr algn="ctr" indent="0" marL="0">
              <a:buNone/>
            </a:pPr>
            <a:r>
              <a:rPr lang="en-US" sz="1100" b="1" dirty="0">
                <a:solidFill>
                  <a:srgbClr val="0F172A"/>
                </a:solidFill>
              </a:rPr>
              <a:t>Publish</a:t>
            </a:r>
            <a:endParaRPr lang="en-US" sz="1100" dirty="0"/>
          </a:p>
        </p:txBody>
      </p:sp>
      <p:sp>
        <p:nvSpPr>
          <p:cNvPr id="22" name="Text 20"/>
          <p:cNvSpPr/>
          <p:nvPr/>
        </p:nvSpPr>
        <p:spPr>
          <a:xfrm>
            <a:off x="685800" y="3337560"/>
            <a:ext cx="2743200" cy="274320"/>
          </a:xfrm>
          <a:prstGeom prst="rect">
            <a:avLst/>
          </a:prstGeom>
          <a:noFill/>
          <a:ln/>
        </p:spPr>
        <p:txBody>
          <a:bodyPr wrap="square" lIns="0" tIns="0" rIns="0" bIns="0" rtlCol="0" anchor="ctr"/>
          <a:lstStyle/>
          <a:p>
            <a:pPr indent="0" marL="0">
              <a:buNone/>
            </a:pPr>
            <a:r>
              <a:rPr lang="en-US" sz="1800" b="1" dirty="0">
                <a:solidFill>
                  <a:srgbClr val="0F172A"/>
                </a:solidFill>
              </a:rPr>
              <a:t>Important controls</a:t>
            </a:r>
            <a:endParaRPr lang="en-US" sz="1800" dirty="0"/>
          </a:p>
        </p:txBody>
      </p:sp>
      <p:sp>
        <p:nvSpPr>
          <p:cNvPr id="23" name="Shape 21"/>
          <p:cNvSpPr/>
          <p:nvPr/>
        </p:nvSpPr>
        <p:spPr>
          <a:xfrm>
            <a:off x="685800" y="3767328"/>
            <a:ext cx="2651760" cy="713232"/>
          </a:xfrm>
          <a:prstGeom prst="roundRect">
            <a:avLst>
              <a:gd name="adj" fmla="val 10256"/>
            </a:avLst>
          </a:prstGeom>
          <a:solidFill>
            <a:srgbClr val="FFFFFF"/>
          </a:solidFill>
          <a:ln w="15240">
            <a:solidFill>
              <a:srgbClr val="E2E8F0"/>
            </a:solidFill>
            <a:prstDash val="solid"/>
          </a:ln>
        </p:spPr>
      </p:sp>
      <p:sp>
        <p:nvSpPr>
          <p:cNvPr id="24" name="Text 22"/>
          <p:cNvSpPr/>
          <p:nvPr/>
        </p:nvSpPr>
        <p:spPr>
          <a:xfrm>
            <a:off x="804672" y="3840480"/>
            <a:ext cx="2414016" cy="603504"/>
          </a:xfrm>
          <a:prstGeom prst="rect">
            <a:avLst/>
          </a:prstGeom>
          <a:noFill/>
          <a:ln/>
        </p:spPr>
        <p:txBody>
          <a:bodyPr wrap="square" lIns="127" tIns="127" rIns="127" bIns="127" rtlCol="0" anchor="ctr">
            <a:normAutofit/>
          </a:bodyPr>
          <a:lstStyle/>
          <a:p>
            <a:pPr indent="0" marL="0">
              <a:buNone/>
            </a:pPr>
            <a:r>
              <a:rPr lang="en-US" sz="1400" b="1" dirty="0">
                <a:solidFill>
                  <a:srgbClr val="0F172A"/>
                </a:solidFill>
              </a:rPr>
              <a:t>Versioned evidence</a:t>
            </a:r>
            <a:pPr indent="0" marL="0">
              <a:buNone/>
            </a:pPr>
            <a:endParaRPr lang="en-US" sz="1400" dirty="0"/>
          </a:p>
          <a:p>
            <a:pPr indent="0" marL="0">
              <a:buNone/>
            </a:pPr>
            <a:r>
              <a:rPr lang="en-US" sz="900" dirty="0">
                <a:solidFill>
                  <a:srgbClr val="334155"/>
                </a:solidFill>
              </a:rPr>
              <a:t>original files preserved</a:t>
            </a:r>
            <a:endParaRPr lang="en-US" sz="1400" dirty="0"/>
          </a:p>
        </p:txBody>
      </p:sp>
      <p:sp>
        <p:nvSpPr>
          <p:cNvPr id="25" name="Shape 23"/>
          <p:cNvSpPr/>
          <p:nvPr/>
        </p:nvSpPr>
        <p:spPr>
          <a:xfrm>
            <a:off x="3657600" y="3767328"/>
            <a:ext cx="2651760" cy="713232"/>
          </a:xfrm>
          <a:prstGeom prst="roundRect">
            <a:avLst>
              <a:gd name="adj" fmla="val 10256"/>
            </a:avLst>
          </a:prstGeom>
          <a:solidFill>
            <a:srgbClr val="FFFFFF"/>
          </a:solidFill>
          <a:ln w="15240">
            <a:solidFill>
              <a:srgbClr val="E2E8F0"/>
            </a:solidFill>
            <a:prstDash val="solid"/>
          </a:ln>
        </p:spPr>
      </p:sp>
      <p:sp>
        <p:nvSpPr>
          <p:cNvPr id="26" name="Text 24"/>
          <p:cNvSpPr/>
          <p:nvPr/>
        </p:nvSpPr>
        <p:spPr>
          <a:xfrm>
            <a:off x="3776472" y="3840480"/>
            <a:ext cx="2414016" cy="603504"/>
          </a:xfrm>
          <a:prstGeom prst="rect">
            <a:avLst/>
          </a:prstGeom>
          <a:noFill/>
          <a:ln/>
        </p:spPr>
        <p:txBody>
          <a:bodyPr wrap="square" lIns="127" tIns="127" rIns="127" bIns="127" rtlCol="0" anchor="ctr">
            <a:normAutofit/>
          </a:bodyPr>
          <a:lstStyle/>
          <a:p>
            <a:pPr indent="0" marL="0">
              <a:buNone/>
            </a:pPr>
            <a:r>
              <a:rPr lang="en-US" sz="1400" b="1" dirty="0">
                <a:solidFill>
                  <a:srgbClr val="0F172A"/>
                </a:solidFill>
              </a:rPr>
              <a:t>Caveat tagging</a:t>
            </a:r>
            <a:pPr indent="0" marL="0">
              <a:buNone/>
            </a:pPr>
            <a:endParaRPr lang="en-US" sz="1400" dirty="0"/>
          </a:p>
          <a:p>
            <a:pPr indent="0" marL="0">
              <a:buNone/>
            </a:pPr>
            <a:r>
              <a:rPr lang="en-US" sz="900" dirty="0">
                <a:solidFill>
                  <a:srgbClr val="334155"/>
                </a:solidFill>
              </a:rPr>
              <a:t>warnings travel with facts</a:t>
            </a:r>
            <a:endParaRPr lang="en-US" sz="1400" dirty="0"/>
          </a:p>
        </p:txBody>
      </p:sp>
      <p:sp>
        <p:nvSpPr>
          <p:cNvPr id="27" name="Shape 25"/>
          <p:cNvSpPr/>
          <p:nvPr/>
        </p:nvSpPr>
        <p:spPr>
          <a:xfrm>
            <a:off x="6629400" y="3767328"/>
            <a:ext cx="2651760" cy="713232"/>
          </a:xfrm>
          <a:prstGeom prst="roundRect">
            <a:avLst>
              <a:gd name="adj" fmla="val 10256"/>
            </a:avLst>
          </a:prstGeom>
          <a:solidFill>
            <a:srgbClr val="FFFFFF"/>
          </a:solidFill>
          <a:ln w="15240">
            <a:solidFill>
              <a:srgbClr val="E2E8F0"/>
            </a:solidFill>
            <a:prstDash val="solid"/>
          </a:ln>
        </p:spPr>
      </p:sp>
      <p:sp>
        <p:nvSpPr>
          <p:cNvPr id="28" name="Text 26"/>
          <p:cNvSpPr/>
          <p:nvPr/>
        </p:nvSpPr>
        <p:spPr>
          <a:xfrm>
            <a:off x="6748272" y="3840480"/>
            <a:ext cx="2414016" cy="603504"/>
          </a:xfrm>
          <a:prstGeom prst="rect">
            <a:avLst/>
          </a:prstGeom>
          <a:noFill/>
          <a:ln/>
        </p:spPr>
        <p:txBody>
          <a:bodyPr wrap="square" lIns="127" tIns="127" rIns="127" bIns="127" rtlCol="0" anchor="ctr">
            <a:normAutofit/>
          </a:bodyPr>
          <a:lstStyle/>
          <a:p>
            <a:pPr indent="0" marL="0">
              <a:buNone/>
            </a:pPr>
            <a:r>
              <a:rPr lang="en-US" sz="1400" b="1" dirty="0">
                <a:solidFill>
                  <a:srgbClr val="0F172A"/>
                </a:solidFill>
              </a:rPr>
              <a:t>Atomic snapshot</a:t>
            </a:r>
            <a:pPr indent="0" marL="0">
              <a:buNone/>
            </a:pPr>
            <a:endParaRPr lang="en-US" sz="1400" dirty="0"/>
          </a:p>
          <a:p>
            <a:pPr indent="0" marL="0">
              <a:buNone/>
            </a:pPr>
            <a:r>
              <a:rPr lang="en-US" sz="900" dirty="0">
                <a:solidFill>
                  <a:srgbClr val="334155"/>
                </a:solidFill>
              </a:rPr>
              <a:t>old index stays live until new one is valid</a:t>
            </a:r>
            <a:endParaRPr lang="en-US" sz="1400" dirty="0"/>
          </a:p>
        </p:txBody>
      </p:sp>
      <p:sp>
        <p:nvSpPr>
          <p:cNvPr id="29" name="Shape 27"/>
          <p:cNvSpPr/>
          <p:nvPr/>
        </p:nvSpPr>
        <p:spPr>
          <a:xfrm>
            <a:off x="9601200" y="3767328"/>
            <a:ext cx="1920240" cy="713232"/>
          </a:xfrm>
          <a:prstGeom prst="roundRect">
            <a:avLst>
              <a:gd name="adj" fmla="val 10256"/>
            </a:avLst>
          </a:prstGeom>
          <a:solidFill>
            <a:srgbClr val="FFFFFF"/>
          </a:solidFill>
          <a:ln w="15240">
            <a:solidFill>
              <a:srgbClr val="E2E8F0"/>
            </a:solidFill>
            <a:prstDash val="solid"/>
          </a:ln>
        </p:spPr>
      </p:sp>
      <p:sp>
        <p:nvSpPr>
          <p:cNvPr id="30" name="Text 28"/>
          <p:cNvSpPr/>
          <p:nvPr/>
        </p:nvSpPr>
        <p:spPr>
          <a:xfrm>
            <a:off x="9720072" y="3840480"/>
            <a:ext cx="1682496" cy="603504"/>
          </a:xfrm>
          <a:prstGeom prst="rect">
            <a:avLst/>
          </a:prstGeom>
          <a:noFill/>
          <a:ln/>
        </p:spPr>
        <p:txBody>
          <a:bodyPr wrap="square" lIns="127" tIns="127" rIns="127" bIns="127" rtlCol="0" anchor="ctr">
            <a:normAutofit/>
          </a:bodyPr>
          <a:lstStyle/>
          <a:p>
            <a:pPr indent="0" marL="0">
              <a:buNone/>
            </a:pPr>
            <a:r>
              <a:rPr lang="en-US" sz="1400" b="1" dirty="0">
                <a:solidFill>
                  <a:srgbClr val="0F172A"/>
                </a:solidFill>
              </a:rPr>
              <a:t>Diagnostics</a:t>
            </a:r>
            <a:pPr indent="0" marL="0">
              <a:buNone/>
            </a:pPr>
            <a:endParaRPr lang="en-US" sz="1400" dirty="0"/>
          </a:p>
          <a:p>
            <a:pPr indent="0" marL="0">
              <a:buNone/>
            </a:pPr>
            <a:r>
              <a:rPr lang="en-US" sz="900" dirty="0">
                <a:solidFill>
                  <a:srgbClr val="334155"/>
                </a:solidFill>
              </a:rPr>
              <a:t>counts, errors, timings</a:t>
            </a:r>
            <a:endParaRPr lang="en-US" sz="1400" dirty="0"/>
          </a:p>
        </p:txBody>
      </p:sp>
      <p:sp>
        <p:nvSpPr>
          <p:cNvPr id="31" name="Shape 29"/>
          <p:cNvSpPr/>
          <p:nvPr/>
        </p:nvSpPr>
        <p:spPr>
          <a:xfrm>
            <a:off x="777240" y="5266944"/>
            <a:ext cx="54864" cy="786384"/>
          </a:xfrm>
          <a:prstGeom prst="rect">
            <a:avLst/>
          </a:prstGeom>
          <a:solidFill>
            <a:srgbClr val="0E7C7B"/>
          </a:solidFill>
          <a:ln w="12700">
            <a:solidFill>
              <a:srgbClr val="0E7C7B"/>
            </a:solidFill>
            <a:prstDash val="solid"/>
          </a:ln>
        </p:spPr>
      </p:sp>
      <p:sp>
        <p:nvSpPr>
          <p:cNvPr id="32" name="Text 30"/>
          <p:cNvSpPr/>
          <p:nvPr/>
        </p:nvSpPr>
        <p:spPr>
          <a:xfrm>
            <a:off x="941832" y="5266944"/>
            <a:ext cx="9692640" cy="822960"/>
          </a:xfrm>
          <a:prstGeom prst="rect">
            <a:avLst/>
          </a:prstGeom>
          <a:noFill/>
          <a:ln/>
        </p:spPr>
        <p:txBody>
          <a:bodyPr wrap="square" lIns="254" tIns="254" rIns="254" bIns="254" rtlCol="0" anchor="ctr">
            <a:normAutofit/>
          </a:bodyPr>
          <a:lstStyle/>
          <a:p>
            <a:pPr indent="0" marL="0">
              <a:buNone/>
            </a:pPr>
            <a:r>
              <a:rPr lang="en-US" sz="1900" i="1" dirty="0">
                <a:solidFill>
                  <a:srgbClr val="0F172A"/>
                </a:solidFill>
              </a:rPr>
              <a:t>The crawler does not create answers. It creates controlled evidence for the answer engine.</a:t>
            </a:r>
            <a:endParaRPr lang="en-US" sz="190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8686800" cy="438912"/>
          </a:xfrm>
          <a:prstGeom prst="rect">
            <a:avLst/>
          </a:prstGeom>
          <a:noFill/>
          <a:ln/>
        </p:spPr>
        <p:txBody>
          <a:bodyPr wrap="square" lIns="0" tIns="0" rIns="0" bIns="0" rtlCol="0" anchor="ctr"/>
          <a:lstStyle/>
          <a:p>
            <a:pPr indent="0" marL="0">
              <a:buNone/>
            </a:pPr>
            <a:r>
              <a:rPr lang="en-US" sz="2800" b="1" dirty="0">
                <a:solidFill>
                  <a:srgbClr val="0F172A"/>
                </a:solidFill>
                <a:latin typeface="Aptos Display" pitchFamily="34" charset="0"/>
                <a:ea typeface="Aptos Display" pitchFamily="34" charset="-122"/>
                <a:cs typeface="Aptos Display" pitchFamily="34" charset="-120"/>
              </a:rPr>
              <a:t>Recency: changed documents become new versions</a:t>
            </a:r>
            <a:endParaRPr lang="en-US" sz="2800" dirty="0"/>
          </a:p>
        </p:txBody>
      </p:sp>
      <p:sp>
        <p:nvSpPr>
          <p:cNvPr id="3" name="Text 1"/>
          <p:cNvSpPr/>
          <p:nvPr/>
        </p:nvSpPr>
        <p:spPr>
          <a:xfrm>
            <a:off x="530352" y="786384"/>
            <a:ext cx="9875520" cy="274320"/>
          </a:xfrm>
          <a:prstGeom prst="rect">
            <a:avLst/>
          </a:prstGeom>
          <a:noFill/>
          <a:ln/>
        </p:spPr>
        <p:txBody>
          <a:bodyPr wrap="square" lIns="0" tIns="0" rIns="0" bIns="0" rtlCol="0" anchor="ctr"/>
          <a:lstStyle/>
          <a:p>
            <a:pPr indent="0" marL="0">
              <a:buNone/>
            </a:pPr>
            <a:r>
              <a:rPr lang="en-US" sz="1050" dirty="0">
                <a:solidFill>
                  <a:srgbClr val="64748B"/>
                </a:solidFill>
              </a:rPr>
              <a:t>The system keeps history for auditability, but retrieves only the current active version.</a:t>
            </a:r>
            <a:endParaRPr lang="en-US" sz="1050" dirty="0"/>
          </a:p>
        </p:txBody>
      </p:sp>
      <p:sp>
        <p:nvSpPr>
          <p:cNvPr id="4" name="Shape 2"/>
          <p:cNvSpPr/>
          <p:nvPr/>
        </p:nvSpPr>
        <p:spPr>
          <a:xfrm>
            <a:off x="502920" y="1078992"/>
            <a:ext cx="11155680" cy="0"/>
          </a:xfrm>
          <a:prstGeom prst="line">
            <a:avLst/>
          </a:prstGeom>
          <a:noFill/>
          <a:ln w="9525">
            <a:solidFill>
              <a:srgbClr val="E2E8F0"/>
            </a:solidFill>
            <a:prstDash val="solid"/>
          </a:ln>
        </p:spPr>
      </p:sp>
      <p:sp>
        <p:nvSpPr>
          <p:cNvPr id="5" name="Text 3"/>
          <p:cNvSpPr/>
          <p:nvPr/>
        </p:nvSpPr>
        <p:spPr>
          <a:xfrm>
            <a:off x="685800" y="1371600"/>
            <a:ext cx="2194560" cy="274320"/>
          </a:xfrm>
          <a:prstGeom prst="rect">
            <a:avLst/>
          </a:prstGeom>
          <a:noFill/>
          <a:ln/>
        </p:spPr>
        <p:txBody>
          <a:bodyPr wrap="square" lIns="0" tIns="0" rIns="0" bIns="0" rtlCol="0" anchor="ctr"/>
          <a:lstStyle/>
          <a:p>
            <a:pPr indent="0" marL="0">
              <a:buNone/>
            </a:pPr>
            <a:r>
              <a:rPr lang="en-US" sz="1800" b="1" dirty="0">
                <a:solidFill>
                  <a:srgbClr val="0F172A"/>
                </a:solidFill>
              </a:rPr>
              <a:t>Naive RAG risk</a:t>
            </a:r>
            <a:endParaRPr lang="en-US" sz="1800" dirty="0"/>
          </a:p>
        </p:txBody>
      </p:sp>
      <p:sp>
        <p:nvSpPr>
          <p:cNvPr id="6" name="Shape 4"/>
          <p:cNvSpPr/>
          <p:nvPr/>
        </p:nvSpPr>
        <p:spPr>
          <a:xfrm>
            <a:off x="685800" y="1828800"/>
            <a:ext cx="2103120" cy="640080"/>
          </a:xfrm>
          <a:prstGeom prst="roundRect">
            <a:avLst>
              <a:gd name="adj" fmla="val 11429"/>
            </a:avLst>
          </a:prstGeom>
          <a:solidFill>
            <a:srgbClr val="FEE2E2"/>
          </a:solidFill>
          <a:ln w="15240">
            <a:solidFill>
              <a:srgbClr val="DC2626"/>
            </a:solidFill>
            <a:prstDash val="solid"/>
          </a:ln>
        </p:spPr>
      </p:sp>
      <p:sp>
        <p:nvSpPr>
          <p:cNvPr id="7" name="Text 5"/>
          <p:cNvSpPr/>
          <p:nvPr/>
        </p:nvSpPr>
        <p:spPr>
          <a:xfrm>
            <a:off x="804672" y="1901952"/>
            <a:ext cx="1865376" cy="530352"/>
          </a:xfrm>
          <a:prstGeom prst="rect">
            <a:avLst/>
          </a:prstGeom>
          <a:noFill/>
          <a:ln/>
        </p:spPr>
        <p:txBody>
          <a:bodyPr wrap="square" lIns="127" tIns="127" rIns="127" bIns="127" rtlCol="0" anchor="ctr">
            <a:normAutofit/>
          </a:bodyPr>
          <a:lstStyle/>
          <a:p>
            <a:pPr indent="0" marL="0">
              <a:buNone/>
            </a:pPr>
            <a:r>
              <a:rPr lang="en-US" sz="1400" b="1" dirty="0">
                <a:solidFill>
                  <a:srgbClr val="0F172A"/>
                </a:solidFill>
              </a:rPr>
              <a:t>Datasheet v1</a:t>
            </a:r>
            <a:pPr indent="0" marL="0">
              <a:buNone/>
            </a:pPr>
            <a:endParaRPr lang="en-US" sz="1400" dirty="0"/>
          </a:p>
          <a:p>
            <a:pPr indent="0" marL="0">
              <a:buNone/>
            </a:pPr>
            <a:r>
              <a:rPr lang="en-US" sz="900" dirty="0">
                <a:solidFill>
                  <a:srgbClr val="334155"/>
                </a:solidFill>
              </a:rPr>
              <a:t>coverage 16–20 m²</a:t>
            </a:r>
            <a:endParaRPr lang="en-US" sz="1400" dirty="0"/>
          </a:p>
        </p:txBody>
      </p:sp>
      <p:sp>
        <p:nvSpPr>
          <p:cNvPr id="8" name="Shape 6"/>
          <p:cNvSpPr/>
          <p:nvPr/>
        </p:nvSpPr>
        <p:spPr>
          <a:xfrm>
            <a:off x="685800" y="2743200"/>
            <a:ext cx="2103120" cy="640080"/>
          </a:xfrm>
          <a:prstGeom prst="roundRect">
            <a:avLst>
              <a:gd name="adj" fmla="val 11429"/>
            </a:avLst>
          </a:prstGeom>
          <a:solidFill>
            <a:srgbClr val="FEE2E2"/>
          </a:solidFill>
          <a:ln w="15240">
            <a:solidFill>
              <a:srgbClr val="DC2626"/>
            </a:solidFill>
            <a:prstDash val="solid"/>
          </a:ln>
        </p:spPr>
      </p:sp>
      <p:sp>
        <p:nvSpPr>
          <p:cNvPr id="9" name="Text 7"/>
          <p:cNvSpPr/>
          <p:nvPr/>
        </p:nvSpPr>
        <p:spPr>
          <a:xfrm>
            <a:off x="804672" y="2816352"/>
            <a:ext cx="1865376" cy="530352"/>
          </a:xfrm>
          <a:prstGeom prst="rect">
            <a:avLst/>
          </a:prstGeom>
          <a:noFill/>
          <a:ln/>
        </p:spPr>
        <p:txBody>
          <a:bodyPr wrap="square" lIns="127" tIns="127" rIns="127" bIns="127" rtlCol="0" anchor="ctr">
            <a:normAutofit/>
          </a:bodyPr>
          <a:lstStyle/>
          <a:p>
            <a:pPr indent="0" marL="0">
              <a:buNone/>
            </a:pPr>
            <a:r>
              <a:rPr lang="en-US" sz="1400" b="1" dirty="0">
                <a:solidFill>
                  <a:srgbClr val="0F172A"/>
                </a:solidFill>
              </a:rPr>
              <a:t>Datasheet v2</a:t>
            </a:r>
            <a:pPr indent="0" marL="0">
              <a:buNone/>
            </a:pPr>
            <a:endParaRPr lang="en-US" sz="1400" dirty="0"/>
          </a:p>
          <a:p>
            <a:pPr indent="0" marL="0">
              <a:buNone/>
            </a:pPr>
            <a:r>
              <a:rPr lang="en-US" sz="900" dirty="0">
                <a:solidFill>
                  <a:srgbClr val="334155"/>
                </a:solidFill>
              </a:rPr>
              <a:t>coverage 14–18 m²</a:t>
            </a:r>
            <a:endParaRPr lang="en-US" sz="1400" dirty="0"/>
          </a:p>
        </p:txBody>
      </p:sp>
      <p:sp>
        <p:nvSpPr>
          <p:cNvPr id="10" name="Shape 8"/>
          <p:cNvSpPr/>
          <p:nvPr/>
        </p:nvSpPr>
        <p:spPr>
          <a:xfrm>
            <a:off x="2971800" y="2606040"/>
            <a:ext cx="777240" cy="0"/>
          </a:xfrm>
          <a:prstGeom prst="line">
            <a:avLst/>
          </a:prstGeom>
          <a:noFill/>
          <a:ln w="25400">
            <a:solidFill>
              <a:srgbClr val="DC2626"/>
            </a:solidFill>
            <a:prstDash val="solid"/>
            <a:headEnd type="none"/>
            <a:tailEnd type="triangle"/>
          </a:ln>
        </p:spPr>
      </p:sp>
      <p:sp>
        <p:nvSpPr>
          <p:cNvPr id="11" name="Shape 9"/>
          <p:cNvSpPr/>
          <p:nvPr/>
        </p:nvSpPr>
        <p:spPr>
          <a:xfrm>
            <a:off x="3886200" y="2240280"/>
            <a:ext cx="2286000" cy="749808"/>
          </a:xfrm>
          <a:prstGeom prst="roundRect">
            <a:avLst>
              <a:gd name="adj" fmla="val 9756"/>
            </a:avLst>
          </a:prstGeom>
          <a:solidFill>
            <a:srgbClr val="FEE2E2"/>
          </a:solidFill>
          <a:ln w="15240">
            <a:solidFill>
              <a:srgbClr val="DC2626"/>
            </a:solidFill>
            <a:prstDash val="solid"/>
          </a:ln>
        </p:spPr>
      </p:sp>
      <p:sp>
        <p:nvSpPr>
          <p:cNvPr id="12" name="Text 10"/>
          <p:cNvSpPr/>
          <p:nvPr/>
        </p:nvSpPr>
        <p:spPr>
          <a:xfrm>
            <a:off x="4005072" y="2313432"/>
            <a:ext cx="2048256" cy="640080"/>
          </a:xfrm>
          <a:prstGeom prst="rect">
            <a:avLst/>
          </a:prstGeom>
          <a:noFill/>
          <a:ln/>
        </p:spPr>
        <p:txBody>
          <a:bodyPr wrap="square" lIns="127" tIns="127" rIns="127" bIns="127" rtlCol="0" anchor="ctr">
            <a:normAutofit/>
          </a:bodyPr>
          <a:lstStyle/>
          <a:p>
            <a:pPr indent="0" marL="0">
              <a:buNone/>
            </a:pPr>
            <a:r>
              <a:rPr lang="en-US" sz="1500" b="1" dirty="0">
                <a:solidFill>
                  <a:srgbClr val="0F172A"/>
                </a:solidFill>
              </a:rPr>
              <a:t>Model sees both</a:t>
            </a:r>
            <a:pPr indent="0" marL="0">
              <a:buNone/>
            </a:pPr>
            <a:endParaRPr lang="en-US" sz="1500" dirty="0"/>
          </a:p>
          <a:p>
            <a:pPr indent="0" marL="0">
              <a:buNone/>
            </a:pPr>
            <a:r>
              <a:rPr lang="en-US" sz="950" dirty="0">
                <a:solidFill>
                  <a:srgbClr val="334155"/>
                </a:solidFill>
              </a:rPr>
              <a:t>conflicting facts can blend</a:t>
            </a:r>
            <a:endParaRPr lang="en-US" sz="1500" dirty="0"/>
          </a:p>
        </p:txBody>
      </p:sp>
      <p:sp>
        <p:nvSpPr>
          <p:cNvPr id="13" name="Text 11"/>
          <p:cNvSpPr/>
          <p:nvPr/>
        </p:nvSpPr>
        <p:spPr>
          <a:xfrm>
            <a:off x="6446520" y="1371600"/>
            <a:ext cx="2194560" cy="274320"/>
          </a:xfrm>
          <a:prstGeom prst="rect">
            <a:avLst/>
          </a:prstGeom>
          <a:noFill/>
          <a:ln/>
        </p:spPr>
        <p:txBody>
          <a:bodyPr wrap="square" lIns="0" tIns="0" rIns="0" bIns="0" rtlCol="0" anchor="ctr"/>
          <a:lstStyle/>
          <a:p>
            <a:pPr indent="0" marL="0">
              <a:buNone/>
            </a:pPr>
            <a:r>
              <a:rPr lang="en-US" sz="1800" b="1" dirty="0">
                <a:solidFill>
                  <a:srgbClr val="0F172A"/>
                </a:solidFill>
              </a:rPr>
              <a:t>Your design</a:t>
            </a:r>
            <a:endParaRPr lang="en-US" sz="1800" dirty="0"/>
          </a:p>
        </p:txBody>
      </p:sp>
      <p:sp>
        <p:nvSpPr>
          <p:cNvPr id="14" name="Shape 12"/>
          <p:cNvSpPr/>
          <p:nvPr/>
        </p:nvSpPr>
        <p:spPr>
          <a:xfrm>
            <a:off x="6446520" y="1828800"/>
            <a:ext cx="2103120" cy="640080"/>
          </a:xfrm>
          <a:prstGeom prst="roundRect">
            <a:avLst>
              <a:gd name="adj" fmla="val 11429"/>
            </a:avLst>
          </a:prstGeom>
          <a:solidFill>
            <a:srgbClr val="FFFFFF"/>
          </a:solidFill>
          <a:ln w="15240">
            <a:solidFill>
              <a:srgbClr val="E2E8F0"/>
            </a:solidFill>
            <a:prstDash val="solid"/>
          </a:ln>
        </p:spPr>
      </p:sp>
      <p:sp>
        <p:nvSpPr>
          <p:cNvPr id="15" name="Text 13"/>
          <p:cNvSpPr/>
          <p:nvPr/>
        </p:nvSpPr>
        <p:spPr>
          <a:xfrm>
            <a:off x="6565392" y="1901952"/>
            <a:ext cx="1865376" cy="530352"/>
          </a:xfrm>
          <a:prstGeom prst="rect">
            <a:avLst/>
          </a:prstGeom>
          <a:noFill/>
          <a:ln/>
        </p:spPr>
        <p:txBody>
          <a:bodyPr wrap="square" lIns="127" tIns="127" rIns="127" bIns="127" rtlCol="0" anchor="ctr">
            <a:normAutofit/>
          </a:bodyPr>
          <a:lstStyle/>
          <a:p>
            <a:pPr indent="0" marL="0">
              <a:buNone/>
            </a:pPr>
            <a:r>
              <a:rPr lang="en-US" sz="1400" b="1" dirty="0">
                <a:solidFill>
                  <a:srgbClr val="0F172A"/>
                </a:solidFill>
              </a:rPr>
              <a:t>Version 1</a:t>
            </a:r>
            <a:pPr indent="0" marL="0">
              <a:buNone/>
            </a:pPr>
            <a:endParaRPr lang="en-US" sz="1400" dirty="0"/>
          </a:p>
          <a:p>
            <a:pPr indent="0" marL="0">
              <a:buNone/>
            </a:pPr>
            <a:r>
              <a:rPr lang="en-US" sz="900" dirty="0">
                <a:solidFill>
                  <a:srgbClr val="334155"/>
                </a:solidFill>
              </a:rPr>
              <a:t>inactive · auditable</a:t>
            </a:r>
            <a:endParaRPr lang="en-US" sz="1400" dirty="0"/>
          </a:p>
        </p:txBody>
      </p:sp>
      <p:sp>
        <p:nvSpPr>
          <p:cNvPr id="16" name="Shape 14"/>
          <p:cNvSpPr/>
          <p:nvPr/>
        </p:nvSpPr>
        <p:spPr>
          <a:xfrm>
            <a:off x="6446520" y="2743200"/>
            <a:ext cx="2103120" cy="640080"/>
          </a:xfrm>
          <a:prstGeom prst="roundRect">
            <a:avLst>
              <a:gd name="adj" fmla="val 11429"/>
            </a:avLst>
          </a:prstGeom>
          <a:solidFill>
            <a:srgbClr val="DCFCE7"/>
          </a:solidFill>
          <a:ln w="15240">
            <a:solidFill>
              <a:srgbClr val="38761D"/>
            </a:solidFill>
            <a:prstDash val="solid"/>
          </a:ln>
        </p:spPr>
      </p:sp>
      <p:sp>
        <p:nvSpPr>
          <p:cNvPr id="17" name="Text 15"/>
          <p:cNvSpPr/>
          <p:nvPr/>
        </p:nvSpPr>
        <p:spPr>
          <a:xfrm>
            <a:off x="6565392" y="2816352"/>
            <a:ext cx="1865376" cy="530352"/>
          </a:xfrm>
          <a:prstGeom prst="rect">
            <a:avLst/>
          </a:prstGeom>
          <a:noFill/>
          <a:ln/>
        </p:spPr>
        <p:txBody>
          <a:bodyPr wrap="square" lIns="127" tIns="127" rIns="127" bIns="127" rtlCol="0" anchor="ctr">
            <a:normAutofit/>
          </a:bodyPr>
          <a:lstStyle/>
          <a:p>
            <a:pPr indent="0" marL="0">
              <a:buNone/>
            </a:pPr>
            <a:r>
              <a:rPr lang="en-US" sz="1400" b="1" dirty="0">
                <a:solidFill>
                  <a:srgbClr val="0F172A"/>
                </a:solidFill>
              </a:rPr>
              <a:t>Version 2</a:t>
            </a:r>
            <a:pPr indent="0" marL="0">
              <a:buNone/>
            </a:pPr>
            <a:endParaRPr lang="en-US" sz="1400" dirty="0"/>
          </a:p>
          <a:p>
            <a:pPr indent="0" marL="0">
              <a:buNone/>
            </a:pPr>
            <a:r>
              <a:rPr lang="en-US" sz="900" dirty="0">
                <a:solidFill>
                  <a:srgbClr val="334155"/>
                </a:solidFill>
              </a:rPr>
              <a:t>ACTIVE · retrievable</a:t>
            </a:r>
            <a:endParaRPr lang="en-US" sz="1400" dirty="0"/>
          </a:p>
        </p:txBody>
      </p:sp>
      <p:sp>
        <p:nvSpPr>
          <p:cNvPr id="18" name="Shape 16"/>
          <p:cNvSpPr/>
          <p:nvPr/>
        </p:nvSpPr>
        <p:spPr>
          <a:xfrm>
            <a:off x="8732520" y="3063240"/>
            <a:ext cx="777240" cy="0"/>
          </a:xfrm>
          <a:prstGeom prst="line">
            <a:avLst/>
          </a:prstGeom>
          <a:noFill/>
          <a:ln w="25400">
            <a:solidFill>
              <a:srgbClr val="38761D"/>
            </a:solidFill>
            <a:prstDash val="solid"/>
            <a:headEnd type="none"/>
            <a:tailEnd type="triangle"/>
          </a:ln>
        </p:spPr>
      </p:sp>
      <p:sp>
        <p:nvSpPr>
          <p:cNvPr id="19" name="Shape 17"/>
          <p:cNvSpPr/>
          <p:nvPr/>
        </p:nvSpPr>
        <p:spPr>
          <a:xfrm>
            <a:off x="9646920" y="2743200"/>
            <a:ext cx="1828800" cy="640080"/>
          </a:xfrm>
          <a:prstGeom prst="roundRect">
            <a:avLst>
              <a:gd name="adj" fmla="val 11429"/>
            </a:avLst>
          </a:prstGeom>
          <a:solidFill>
            <a:srgbClr val="DCFCE7"/>
          </a:solidFill>
          <a:ln w="15240">
            <a:solidFill>
              <a:srgbClr val="38761D"/>
            </a:solidFill>
            <a:prstDash val="solid"/>
          </a:ln>
        </p:spPr>
      </p:sp>
      <p:sp>
        <p:nvSpPr>
          <p:cNvPr id="20" name="Text 18"/>
          <p:cNvSpPr/>
          <p:nvPr/>
        </p:nvSpPr>
        <p:spPr>
          <a:xfrm>
            <a:off x="9765792" y="2816352"/>
            <a:ext cx="1591056" cy="530352"/>
          </a:xfrm>
          <a:prstGeom prst="rect">
            <a:avLst/>
          </a:prstGeom>
          <a:noFill/>
          <a:ln/>
        </p:spPr>
        <p:txBody>
          <a:bodyPr wrap="square" lIns="127" tIns="127" rIns="127" bIns="127" rtlCol="0" anchor="ctr">
            <a:normAutofit/>
          </a:bodyPr>
          <a:lstStyle/>
          <a:p>
            <a:pPr indent="0" marL="0">
              <a:buNone/>
            </a:pPr>
            <a:r>
              <a:rPr lang="en-US" sz="1400" b="1" dirty="0">
                <a:solidFill>
                  <a:srgbClr val="0F172A"/>
                </a:solidFill>
              </a:rPr>
              <a:t>Retriever</a:t>
            </a:r>
            <a:pPr indent="0" marL="0">
              <a:buNone/>
            </a:pPr>
            <a:endParaRPr lang="en-US" sz="1400" dirty="0"/>
          </a:p>
          <a:p>
            <a:pPr indent="0" marL="0">
              <a:buNone/>
            </a:pPr>
            <a:r>
              <a:rPr lang="en-US" sz="900" dirty="0">
                <a:solidFill>
                  <a:srgbClr val="334155"/>
                </a:solidFill>
              </a:rPr>
              <a:t>active only</a:t>
            </a:r>
            <a:endParaRPr lang="en-US" sz="1400" dirty="0"/>
          </a:p>
        </p:txBody>
      </p:sp>
      <p:sp>
        <p:nvSpPr>
          <p:cNvPr id="21" name="Text 19"/>
          <p:cNvSpPr/>
          <p:nvPr/>
        </p:nvSpPr>
        <p:spPr>
          <a:xfrm>
            <a:off x="685800" y="4133088"/>
            <a:ext cx="2926080" cy="274320"/>
          </a:xfrm>
          <a:prstGeom prst="rect">
            <a:avLst/>
          </a:prstGeom>
          <a:noFill/>
          <a:ln/>
        </p:spPr>
        <p:txBody>
          <a:bodyPr wrap="square" lIns="0" tIns="0" rIns="0" bIns="0" rtlCol="0" anchor="ctr"/>
          <a:lstStyle/>
          <a:p>
            <a:pPr indent="0" marL="0">
              <a:buNone/>
            </a:pPr>
            <a:r>
              <a:rPr lang="en-US" sz="1800" b="1" dirty="0">
                <a:solidFill>
                  <a:srgbClr val="0F172A"/>
                </a:solidFill>
              </a:rPr>
              <a:t>Delta mechanism</a:t>
            </a:r>
            <a:endParaRPr lang="en-US" sz="1800" dirty="0"/>
          </a:p>
        </p:txBody>
      </p:sp>
      <p:sp>
        <p:nvSpPr>
          <p:cNvPr id="22" name="Text 20"/>
          <p:cNvSpPr/>
          <p:nvPr/>
        </p:nvSpPr>
        <p:spPr>
          <a:xfrm>
            <a:off x="713232" y="4526280"/>
            <a:ext cx="10607040" cy="502920"/>
          </a:xfrm>
          <a:prstGeom prst="rect">
            <a:avLst/>
          </a:prstGeom>
          <a:noFill/>
          <a:ln/>
        </p:spPr>
        <p:txBody>
          <a:bodyPr wrap="square" lIns="254" tIns="254" rIns="254" bIns="254" rtlCol="0" anchor="ctr">
            <a:normAutofit/>
          </a:bodyPr>
          <a:lstStyle/>
          <a:p>
            <a:pPr indent="0" marL="0">
              <a:buNone/>
            </a:pPr>
            <a:r>
              <a:rPr lang="en-US" sz="1520" dirty="0">
                <a:solidFill>
                  <a:srgbClr val="334155"/>
                </a:solidFill>
              </a:rPr>
              <a:t>ETag / Last-Modified / SHA-256 hash tell the indexer whether content changed. Unchanged documents are not re-extracted, re-chunked or re-embedded.</a:t>
            </a:r>
            <a:endParaRPr lang="en-US" sz="1520" dirty="0"/>
          </a:p>
        </p:txBody>
      </p:sp>
      <p:sp>
        <p:nvSpPr>
          <p:cNvPr id="23" name="Shape 21"/>
          <p:cNvSpPr/>
          <p:nvPr/>
        </p:nvSpPr>
        <p:spPr>
          <a:xfrm>
            <a:off x="777240" y="5440680"/>
            <a:ext cx="54864" cy="786384"/>
          </a:xfrm>
          <a:prstGeom prst="rect">
            <a:avLst/>
          </a:prstGeom>
          <a:solidFill>
            <a:srgbClr val="38761D"/>
          </a:solidFill>
          <a:ln w="12700">
            <a:solidFill>
              <a:srgbClr val="38761D"/>
            </a:solidFill>
            <a:prstDash val="solid"/>
          </a:ln>
        </p:spPr>
      </p:sp>
      <p:sp>
        <p:nvSpPr>
          <p:cNvPr id="24" name="Text 22"/>
          <p:cNvSpPr/>
          <p:nvPr/>
        </p:nvSpPr>
        <p:spPr>
          <a:xfrm>
            <a:off x="941832" y="5440680"/>
            <a:ext cx="9784080" cy="822960"/>
          </a:xfrm>
          <a:prstGeom prst="rect">
            <a:avLst/>
          </a:prstGeom>
          <a:noFill/>
          <a:ln/>
        </p:spPr>
        <p:txBody>
          <a:bodyPr wrap="square" lIns="254" tIns="254" rIns="254" bIns="254" rtlCol="0" anchor="ctr">
            <a:normAutofit/>
          </a:bodyPr>
          <a:lstStyle/>
          <a:p>
            <a:pPr indent="0" marL="0">
              <a:buNone/>
            </a:pPr>
            <a:r>
              <a:rPr lang="en-US" sz="1900" i="1" dirty="0">
                <a:solidFill>
                  <a:srgbClr val="0F172A"/>
                </a:solidFill>
              </a:rPr>
              <a:t>We preserve history, but retrieval sees exactly one active version per document.</a:t>
            </a:r>
            <a:endParaRPr lang="en-US" sz="190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8686800" cy="438912"/>
          </a:xfrm>
          <a:prstGeom prst="rect">
            <a:avLst/>
          </a:prstGeom>
          <a:noFill/>
          <a:ln/>
        </p:spPr>
        <p:txBody>
          <a:bodyPr wrap="square" lIns="0" tIns="0" rIns="0" bIns="0" rtlCol="0" anchor="ctr"/>
          <a:lstStyle/>
          <a:p>
            <a:pPr indent="0" marL="0">
              <a:buNone/>
            </a:pPr>
            <a:r>
              <a:rPr lang="en-US" sz="2800" b="1" dirty="0">
                <a:solidFill>
                  <a:srgbClr val="0F172A"/>
                </a:solidFill>
                <a:latin typeface="Aptos Display" pitchFamily="34" charset="0"/>
                <a:ea typeface="Aptos Display" pitchFamily="34" charset="-122"/>
                <a:cs typeface="Aptos Display" pitchFamily="34" charset="-120"/>
              </a:rPr>
              <a:t>Why two data stores?</a:t>
            </a:r>
            <a:endParaRPr lang="en-US" sz="2800" dirty="0"/>
          </a:p>
        </p:txBody>
      </p:sp>
      <p:sp>
        <p:nvSpPr>
          <p:cNvPr id="3" name="Text 1"/>
          <p:cNvSpPr/>
          <p:nvPr/>
        </p:nvSpPr>
        <p:spPr>
          <a:xfrm>
            <a:off x="530352" y="786384"/>
            <a:ext cx="9875520" cy="274320"/>
          </a:xfrm>
          <a:prstGeom prst="rect">
            <a:avLst/>
          </a:prstGeom>
          <a:noFill/>
          <a:ln/>
        </p:spPr>
        <p:txBody>
          <a:bodyPr wrap="square" lIns="0" tIns="0" rIns="0" bIns="0" rtlCol="0" anchor="ctr"/>
          <a:lstStyle/>
          <a:p>
            <a:pPr indent="0" marL="0">
              <a:buNone/>
            </a:pPr>
            <a:r>
              <a:rPr lang="en-US" sz="1050" dirty="0">
                <a:solidFill>
                  <a:srgbClr val="64748B"/>
                </a:solidFill>
              </a:rPr>
              <a:t>The filesystem and database have different jobs.</a:t>
            </a:r>
            <a:endParaRPr lang="en-US" sz="1050" dirty="0"/>
          </a:p>
        </p:txBody>
      </p:sp>
      <p:sp>
        <p:nvSpPr>
          <p:cNvPr id="4" name="Shape 2"/>
          <p:cNvSpPr/>
          <p:nvPr/>
        </p:nvSpPr>
        <p:spPr>
          <a:xfrm>
            <a:off x="502920" y="1078992"/>
            <a:ext cx="11155680" cy="0"/>
          </a:xfrm>
          <a:prstGeom prst="line">
            <a:avLst/>
          </a:prstGeom>
          <a:noFill/>
          <a:ln w="9525">
            <a:solidFill>
              <a:srgbClr val="E2E8F0"/>
            </a:solidFill>
            <a:prstDash val="solid"/>
          </a:ln>
        </p:spPr>
      </p:sp>
      <p:sp>
        <p:nvSpPr>
          <p:cNvPr id="5" name="Shape 3"/>
          <p:cNvSpPr/>
          <p:nvPr/>
        </p:nvSpPr>
        <p:spPr>
          <a:xfrm>
            <a:off x="777240" y="1508760"/>
            <a:ext cx="4480560" cy="2971800"/>
          </a:xfrm>
          <a:prstGeom prst="roundRect">
            <a:avLst>
              <a:gd name="adj" fmla="val 2462"/>
            </a:avLst>
          </a:prstGeom>
          <a:solidFill>
            <a:srgbClr val="CCFBF1"/>
          </a:solidFill>
          <a:ln w="15240">
            <a:solidFill>
              <a:srgbClr val="0E7C7B"/>
            </a:solidFill>
            <a:prstDash val="solid"/>
          </a:ln>
        </p:spPr>
      </p:sp>
      <p:sp>
        <p:nvSpPr>
          <p:cNvPr id="6" name="Text 4"/>
          <p:cNvSpPr/>
          <p:nvPr/>
        </p:nvSpPr>
        <p:spPr>
          <a:xfrm>
            <a:off x="896112" y="1581912"/>
            <a:ext cx="4242816" cy="2862072"/>
          </a:xfrm>
          <a:prstGeom prst="rect">
            <a:avLst/>
          </a:prstGeom>
          <a:noFill/>
          <a:ln/>
        </p:spPr>
        <p:txBody>
          <a:bodyPr wrap="square" lIns="127" tIns="127" rIns="127" bIns="127" rtlCol="0" anchor="ctr">
            <a:normAutofit/>
          </a:bodyPr>
          <a:lstStyle/>
          <a:p>
            <a:pPr indent="0" marL="0">
              <a:buNone/>
            </a:pPr>
            <a:r>
              <a:rPr lang="en-US" sz="2100" b="1" dirty="0">
                <a:solidFill>
                  <a:srgbClr val="0F172A"/>
                </a:solidFill>
              </a:rPr>
              <a:t>Versioned source filesystem</a:t>
            </a:r>
            <a:pPr indent="0" marL="0">
              <a:buNone/>
            </a:pPr>
            <a:endParaRPr lang="en-US" sz="2100" dirty="0"/>
          </a:p>
          <a:p>
            <a:pPr indent="0" marL="0">
              <a:buNone/>
            </a:pPr>
            <a:r>
              <a:rPr lang="en-US" sz="1400" dirty="0">
                <a:solidFill>
                  <a:srgbClr val="334155"/>
                </a:solidFill>
              </a:rPr>
              <a:t>Holds the original evidence exactly as fetched:</a:t>
            </a:r>
            <a:endParaRPr lang="en-US" sz="2100" dirty="0"/>
          </a:p>
          <a:p>
            <a:pPr indent="0" marL="0">
              <a:buNone/>
            </a:pPr>
            <a:endParaRPr lang="en-US" sz="2100" dirty="0"/>
          </a:p>
          <a:p>
            <a:pPr indent="0" marL="0">
              <a:buNone/>
            </a:pPr>
            <a:r>
              <a:rPr lang="en-US" sz="1400" dirty="0">
                <a:solidFill>
                  <a:srgbClr val="334155"/>
                </a:solidFill>
              </a:rPr>
              <a:t>• HTML pages</a:t>
            </a:r>
            <a:endParaRPr lang="en-US" sz="2100" dirty="0"/>
          </a:p>
          <a:p>
            <a:pPr indent="0" marL="0">
              <a:buNone/>
            </a:pPr>
            <a:r>
              <a:rPr lang="en-US" sz="1400" dirty="0">
                <a:solidFill>
                  <a:srgbClr val="334155"/>
                </a:solidFill>
              </a:rPr>
              <a:t>• PDF datasheets</a:t>
            </a:r>
            <a:endParaRPr lang="en-US" sz="2100" dirty="0"/>
          </a:p>
          <a:p>
            <a:pPr indent="0" marL="0">
              <a:buNone/>
            </a:pPr>
            <a:r>
              <a:rPr lang="en-US" sz="1400" dirty="0">
                <a:solidFill>
                  <a:srgbClr val="334155"/>
                </a:solidFill>
              </a:rPr>
              <a:t>• source paths</a:t>
            </a:r>
            <a:endParaRPr lang="en-US" sz="2100" dirty="0"/>
          </a:p>
          <a:p>
            <a:pPr indent="0" marL="0">
              <a:buNone/>
            </a:pPr>
            <a:r>
              <a:rPr lang="en-US" sz="1400" dirty="0">
                <a:solidFill>
                  <a:srgbClr val="334155"/>
                </a:solidFill>
              </a:rPr>
              <a:t>• SHA-256 hashes</a:t>
            </a:r>
            <a:endParaRPr lang="en-US" sz="2100" dirty="0"/>
          </a:p>
          <a:p>
            <a:pPr indent="0" marL="0">
              <a:buNone/>
            </a:pPr>
            <a:r>
              <a:rPr lang="en-US" sz="1400" dirty="0">
                <a:solidFill>
                  <a:srgbClr val="334155"/>
                </a:solidFill>
              </a:rPr>
              <a:t>• old versions for audit</a:t>
            </a:r>
            <a:endParaRPr lang="en-US" sz="2100" dirty="0"/>
          </a:p>
        </p:txBody>
      </p:sp>
      <p:sp>
        <p:nvSpPr>
          <p:cNvPr id="7" name="Shape 5"/>
          <p:cNvSpPr/>
          <p:nvPr/>
        </p:nvSpPr>
        <p:spPr>
          <a:xfrm>
            <a:off x="6903720" y="1508760"/>
            <a:ext cx="4480560" cy="2971800"/>
          </a:xfrm>
          <a:prstGeom prst="roundRect">
            <a:avLst>
              <a:gd name="adj" fmla="val 2462"/>
            </a:avLst>
          </a:prstGeom>
          <a:solidFill>
            <a:srgbClr val="E0F2FE"/>
          </a:solidFill>
          <a:ln w="15240">
            <a:solidFill>
              <a:srgbClr val="1F4E79"/>
            </a:solidFill>
            <a:prstDash val="solid"/>
          </a:ln>
        </p:spPr>
      </p:sp>
      <p:sp>
        <p:nvSpPr>
          <p:cNvPr id="8" name="Text 6"/>
          <p:cNvSpPr/>
          <p:nvPr/>
        </p:nvSpPr>
        <p:spPr>
          <a:xfrm>
            <a:off x="7022592" y="1581912"/>
            <a:ext cx="4242816" cy="2862072"/>
          </a:xfrm>
          <a:prstGeom prst="rect">
            <a:avLst/>
          </a:prstGeom>
          <a:noFill/>
          <a:ln/>
        </p:spPr>
        <p:txBody>
          <a:bodyPr wrap="square" lIns="127" tIns="127" rIns="127" bIns="127" rtlCol="0" anchor="ctr">
            <a:normAutofit/>
          </a:bodyPr>
          <a:lstStyle/>
          <a:p>
            <a:pPr indent="0" marL="0">
              <a:buNone/>
            </a:pPr>
            <a:r>
              <a:rPr lang="en-US" sz="2100" b="1" dirty="0">
                <a:solidFill>
                  <a:srgbClr val="0F172A"/>
                </a:solidFill>
              </a:rPr>
              <a:t>Knowledge store</a:t>
            </a:r>
            <a:pPr indent="0" marL="0">
              <a:buNone/>
            </a:pPr>
            <a:endParaRPr lang="en-US" sz="2100" dirty="0"/>
          </a:p>
          <a:p>
            <a:pPr indent="0" marL="0">
              <a:buNone/>
            </a:pPr>
            <a:r>
              <a:rPr lang="en-US" sz="1400" dirty="0">
                <a:solidFill>
                  <a:srgbClr val="334155"/>
                </a:solidFill>
              </a:rPr>
              <a:t>Holds the searchable knowledge model:</a:t>
            </a:r>
            <a:endParaRPr lang="en-US" sz="2100" dirty="0"/>
          </a:p>
          <a:p>
            <a:pPr indent="0" marL="0">
              <a:buNone/>
            </a:pPr>
            <a:endParaRPr lang="en-US" sz="2100" dirty="0"/>
          </a:p>
          <a:p>
            <a:pPr indent="0" marL="0">
              <a:buNone/>
            </a:pPr>
            <a:r>
              <a:rPr lang="en-US" sz="1400" dirty="0">
                <a:solidFill>
                  <a:srgbClr val="334155"/>
                </a:solidFill>
              </a:rPr>
              <a:t>• documents + versions</a:t>
            </a:r>
            <a:endParaRPr lang="en-US" sz="2100" dirty="0"/>
          </a:p>
          <a:p>
            <a:pPr indent="0" marL="0">
              <a:buNone/>
            </a:pPr>
            <a:r>
              <a:rPr lang="en-US" sz="1400" dirty="0">
                <a:solidFill>
                  <a:srgbClr val="334155"/>
                </a:solidFill>
              </a:rPr>
              <a:t>• chunks + caveats</a:t>
            </a:r>
            <a:endParaRPr lang="en-US" sz="2100" dirty="0"/>
          </a:p>
          <a:p>
            <a:pPr indent="0" marL="0">
              <a:buNone/>
            </a:pPr>
            <a:r>
              <a:rPr lang="en-US" sz="1400" dirty="0">
                <a:solidFill>
                  <a:srgbClr val="334155"/>
                </a:solidFill>
              </a:rPr>
              <a:t>• embeddings</a:t>
            </a:r>
            <a:endParaRPr lang="en-US" sz="2100" dirty="0"/>
          </a:p>
          <a:p>
            <a:pPr indent="0" marL="0">
              <a:buNone/>
            </a:pPr>
            <a:r>
              <a:rPr lang="en-US" sz="1400" dirty="0">
                <a:solidFill>
                  <a:srgbClr val="334155"/>
                </a:solidFill>
              </a:rPr>
              <a:t>• audience tags</a:t>
            </a:r>
            <a:endParaRPr lang="en-US" sz="2100" dirty="0"/>
          </a:p>
          <a:p>
            <a:pPr indent="0" marL="0">
              <a:buNone/>
            </a:pPr>
            <a:r>
              <a:rPr lang="en-US" sz="1400" dirty="0">
                <a:solidFill>
                  <a:srgbClr val="334155"/>
                </a:solidFill>
              </a:rPr>
              <a:t>• index snapshots</a:t>
            </a:r>
            <a:endParaRPr lang="en-US" sz="2100" dirty="0"/>
          </a:p>
        </p:txBody>
      </p:sp>
      <p:sp>
        <p:nvSpPr>
          <p:cNvPr id="9" name="Shape 7"/>
          <p:cNvSpPr/>
          <p:nvPr/>
        </p:nvSpPr>
        <p:spPr>
          <a:xfrm>
            <a:off x="5440680" y="2971800"/>
            <a:ext cx="1280160" cy="0"/>
          </a:xfrm>
          <a:prstGeom prst="line">
            <a:avLst/>
          </a:prstGeom>
          <a:noFill/>
          <a:ln w="25400">
            <a:solidFill>
              <a:srgbClr val="64748B"/>
            </a:solidFill>
            <a:prstDash val="solid"/>
            <a:headEnd type="none"/>
            <a:tailEnd type="triangle"/>
          </a:ln>
        </p:spPr>
      </p:sp>
      <p:sp>
        <p:nvSpPr>
          <p:cNvPr id="10" name="Text 8"/>
          <p:cNvSpPr/>
          <p:nvPr/>
        </p:nvSpPr>
        <p:spPr>
          <a:xfrm>
            <a:off x="6995160" y="4736592"/>
            <a:ext cx="2240280" cy="274320"/>
          </a:xfrm>
          <a:prstGeom prst="rect">
            <a:avLst/>
          </a:prstGeom>
          <a:noFill/>
          <a:ln/>
        </p:spPr>
        <p:txBody>
          <a:bodyPr wrap="square" lIns="0" tIns="0" rIns="0" bIns="0" rtlCol="0" anchor="ctr"/>
          <a:lstStyle/>
          <a:p>
            <a:pPr indent="0" marL="0">
              <a:buNone/>
            </a:pPr>
            <a:r>
              <a:rPr lang="en-US" sz="1400" b="1" dirty="0">
                <a:solidFill>
                  <a:srgbClr val="1F4E79"/>
                </a:solidFill>
              </a:rPr>
              <a:t>Assessment: SQLite</a:t>
            </a:r>
            <a:endParaRPr lang="en-US" sz="1400" dirty="0"/>
          </a:p>
        </p:txBody>
      </p:sp>
      <p:sp>
        <p:nvSpPr>
          <p:cNvPr id="11" name="Text 9"/>
          <p:cNvSpPr/>
          <p:nvPr/>
        </p:nvSpPr>
        <p:spPr>
          <a:xfrm>
            <a:off x="9235440" y="4736592"/>
            <a:ext cx="2423160" cy="274320"/>
          </a:xfrm>
          <a:prstGeom prst="rect">
            <a:avLst/>
          </a:prstGeom>
          <a:noFill/>
          <a:ln/>
        </p:spPr>
        <p:txBody>
          <a:bodyPr wrap="square" lIns="0" tIns="0" rIns="0" bIns="0" rtlCol="0" anchor="ctr"/>
          <a:lstStyle/>
          <a:p>
            <a:pPr indent="0" marL="0">
              <a:buNone/>
            </a:pPr>
            <a:r>
              <a:rPr lang="en-US" sz="1400" b="1" dirty="0">
                <a:solidFill>
                  <a:srgbClr val="1F4E79"/>
                </a:solidFill>
              </a:rPr>
              <a:t>Production: PostgreSQL + pgvector</a:t>
            </a:r>
            <a:endParaRPr lang="en-US" sz="1400" dirty="0"/>
          </a:p>
        </p:txBody>
      </p:sp>
      <p:sp>
        <p:nvSpPr>
          <p:cNvPr id="12" name="Shape 10"/>
          <p:cNvSpPr/>
          <p:nvPr/>
        </p:nvSpPr>
        <p:spPr>
          <a:xfrm>
            <a:off x="914400" y="5532120"/>
            <a:ext cx="54864" cy="786384"/>
          </a:xfrm>
          <a:prstGeom prst="rect">
            <a:avLst/>
          </a:prstGeom>
          <a:solidFill>
            <a:srgbClr val="1F4E79"/>
          </a:solidFill>
          <a:ln w="12700">
            <a:solidFill>
              <a:srgbClr val="1F4E79"/>
            </a:solidFill>
            <a:prstDash val="solid"/>
          </a:ln>
        </p:spPr>
      </p:sp>
      <p:sp>
        <p:nvSpPr>
          <p:cNvPr id="13" name="Text 11"/>
          <p:cNvSpPr/>
          <p:nvPr/>
        </p:nvSpPr>
        <p:spPr>
          <a:xfrm>
            <a:off x="1078992" y="5532120"/>
            <a:ext cx="9692640" cy="822960"/>
          </a:xfrm>
          <a:prstGeom prst="rect">
            <a:avLst/>
          </a:prstGeom>
          <a:noFill/>
          <a:ln/>
        </p:spPr>
        <p:txBody>
          <a:bodyPr wrap="square" lIns="254" tIns="254" rIns="254" bIns="254" rtlCol="0" anchor="ctr">
            <a:normAutofit/>
          </a:bodyPr>
          <a:lstStyle/>
          <a:p>
            <a:pPr indent="0" marL="0">
              <a:buNone/>
            </a:pPr>
            <a:r>
              <a:rPr lang="en-US" sz="1900" i="1" dirty="0">
                <a:solidFill>
                  <a:srgbClr val="0F172A"/>
                </a:solidFill>
              </a:rPr>
              <a:t>The filesystem holds the evidence; the database holds its identity, history and searchable representation.</a:t>
            </a:r>
            <a:endParaRPr lang="en-US" sz="190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8686800" cy="438912"/>
          </a:xfrm>
          <a:prstGeom prst="rect">
            <a:avLst/>
          </a:prstGeom>
          <a:noFill/>
          <a:ln/>
        </p:spPr>
        <p:txBody>
          <a:bodyPr wrap="square" lIns="0" tIns="0" rIns="0" bIns="0" rtlCol="0" anchor="ctr"/>
          <a:lstStyle/>
          <a:p>
            <a:pPr indent="0" marL="0">
              <a:buNone/>
            </a:pPr>
            <a:r>
              <a:rPr lang="en-US" sz="2800" b="1" dirty="0">
                <a:solidFill>
                  <a:srgbClr val="0F172A"/>
                </a:solidFill>
                <a:latin typeface="Aptos Display" pitchFamily="34" charset="0"/>
                <a:ea typeface="Aptos Display" pitchFamily="34" charset="-122"/>
                <a:cs typeface="Aptos Display" pitchFamily="34" charset="-120"/>
              </a:rPr>
              <a:t>One system, two storage adapters</a:t>
            </a:r>
            <a:endParaRPr lang="en-US" sz="2800" dirty="0"/>
          </a:p>
        </p:txBody>
      </p:sp>
      <p:sp>
        <p:nvSpPr>
          <p:cNvPr id="3" name="Text 1"/>
          <p:cNvSpPr/>
          <p:nvPr/>
        </p:nvSpPr>
        <p:spPr>
          <a:xfrm>
            <a:off x="530352" y="786384"/>
            <a:ext cx="9875520" cy="274320"/>
          </a:xfrm>
          <a:prstGeom prst="rect">
            <a:avLst/>
          </a:prstGeom>
          <a:noFill/>
          <a:ln/>
        </p:spPr>
        <p:txBody>
          <a:bodyPr wrap="square" lIns="0" tIns="0" rIns="0" bIns="0" rtlCol="0" anchor="ctr"/>
          <a:lstStyle/>
          <a:p>
            <a:pPr indent="0" marL="0">
              <a:buNone/>
            </a:pPr>
            <a:r>
              <a:rPr lang="en-US" sz="1050" dirty="0">
                <a:solidFill>
                  <a:srgbClr val="64748B"/>
                </a:solidFill>
              </a:rPr>
              <a:t>This is how the system stays runnable offline and production-ready.</a:t>
            </a:r>
            <a:endParaRPr lang="en-US" sz="1050" dirty="0"/>
          </a:p>
        </p:txBody>
      </p:sp>
      <p:sp>
        <p:nvSpPr>
          <p:cNvPr id="4" name="Shape 2"/>
          <p:cNvSpPr/>
          <p:nvPr/>
        </p:nvSpPr>
        <p:spPr>
          <a:xfrm>
            <a:off x="502920" y="1078992"/>
            <a:ext cx="11155680" cy="0"/>
          </a:xfrm>
          <a:prstGeom prst="line">
            <a:avLst/>
          </a:prstGeom>
          <a:noFill/>
          <a:ln w="9525">
            <a:solidFill>
              <a:srgbClr val="E2E8F0"/>
            </a:solidFill>
            <a:prstDash val="solid"/>
          </a:ln>
        </p:spPr>
      </p:sp>
      <p:sp>
        <p:nvSpPr>
          <p:cNvPr id="5" name="Shape 3"/>
          <p:cNvSpPr/>
          <p:nvPr/>
        </p:nvSpPr>
        <p:spPr>
          <a:xfrm>
            <a:off x="3977640" y="1325880"/>
            <a:ext cx="4206240" cy="822960"/>
          </a:xfrm>
          <a:prstGeom prst="roundRect">
            <a:avLst>
              <a:gd name="adj" fmla="val 8889"/>
            </a:avLst>
          </a:prstGeom>
          <a:solidFill>
            <a:srgbClr val="EDE9FE"/>
          </a:solidFill>
          <a:ln w="15240">
            <a:solidFill>
              <a:srgbClr val="6B4E9E"/>
            </a:solidFill>
            <a:prstDash val="solid"/>
          </a:ln>
        </p:spPr>
      </p:sp>
      <p:sp>
        <p:nvSpPr>
          <p:cNvPr id="6" name="Text 4"/>
          <p:cNvSpPr/>
          <p:nvPr/>
        </p:nvSpPr>
        <p:spPr>
          <a:xfrm>
            <a:off x="4096512" y="1399032"/>
            <a:ext cx="3968496" cy="713232"/>
          </a:xfrm>
          <a:prstGeom prst="rect">
            <a:avLst/>
          </a:prstGeom>
          <a:noFill/>
          <a:ln/>
        </p:spPr>
        <p:txBody>
          <a:bodyPr wrap="square" lIns="127" tIns="127" rIns="127" bIns="127" rtlCol="0" anchor="ctr">
            <a:normAutofit/>
          </a:bodyPr>
          <a:lstStyle/>
          <a:p>
            <a:pPr indent="0" marL="0">
              <a:buNone/>
            </a:pPr>
            <a:r>
              <a:rPr lang="en-US" sz="1800" b="1" dirty="0">
                <a:solidFill>
                  <a:srgbClr val="0F172A"/>
                </a:solidFill>
              </a:rPr>
              <a:t>Answer Engine</a:t>
            </a:r>
            <a:pPr indent="0" marL="0">
              <a:buNone/>
            </a:pPr>
            <a:endParaRPr lang="en-US" sz="1800" dirty="0"/>
          </a:p>
          <a:p>
            <a:pPr indent="0" marL="0">
              <a:buNone/>
            </a:pPr>
            <a:r>
              <a:rPr lang="en-US" sz="1050" dirty="0">
                <a:solidFill>
                  <a:srgbClr val="334155"/>
                </a:solidFill>
              </a:rPr>
              <a:t>business logic, router, checks</a:t>
            </a:r>
            <a:endParaRPr lang="en-US" sz="1800" dirty="0"/>
          </a:p>
        </p:txBody>
      </p:sp>
      <p:sp>
        <p:nvSpPr>
          <p:cNvPr id="7" name="Shape 5"/>
          <p:cNvSpPr/>
          <p:nvPr/>
        </p:nvSpPr>
        <p:spPr>
          <a:xfrm>
            <a:off x="6080760" y="2176272"/>
            <a:ext cx="0" cy="612648"/>
          </a:xfrm>
          <a:prstGeom prst="line">
            <a:avLst/>
          </a:prstGeom>
          <a:noFill/>
          <a:ln w="19050">
            <a:solidFill>
              <a:srgbClr val="64748B"/>
            </a:solidFill>
            <a:prstDash val="solid"/>
            <a:headEnd type="none"/>
            <a:tailEnd type="triangle"/>
          </a:ln>
        </p:spPr>
      </p:sp>
      <p:sp>
        <p:nvSpPr>
          <p:cNvPr id="8" name="Shape 6"/>
          <p:cNvSpPr/>
          <p:nvPr/>
        </p:nvSpPr>
        <p:spPr>
          <a:xfrm>
            <a:off x="3977640" y="2834640"/>
            <a:ext cx="4206240" cy="822960"/>
          </a:xfrm>
          <a:prstGeom prst="roundRect">
            <a:avLst>
              <a:gd name="adj" fmla="val 8889"/>
            </a:avLst>
          </a:prstGeom>
          <a:solidFill>
            <a:srgbClr val="FEF3C7"/>
          </a:solidFill>
          <a:ln w="15240">
            <a:solidFill>
              <a:srgbClr val="F59E0B"/>
            </a:solidFill>
            <a:prstDash val="solid"/>
          </a:ln>
        </p:spPr>
      </p:sp>
      <p:sp>
        <p:nvSpPr>
          <p:cNvPr id="9" name="Text 7"/>
          <p:cNvSpPr/>
          <p:nvPr/>
        </p:nvSpPr>
        <p:spPr>
          <a:xfrm>
            <a:off x="4096512" y="2907792"/>
            <a:ext cx="3968496" cy="713232"/>
          </a:xfrm>
          <a:prstGeom prst="rect">
            <a:avLst/>
          </a:prstGeom>
          <a:noFill/>
          <a:ln/>
        </p:spPr>
        <p:txBody>
          <a:bodyPr wrap="square" lIns="127" tIns="127" rIns="127" bIns="127" rtlCol="0" anchor="ctr">
            <a:normAutofit/>
          </a:bodyPr>
          <a:lstStyle/>
          <a:p>
            <a:pPr indent="0" marL="0">
              <a:buNone/>
            </a:pPr>
            <a:r>
              <a:rPr lang="en-US" sz="1800" b="1" dirty="0">
                <a:solidFill>
                  <a:srgbClr val="0F172A"/>
                </a:solidFill>
              </a:rPr>
              <a:t>KnowledgeRepository</a:t>
            </a:r>
            <a:pPr indent="0" marL="0">
              <a:buNone/>
            </a:pPr>
            <a:endParaRPr lang="en-US" sz="1800" dirty="0"/>
          </a:p>
          <a:p>
            <a:pPr indent="0" marL="0">
              <a:buNone/>
            </a:pPr>
            <a:r>
              <a:rPr lang="en-US" sz="1050" dirty="0">
                <a:solidFill>
                  <a:srgbClr val="334155"/>
                </a:solidFill>
              </a:rPr>
              <a:t>storage-agnostic interface</a:t>
            </a:r>
            <a:endParaRPr lang="en-US" sz="1800" dirty="0"/>
          </a:p>
        </p:txBody>
      </p:sp>
      <p:sp>
        <p:nvSpPr>
          <p:cNvPr id="10" name="Shape 8"/>
          <p:cNvSpPr/>
          <p:nvPr/>
        </p:nvSpPr>
        <p:spPr>
          <a:xfrm>
            <a:off x="4983480" y="3703320"/>
            <a:ext cx="-1691640" cy="822960"/>
          </a:xfrm>
          <a:prstGeom prst="line">
            <a:avLst/>
          </a:prstGeom>
          <a:noFill/>
          <a:ln w="19050">
            <a:solidFill>
              <a:srgbClr val="64748B"/>
            </a:solidFill>
            <a:prstDash val="solid"/>
            <a:headEnd type="none"/>
            <a:tailEnd type="triangle"/>
          </a:ln>
        </p:spPr>
      </p:sp>
      <p:sp>
        <p:nvSpPr>
          <p:cNvPr id="11" name="Shape 9"/>
          <p:cNvSpPr/>
          <p:nvPr/>
        </p:nvSpPr>
        <p:spPr>
          <a:xfrm>
            <a:off x="7178040" y="3703320"/>
            <a:ext cx="1691640" cy="822960"/>
          </a:xfrm>
          <a:prstGeom prst="line">
            <a:avLst/>
          </a:prstGeom>
          <a:noFill/>
          <a:ln w="19050">
            <a:solidFill>
              <a:srgbClr val="64748B"/>
            </a:solidFill>
            <a:prstDash val="solid"/>
            <a:headEnd type="none"/>
            <a:tailEnd type="triangle"/>
          </a:ln>
        </p:spPr>
      </p:sp>
      <p:sp>
        <p:nvSpPr>
          <p:cNvPr id="12" name="Shape 10"/>
          <p:cNvSpPr/>
          <p:nvPr/>
        </p:nvSpPr>
        <p:spPr>
          <a:xfrm>
            <a:off x="1143000" y="4572000"/>
            <a:ext cx="3840480" cy="914400"/>
          </a:xfrm>
          <a:prstGeom prst="roundRect">
            <a:avLst>
              <a:gd name="adj" fmla="val 8000"/>
            </a:avLst>
          </a:prstGeom>
          <a:solidFill>
            <a:srgbClr val="DCFCE7"/>
          </a:solidFill>
          <a:ln w="15240">
            <a:solidFill>
              <a:srgbClr val="38761D"/>
            </a:solidFill>
            <a:prstDash val="solid"/>
          </a:ln>
        </p:spPr>
      </p:sp>
      <p:sp>
        <p:nvSpPr>
          <p:cNvPr id="13" name="Text 11"/>
          <p:cNvSpPr/>
          <p:nvPr/>
        </p:nvSpPr>
        <p:spPr>
          <a:xfrm>
            <a:off x="1261872" y="4645152"/>
            <a:ext cx="3602736" cy="804672"/>
          </a:xfrm>
          <a:prstGeom prst="rect">
            <a:avLst/>
          </a:prstGeom>
          <a:noFill/>
          <a:ln/>
        </p:spPr>
        <p:txBody>
          <a:bodyPr wrap="square" lIns="127" tIns="127" rIns="127" bIns="127" rtlCol="0" anchor="ctr">
            <a:normAutofit/>
          </a:bodyPr>
          <a:lstStyle/>
          <a:p>
            <a:pPr indent="0" marL="0">
              <a:buNone/>
            </a:pPr>
            <a:r>
              <a:rPr lang="en-US" sz="1700" b="1" dirty="0">
                <a:solidFill>
                  <a:srgbClr val="0F172A"/>
                </a:solidFill>
              </a:rPr>
              <a:t>SQLite adapter</a:t>
            </a:r>
            <a:pPr indent="0" marL="0">
              <a:buNone/>
            </a:pPr>
            <a:endParaRPr lang="en-US" sz="1700" dirty="0"/>
          </a:p>
          <a:p>
            <a:pPr indent="0" marL="0">
              <a:buNone/>
            </a:pPr>
            <a:r>
              <a:rPr lang="en-US" sz="1050" dirty="0">
                <a:solidFill>
                  <a:srgbClr val="334155"/>
                </a:solidFill>
              </a:rPr>
              <a:t>offline assessment · one file · clean run</a:t>
            </a:r>
            <a:endParaRPr lang="en-US" sz="1700" dirty="0"/>
          </a:p>
        </p:txBody>
      </p:sp>
      <p:sp>
        <p:nvSpPr>
          <p:cNvPr id="14" name="Shape 12"/>
          <p:cNvSpPr/>
          <p:nvPr/>
        </p:nvSpPr>
        <p:spPr>
          <a:xfrm>
            <a:off x="7223760" y="4572000"/>
            <a:ext cx="3840480" cy="914400"/>
          </a:xfrm>
          <a:prstGeom prst="roundRect">
            <a:avLst>
              <a:gd name="adj" fmla="val 8000"/>
            </a:avLst>
          </a:prstGeom>
          <a:solidFill>
            <a:srgbClr val="E0F2FE"/>
          </a:solidFill>
          <a:ln w="15240">
            <a:solidFill>
              <a:srgbClr val="1F4E79"/>
            </a:solidFill>
            <a:prstDash val="solid"/>
          </a:ln>
        </p:spPr>
      </p:sp>
      <p:sp>
        <p:nvSpPr>
          <p:cNvPr id="15" name="Text 13"/>
          <p:cNvSpPr/>
          <p:nvPr/>
        </p:nvSpPr>
        <p:spPr>
          <a:xfrm>
            <a:off x="7342632" y="4645152"/>
            <a:ext cx="3602736" cy="804672"/>
          </a:xfrm>
          <a:prstGeom prst="rect">
            <a:avLst/>
          </a:prstGeom>
          <a:noFill/>
          <a:ln/>
        </p:spPr>
        <p:txBody>
          <a:bodyPr wrap="square" lIns="127" tIns="127" rIns="127" bIns="127" rtlCol="0" anchor="ctr">
            <a:normAutofit/>
          </a:bodyPr>
          <a:lstStyle/>
          <a:p>
            <a:pPr indent="0" marL="0">
              <a:buNone/>
            </a:pPr>
            <a:r>
              <a:rPr lang="en-US" sz="1700" b="1" dirty="0">
                <a:solidFill>
                  <a:srgbClr val="0F172A"/>
                </a:solidFill>
              </a:rPr>
              <a:t>PostgreSQL + pgvector adapter</a:t>
            </a:r>
            <a:pPr indent="0" marL="0">
              <a:buNone/>
            </a:pPr>
            <a:endParaRPr lang="en-US" sz="1700" dirty="0"/>
          </a:p>
          <a:p>
            <a:pPr indent="0" marL="0">
              <a:buNone/>
            </a:pPr>
            <a:r>
              <a:rPr lang="en-US" sz="1050" dirty="0">
                <a:solidFill>
                  <a:srgbClr val="334155"/>
                </a:solidFill>
              </a:rPr>
              <a:t>deployment target · vector search + metadata filters</a:t>
            </a:r>
            <a:endParaRPr lang="en-US" sz="1700" dirty="0"/>
          </a:p>
        </p:txBody>
      </p:sp>
      <p:sp>
        <p:nvSpPr>
          <p:cNvPr id="16" name="Text 14"/>
          <p:cNvSpPr/>
          <p:nvPr/>
        </p:nvSpPr>
        <p:spPr>
          <a:xfrm>
            <a:off x="1097280" y="5715000"/>
            <a:ext cx="9966960" cy="310896"/>
          </a:xfrm>
          <a:prstGeom prst="rect">
            <a:avLst/>
          </a:prstGeom>
          <a:noFill/>
          <a:ln/>
        </p:spPr>
        <p:txBody>
          <a:bodyPr wrap="square" lIns="0" tIns="0" rIns="0" bIns="0" rtlCol="0" anchor="ctr"/>
          <a:lstStyle/>
          <a:p>
            <a:pPr algn="ctr" indent="0" marL="0">
              <a:buNone/>
            </a:pPr>
            <a:r>
              <a:rPr lang="en-US" sz="1800" b="1" dirty="0">
                <a:solidFill>
                  <a:srgbClr val="0F172A"/>
                </a:solidFill>
              </a:rPr>
              <a:t>The answer engine does not know which database is underneath. That is the point.</a:t>
            </a:r>
            <a:endParaRPr lang="en-US" sz="180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8686800" cy="438912"/>
          </a:xfrm>
          <a:prstGeom prst="rect">
            <a:avLst/>
          </a:prstGeom>
          <a:noFill/>
          <a:ln/>
        </p:spPr>
        <p:txBody>
          <a:bodyPr wrap="square" lIns="0" tIns="0" rIns="0" bIns="0" rtlCol="0" anchor="ctr"/>
          <a:lstStyle/>
          <a:p>
            <a:pPr indent="0" marL="0">
              <a:buNone/>
            </a:pPr>
            <a:r>
              <a:rPr lang="en-US" sz="2800" b="1" dirty="0">
                <a:solidFill>
                  <a:srgbClr val="0F172A"/>
                </a:solidFill>
                <a:latin typeface="Aptos Display" pitchFamily="34" charset="0"/>
                <a:ea typeface="Aptos Display" pitchFamily="34" charset="-122"/>
                <a:cs typeface="Aptos Display" pitchFamily="34" charset="-120"/>
              </a:rPr>
              <a:t>Answer side: from question to cited reply</a:t>
            </a:r>
            <a:endParaRPr lang="en-US" sz="2800" dirty="0"/>
          </a:p>
        </p:txBody>
      </p:sp>
      <p:sp>
        <p:nvSpPr>
          <p:cNvPr id="3" name="Text 1"/>
          <p:cNvSpPr/>
          <p:nvPr/>
        </p:nvSpPr>
        <p:spPr>
          <a:xfrm>
            <a:off x="530352" y="786384"/>
            <a:ext cx="9875520" cy="274320"/>
          </a:xfrm>
          <a:prstGeom prst="rect">
            <a:avLst/>
          </a:prstGeom>
          <a:noFill/>
          <a:ln/>
        </p:spPr>
        <p:txBody>
          <a:bodyPr wrap="square" lIns="0" tIns="0" rIns="0" bIns="0" rtlCol="0" anchor="ctr"/>
          <a:lstStyle/>
          <a:p>
            <a:pPr indent="0" marL="0">
              <a:buNone/>
            </a:pPr>
            <a:r>
              <a:rPr lang="en-US" sz="1050" dirty="0">
                <a:solidFill>
                  <a:srgbClr val="64748B"/>
                </a:solidFill>
              </a:rPr>
              <a:t>Every user channel calls the same answer engine.</a:t>
            </a:r>
            <a:endParaRPr lang="en-US" sz="1050" dirty="0"/>
          </a:p>
        </p:txBody>
      </p:sp>
      <p:sp>
        <p:nvSpPr>
          <p:cNvPr id="4" name="Shape 2"/>
          <p:cNvSpPr/>
          <p:nvPr/>
        </p:nvSpPr>
        <p:spPr>
          <a:xfrm>
            <a:off x="502920" y="1078992"/>
            <a:ext cx="11155680" cy="0"/>
          </a:xfrm>
          <a:prstGeom prst="line">
            <a:avLst/>
          </a:prstGeom>
          <a:noFill/>
          <a:ln w="9525">
            <a:solidFill>
              <a:srgbClr val="E2E8F0"/>
            </a:solidFill>
            <a:prstDash val="solid"/>
          </a:ln>
        </p:spPr>
      </p:sp>
      <p:sp>
        <p:nvSpPr>
          <p:cNvPr id="5" name="Shape 3"/>
          <p:cNvSpPr/>
          <p:nvPr/>
        </p:nvSpPr>
        <p:spPr>
          <a:xfrm>
            <a:off x="502920" y="1828800"/>
            <a:ext cx="1371600" cy="749808"/>
          </a:xfrm>
          <a:prstGeom prst="roundRect">
            <a:avLst>
              <a:gd name="adj" fmla="val 9756"/>
            </a:avLst>
          </a:prstGeom>
          <a:solidFill>
            <a:srgbClr val="FEF3C7"/>
          </a:solidFill>
          <a:ln w="15240">
            <a:solidFill>
              <a:srgbClr val="F59E0B"/>
            </a:solidFill>
            <a:prstDash val="solid"/>
          </a:ln>
        </p:spPr>
      </p:sp>
      <p:sp>
        <p:nvSpPr>
          <p:cNvPr id="6" name="Text 4"/>
          <p:cNvSpPr/>
          <p:nvPr/>
        </p:nvSpPr>
        <p:spPr>
          <a:xfrm>
            <a:off x="621792" y="1901952"/>
            <a:ext cx="1133856" cy="640080"/>
          </a:xfrm>
          <a:prstGeom prst="rect">
            <a:avLst/>
          </a:prstGeom>
          <a:noFill/>
          <a:ln/>
        </p:spPr>
        <p:txBody>
          <a:bodyPr wrap="square" lIns="127" tIns="127" rIns="127" bIns="127" rtlCol="0" anchor="ctr">
            <a:normAutofit/>
          </a:bodyPr>
          <a:lstStyle/>
          <a:p>
            <a:pPr indent="0" marL="0">
              <a:buNone/>
            </a:pPr>
            <a:r>
              <a:rPr lang="en-US" sz="1400" b="1" dirty="0">
                <a:solidFill>
                  <a:srgbClr val="0F172A"/>
                </a:solidFill>
              </a:rPr>
              <a:t>User</a:t>
            </a:r>
            <a:pPr indent="0" marL="0">
              <a:buNone/>
            </a:pPr>
            <a:endParaRPr lang="en-US" sz="1400" dirty="0"/>
          </a:p>
          <a:p>
            <a:pPr indent="0" marL="0">
              <a:buNone/>
            </a:pPr>
            <a:r>
              <a:rPr lang="en-US" sz="900" dirty="0">
                <a:solidFill>
                  <a:srgbClr val="334155"/>
                </a:solidFill>
              </a:rPr>
              <a:t>question</a:t>
            </a:r>
            <a:endParaRPr lang="en-US" sz="1400" dirty="0"/>
          </a:p>
        </p:txBody>
      </p:sp>
      <p:sp>
        <p:nvSpPr>
          <p:cNvPr id="7" name="Shape 5"/>
          <p:cNvSpPr/>
          <p:nvPr/>
        </p:nvSpPr>
        <p:spPr>
          <a:xfrm>
            <a:off x="1993392" y="2203704"/>
            <a:ext cx="493776" cy="0"/>
          </a:xfrm>
          <a:prstGeom prst="line">
            <a:avLst/>
          </a:prstGeom>
          <a:noFill/>
          <a:ln w="19050">
            <a:solidFill>
              <a:srgbClr val="64748B"/>
            </a:solidFill>
            <a:prstDash val="solid"/>
            <a:headEnd type="none"/>
            <a:tailEnd type="triangle"/>
          </a:ln>
        </p:spPr>
      </p:sp>
      <p:sp>
        <p:nvSpPr>
          <p:cNvPr id="8" name="Shape 6"/>
          <p:cNvSpPr/>
          <p:nvPr/>
        </p:nvSpPr>
        <p:spPr>
          <a:xfrm>
            <a:off x="2606040" y="1828800"/>
            <a:ext cx="1417320" cy="749808"/>
          </a:xfrm>
          <a:prstGeom prst="roundRect">
            <a:avLst>
              <a:gd name="adj" fmla="val 9756"/>
            </a:avLst>
          </a:prstGeom>
          <a:solidFill>
            <a:srgbClr val="E0F2FE"/>
          </a:solidFill>
          <a:ln w="15240">
            <a:solidFill>
              <a:srgbClr val="1F4E79"/>
            </a:solidFill>
            <a:prstDash val="solid"/>
          </a:ln>
        </p:spPr>
      </p:sp>
      <p:sp>
        <p:nvSpPr>
          <p:cNvPr id="9" name="Text 7"/>
          <p:cNvSpPr/>
          <p:nvPr/>
        </p:nvSpPr>
        <p:spPr>
          <a:xfrm>
            <a:off x="2724912" y="1901952"/>
            <a:ext cx="1179576" cy="640080"/>
          </a:xfrm>
          <a:prstGeom prst="rect">
            <a:avLst/>
          </a:prstGeom>
          <a:noFill/>
          <a:ln/>
        </p:spPr>
        <p:txBody>
          <a:bodyPr wrap="square" lIns="127" tIns="127" rIns="127" bIns="127" rtlCol="0" anchor="ctr">
            <a:normAutofit/>
          </a:bodyPr>
          <a:lstStyle/>
          <a:p>
            <a:pPr indent="0" marL="0">
              <a:buNone/>
            </a:pPr>
            <a:r>
              <a:rPr lang="en-US" sz="1400" b="1" dirty="0">
                <a:solidFill>
                  <a:srgbClr val="0F172A"/>
                </a:solidFill>
              </a:rPr>
              <a:t>Channel</a:t>
            </a:r>
            <a:pPr indent="0" marL="0">
              <a:buNone/>
            </a:pPr>
            <a:endParaRPr lang="en-US" sz="1400" dirty="0"/>
          </a:p>
          <a:p>
            <a:pPr indent="0" marL="0">
              <a:buNone/>
            </a:pPr>
            <a:r>
              <a:rPr lang="en-US" sz="900" dirty="0">
                <a:solidFill>
                  <a:srgbClr val="334155"/>
                </a:solidFill>
              </a:rPr>
              <a:t>CLI / UI / web</a:t>
            </a:r>
            <a:endParaRPr lang="en-US" sz="1400" dirty="0"/>
          </a:p>
        </p:txBody>
      </p:sp>
      <p:sp>
        <p:nvSpPr>
          <p:cNvPr id="10" name="Shape 8"/>
          <p:cNvSpPr/>
          <p:nvPr/>
        </p:nvSpPr>
        <p:spPr>
          <a:xfrm>
            <a:off x="4133088" y="2203704"/>
            <a:ext cx="484632" cy="0"/>
          </a:xfrm>
          <a:prstGeom prst="line">
            <a:avLst/>
          </a:prstGeom>
          <a:noFill/>
          <a:ln w="19050">
            <a:solidFill>
              <a:srgbClr val="64748B"/>
            </a:solidFill>
            <a:prstDash val="solid"/>
            <a:headEnd type="none"/>
            <a:tailEnd type="triangle"/>
          </a:ln>
        </p:spPr>
      </p:sp>
      <p:sp>
        <p:nvSpPr>
          <p:cNvPr id="11" name="Shape 9"/>
          <p:cNvSpPr/>
          <p:nvPr/>
        </p:nvSpPr>
        <p:spPr>
          <a:xfrm>
            <a:off x="4736592" y="1828800"/>
            <a:ext cx="1508760" cy="749808"/>
          </a:xfrm>
          <a:prstGeom prst="roundRect">
            <a:avLst>
              <a:gd name="adj" fmla="val 9756"/>
            </a:avLst>
          </a:prstGeom>
          <a:solidFill>
            <a:srgbClr val="CCFBF1"/>
          </a:solidFill>
          <a:ln w="15240">
            <a:solidFill>
              <a:srgbClr val="0E7C7B"/>
            </a:solidFill>
            <a:prstDash val="solid"/>
          </a:ln>
        </p:spPr>
      </p:sp>
      <p:sp>
        <p:nvSpPr>
          <p:cNvPr id="12" name="Text 10"/>
          <p:cNvSpPr/>
          <p:nvPr/>
        </p:nvSpPr>
        <p:spPr>
          <a:xfrm>
            <a:off x="4855464" y="1901952"/>
            <a:ext cx="1271016" cy="640080"/>
          </a:xfrm>
          <a:prstGeom prst="rect">
            <a:avLst/>
          </a:prstGeom>
          <a:noFill/>
          <a:ln/>
        </p:spPr>
        <p:txBody>
          <a:bodyPr wrap="square" lIns="127" tIns="127" rIns="127" bIns="127" rtlCol="0" anchor="ctr">
            <a:normAutofit/>
          </a:bodyPr>
          <a:lstStyle/>
          <a:p>
            <a:pPr indent="0" marL="0">
              <a:buNone/>
            </a:pPr>
            <a:r>
              <a:rPr lang="en-US" sz="1350" b="1" dirty="0">
                <a:solidFill>
                  <a:srgbClr val="0F172A"/>
                </a:solidFill>
              </a:rPr>
              <a:t>Audience</a:t>
            </a:r>
            <a:pPr indent="0" marL="0">
              <a:buNone/>
            </a:pPr>
            <a:endParaRPr lang="en-US" sz="1350" dirty="0"/>
          </a:p>
          <a:p>
            <a:pPr indent="0" marL="0">
              <a:buNone/>
            </a:pPr>
            <a:r>
              <a:rPr lang="en-US" sz="880" dirty="0">
                <a:solidFill>
                  <a:srgbClr val="334155"/>
                </a:solidFill>
              </a:rPr>
              <a:t>public / trade / staff</a:t>
            </a:r>
            <a:endParaRPr lang="en-US" sz="1350" dirty="0"/>
          </a:p>
        </p:txBody>
      </p:sp>
      <p:sp>
        <p:nvSpPr>
          <p:cNvPr id="13" name="Shape 11"/>
          <p:cNvSpPr/>
          <p:nvPr/>
        </p:nvSpPr>
        <p:spPr>
          <a:xfrm>
            <a:off x="6355080" y="2203704"/>
            <a:ext cx="484632" cy="0"/>
          </a:xfrm>
          <a:prstGeom prst="line">
            <a:avLst/>
          </a:prstGeom>
          <a:noFill/>
          <a:ln w="19050">
            <a:solidFill>
              <a:srgbClr val="64748B"/>
            </a:solidFill>
            <a:prstDash val="solid"/>
            <a:headEnd type="none"/>
            <a:tailEnd type="triangle"/>
          </a:ln>
        </p:spPr>
      </p:sp>
      <p:sp>
        <p:nvSpPr>
          <p:cNvPr id="14" name="Shape 12"/>
          <p:cNvSpPr/>
          <p:nvPr/>
        </p:nvSpPr>
        <p:spPr>
          <a:xfrm>
            <a:off x="6967728" y="1828800"/>
            <a:ext cx="1508760" cy="749808"/>
          </a:xfrm>
          <a:prstGeom prst="roundRect">
            <a:avLst>
              <a:gd name="adj" fmla="val 9756"/>
            </a:avLst>
          </a:prstGeom>
          <a:solidFill>
            <a:srgbClr val="DCFCE7"/>
          </a:solidFill>
          <a:ln w="15240">
            <a:solidFill>
              <a:srgbClr val="38761D"/>
            </a:solidFill>
            <a:prstDash val="solid"/>
          </a:ln>
        </p:spPr>
      </p:sp>
      <p:sp>
        <p:nvSpPr>
          <p:cNvPr id="15" name="Text 13"/>
          <p:cNvSpPr/>
          <p:nvPr/>
        </p:nvSpPr>
        <p:spPr>
          <a:xfrm>
            <a:off x="7086600" y="1901952"/>
            <a:ext cx="1271016" cy="640080"/>
          </a:xfrm>
          <a:prstGeom prst="rect">
            <a:avLst/>
          </a:prstGeom>
          <a:noFill/>
          <a:ln/>
        </p:spPr>
        <p:txBody>
          <a:bodyPr wrap="square" lIns="127" tIns="127" rIns="127" bIns="127" rtlCol="0" anchor="ctr">
            <a:normAutofit/>
          </a:bodyPr>
          <a:lstStyle/>
          <a:p>
            <a:pPr indent="0" marL="0">
              <a:buNone/>
            </a:pPr>
            <a:r>
              <a:rPr lang="en-US" sz="1400" b="1" dirty="0">
                <a:solidFill>
                  <a:srgbClr val="0F172A"/>
                </a:solidFill>
              </a:rPr>
              <a:t>Retrieve</a:t>
            </a:r>
            <a:pPr indent="0" marL="0">
              <a:buNone/>
            </a:pPr>
            <a:endParaRPr lang="en-US" sz="1400" dirty="0"/>
          </a:p>
          <a:p>
            <a:pPr indent="0" marL="0">
              <a:buNone/>
            </a:pPr>
            <a:r>
              <a:rPr lang="en-US" sz="880" dirty="0">
                <a:solidFill>
                  <a:srgbClr val="334155"/>
                </a:solidFill>
              </a:rPr>
              <a:t>approved passages</a:t>
            </a:r>
            <a:endParaRPr lang="en-US" sz="1400" dirty="0"/>
          </a:p>
        </p:txBody>
      </p:sp>
      <p:sp>
        <p:nvSpPr>
          <p:cNvPr id="16" name="Shape 14"/>
          <p:cNvSpPr/>
          <p:nvPr/>
        </p:nvSpPr>
        <p:spPr>
          <a:xfrm>
            <a:off x="8577072" y="2203704"/>
            <a:ext cx="493776" cy="0"/>
          </a:xfrm>
          <a:prstGeom prst="line">
            <a:avLst/>
          </a:prstGeom>
          <a:noFill/>
          <a:ln w="19050">
            <a:solidFill>
              <a:srgbClr val="64748B"/>
            </a:solidFill>
            <a:prstDash val="solid"/>
            <a:headEnd type="none"/>
            <a:tailEnd type="triangle"/>
          </a:ln>
        </p:spPr>
      </p:sp>
      <p:sp>
        <p:nvSpPr>
          <p:cNvPr id="17" name="Shape 15"/>
          <p:cNvSpPr/>
          <p:nvPr/>
        </p:nvSpPr>
        <p:spPr>
          <a:xfrm>
            <a:off x="9189720" y="1828800"/>
            <a:ext cx="1508760" cy="749808"/>
          </a:xfrm>
          <a:prstGeom prst="roundRect">
            <a:avLst>
              <a:gd name="adj" fmla="val 9756"/>
            </a:avLst>
          </a:prstGeom>
          <a:solidFill>
            <a:srgbClr val="EDE9FE"/>
          </a:solidFill>
          <a:ln w="15240">
            <a:solidFill>
              <a:srgbClr val="6B4E9E"/>
            </a:solidFill>
            <a:prstDash val="solid"/>
          </a:ln>
        </p:spPr>
      </p:sp>
      <p:sp>
        <p:nvSpPr>
          <p:cNvPr id="18" name="Text 16"/>
          <p:cNvSpPr/>
          <p:nvPr/>
        </p:nvSpPr>
        <p:spPr>
          <a:xfrm>
            <a:off x="9308592" y="1901952"/>
            <a:ext cx="1271016" cy="640080"/>
          </a:xfrm>
          <a:prstGeom prst="rect">
            <a:avLst/>
          </a:prstGeom>
          <a:noFill/>
          <a:ln/>
        </p:spPr>
        <p:txBody>
          <a:bodyPr wrap="square" lIns="127" tIns="127" rIns="127" bIns="127" rtlCol="0" anchor="ctr">
            <a:normAutofit/>
          </a:bodyPr>
          <a:lstStyle/>
          <a:p>
            <a:pPr indent="0" marL="0">
              <a:buNone/>
            </a:pPr>
            <a:r>
              <a:rPr lang="en-US" sz="1400" b="1" dirty="0">
                <a:solidFill>
                  <a:srgbClr val="0F172A"/>
                </a:solidFill>
              </a:rPr>
              <a:t>Router</a:t>
            </a:r>
            <a:pPr indent="0" marL="0">
              <a:buNone/>
            </a:pPr>
            <a:endParaRPr lang="en-US" sz="1400" dirty="0"/>
          </a:p>
          <a:p>
            <a:pPr indent="0" marL="0">
              <a:buNone/>
            </a:pPr>
            <a:r>
              <a:rPr lang="en-US" sz="900" dirty="0">
                <a:solidFill>
                  <a:srgbClr val="334155"/>
                </a:solidFill>
              </a:rPr>
              <a:t>path by code</a:t>
            </a:r>
            <a:endParaRPr lang="en-US" sz="1400" dirty="0"/>
          </a:p>
        </p:txBody>
      </p:sp>
      <p:sp>
        <p:nvSpPr>
          <p:cNvPr id="19" name="Shape 17"/>
          <p:cNvSpPr/>
          <p:nvPr/>
        </p:nvSpPr>
        <p:spPr>
          <a:xfrm>
            <a:off x="10808208" y="2203704"/>
            <a:ext cx="329184" cy="0"/>
          </a:xfrm>
          <a:prstGeom prst="line">
            <a:avLst/>
          </a:prstGeom>
          <a:noFill/>
          <a:ln w="19050">
            <a:solidFill>
              <a:srgbClr val="64748B"/>
            </a:solidFill>
            <a:prstDash val="solid"/>
            <a:headEnd type="none"/>
            <a:tailEnd type="triangle"/>
          </a:ln>
        </p:spPr>
      </p:sp>
      <p:sp>
        <p:nvSpPr>
          <p:cNvPr id="20" name="Shape 18"/>
          <p:cNvSpPr/>
          <p:nvPr/>
        </p:nvSpPr>
        <p:spPr>
          <a:xfrm>
            <a:off x="11201400" y="1828800"/>
            <a:ext cx="731520" cy="749808"/>
          </a:xfrm>
          <a:prstGeom prst="roundRect">
            <a:avLst>
              <a:gd name="adj" fmla="val 10000"/>
            </a:avLst>
          </a:prstGeom>
          <a:solidFill>
            <a:srgbClr val="FFFFFF"/>
          </a:solidFill>
          <a:ln w="15240">
            <a:solidFill>
              <a:srgbClr val="0F172A"/>
            </a:solidFill>
            <a:prstDash val="solid"/>
          </a:ln>
        </p:spPr>
      </p:sp>
      <p:sp>
        <p:nvSpPr>
          <p:cNvPr id="21" name="Text 19"/>
          <p:cNvSpPr/>
          <p:nvPr/>
        </p:nvSpPr>
        <p:spPr>
          <a:xfrm>
            <a:off x="11320272" y="1901952"/>
            <a:ext cx="493776" cy="640080"/>
          </a:xfrm>
          <a:prstGeom prst="rect">
            <a:avLst/>
          </a:prstGeom>
          <a:noFill/>
          <a:ln/>
        </p:spPr>
        <p:txBody>
          <a:bodyPr wrap="square" lIns="127" tIns="127" rIns="127" bIns="127" rtlCol="0" anchor="ctr">
            <a:normAutofit/>
          </a:bodyPr>
          <a:lstStyle/>
          <a:p>
            <a:pPr indent="0" marL="0">
              <a:buNone/>
            </a:pPr>
            <a:r>
              <a:rPr lang="en-US" sz="1200" b="1" dirty="0">
                <a:solidFill>
                  <a:srgbClr val="0F172A"/>
                </a:solidFill>
              </a:rPr>
              <a:t>Reply</a:t>
            </a:r>
            <a:pPr indent="0" marL="0">
              <a:buNone/>
            </a:pPr>
            <a:endParaRPr lang="en-US" sz="1200" dirty="0"/>
          </a:p>
          <a:p>
            <a:pPr indent="0" marL="0">
              <a:buNone/>
            </a:pPr>
            <a:r>
              <a:rPr lang="en-US" sz="800" dirty="0">
                <a:solidFill>
                  <a:srgbClr val="334155"/>
                </a:solidFill>
              </a:rPr>
              <a:t>cited</a:t>
            </a:r>
            <a:endParaRPr lang="en-US" sz="1200" dirty="0"/>
          </a:p>
        </p:txBody>
      </p:sp>
      <p:sp>
        <p:nvSpPr>
          <p:cNvPr id="22" name="Text 20"/>
          <p:cNvSpPr/>
          <p:nvPr/>
        </p:nvSpPr>
        <p:spPr>
          <a:xfrm>
            <a:off x="731520" y="3246120"/>
            <a:ext cx="3840480" cy="274320"/>
          </a:xfrm>
          <a:prstGeom prst="rect">
            <a:avLst/>
          </a:prstGeom>
          <a:noFill/>
          <a:ln/>
        </p:spPr>
        <p:txBody>
          <a:bodyPr wrap="square" lIns="0" tIns="0" rIns="0" bIns="0" rtlCol="0" anchor="ctr"/>
          <a:lstStyle/>
          <a:p>
            <a:pPr indent="0" marL="0">
              <a:buNone/>
            </a:pPr>
            <a:r>
              <a:rPr lang="en-US" sz="1800" b="1" dirty="0">
                <a:solidFill>
                  <a:srgbClr val="0F172A"/>
                </a:solidFill>
              </a:rPr>
              <a:t>The key design choice</a:t>
            </a:r>
            <a:endParaRPr lang="en-US" sz="1800" dirty="0"/>
          </a:p>
        </p:txBody>
      </p:sp>
      <p:sp>
        <p:nvSpPr>
          <p:cNvPr id="23" name="Text 21"/>
          <p:cNvSpPr/>
          <p:nvPr/>
        </p:nvSpPr>
        <p:spPr>
          <a:xfrm>
            <a:off x="749808" y="3611880"/>
            <a:ext cx="5074920" cy="822960"/>
          </a:xfrm>
          <a:prstGeom prst="rect">
            <a:avLst/>
          </a:prstGeom>
          <a:noFill/>
          <a:ln/>
        </p:spPr>
        <p:txBody>
          <a:bodyPr wrap="square" lIns="254" tIns="254" rIns="254" bIns="254" rtlCol="0" anchor="ctr">
            <a:normAutofit/>
          </a:bodyPr>
          <a:lstStyle/>
          <a:p>
            <a:pPr indent="0" marL="0">
              <a:buNone/>
            </a:pPr>
            <a:r>
              <a:rPr lang="en-US" sz="1550" dirty="0">
                <a:solidFill>
                  <a:srgbClr val="334155"/>
                </a:solidFill>
              </a:rPr>
              <a:t>All surfaces use the same engine. The CLI, Streamlit UI, website widget and future CRM/training integrations are wrappers around the same core.</a:t>
            </a:r>
            <a:endParaRPr lang="en-US" sz="1550" dirty="0"/>
          </a:p>
        </p:txBody>
      </p:sp>
      <p:sp>
        <p:nvSpPr>
          <p:cNvPr id="24" name="Text 22"/>
          <p:cNvSpPr/>
          <p:nvPr/>
        </p:nvSpPr>
        <p:spPr>
          <a:xfrm>
            <a:off x="6400800" y="3246120"/>
            <a:ext cx="3840480" cy="274320"/>
          </a:xfrm>
          <a:prstGeom prst="rect">
            <a:avLst/>
          </a:prstGeom>
          <a:noFill/>
          <a:ln/>
        </p:spPr>
        <p:txBody>
          <a:bodyPr wrap="square" lIns="0" tIns="0" rIns="0" bIns="0" rtlCol="0" anchor="ctr"/>
          <a:lstStyle/>
          <a:p>
            <a:pPr indent="0" marL="0">
              <a:buNone/>
            </a:pPr>
            <a:r>
              <a:rPr lang="en-US" sz="1800" b="1" dirty="0">
                <a:solidFill>
                  <a:srgbClr val="0F172A"/>
                </a:solidFill>
              </a:rPr>
              <a:t>What this buys</a:t>
            </a:r>
            <a:endParaRPr lang="en-US" sz="1800" dirty="0"/>
          </a:p>
        </p:txBody>
      </p:sp>
      <p:sp>
        <p:nvSpPr>
          <p:cNvPr id="25" name="Text 23"/>
          <p:cNvSpPr/>
          <p:nvPr/>
        </p:nvSpPr>
        <p:spPr>
          <a:xfrm>
            <a:off x="6419088" y="3611880"/>
            <a:ext cx="4937760" cy="822960"/>
          </a:xfrm>
          <a:prstGeom prst="rect">
            <a:avLst/>
          </a:prstGeom>
          <a:noFill/>
          <a:ln/>
        </p:spPr>
        <p:txBody>
          <a:bodyPr wrap="square" lIns="254" tIns="254" rIns="254" bIns="254" rtlCol="0" anchor="ctr">
            <a:normAutofit/>
          </a:bodyPr>
          <a:lstStyle/>
          <a:p>
            <a:pPr indent="0" marL="0">
              <a:buNone/>
            </a:pPr>
            <a:r>
              <a:rPr lang="en-US" sz="1550" dirty="0">
                <a:solidFill>
                  <a:srgbClr val="334155"/>
                </a:solidFill>
              </a:rPr>
              <a:t>One answer policy, one citation policy, one evaluation harness, one security model — regardless of where the question comes from.</a:t>
            </a:r>
            <a:endParaRPr lang="en-US" sz="1550" dirty="0"/>
          </a:p>
        </p:txBody>
      </p:sp>
      <p:sp>
        <p:nvSpPr>
          <p:cNvPr id="26" name="Shape 24"/>
          <p:cNvSpPr/>
          <p:nvPr/>
        </p:nvSpPr>
        <p:spPr>
          <a:xfrm>
            <a:off x="868680" y="5349240"/>
            <a:ext cx="54864" cy="786384"/>
          </a:xfrm>
          <a:prstGeom prst="rect">
            <a:avLst/>
          </a:prstGeom>
          <a:solidFill>
            <a:srgbClr val="6B4E9E"/>
          </a:solidFill>
          <a:ln w="12700">
            <a:solidFill>
              <a:srgbClr val="6B4E9E"/>
            </a:solidFill>
            <a:prstDash val="solid"/>
          </a:ln>
        </p:spPr>
      </p:sp>
      <p:sp>
        <p:nvSpPr>
          <p:cNvPr id="27" name="Text 25"/>
          <p:cNvSpPr/>
          <p:nvPr/>
        </p:nvSpPr>
        <p:spPr>
          <a:xfrm>
            <a:off x="1033272" y="5349240"/>
            <a:ext cx="9875520" cy="822960"/>
          </a:xfrm>
          <a:prstGeom prst="rect">
            <a:avLst/>
          </a:prstGeom>
          <a:noFill/>
          <a:ln/>
        </p:spPr>
        <p:txBody>
          <a:bodyPr wrap="square" lIns="254" tIns="254" rIns="254" bIns="254" rtlCol="0" anchor="ctr">
            <a:normAutofit/>
          </a:bodyPr>
          <a:lstStyle/>
          <a:p>
            <a:pPr indent="0" marL="0">
              <a:buNone/>
            </a:pPr>
            <a:r>
              <a:rPr lang="en-US" sz="1900" i="1" dirty="0">
                <a:solidFill>
                  <a:srgbClr val="0F172A"/>
                </a:solidFill>
              </a:rPr>
              <a:t>Channels change. The answer engine stays the same.</a:t>
            </a:r>
            <a:endParaRPr lang="en-US" sz="190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8686800" cy="438912"/>
          </a:xfrm>
          <a:prstGeom prst="rect">
            <a:avLst/>
          </a:prstGeom>
          <a:noFill/>
          <a:ln/>
        </p:spPr>
        <p:txBody>
          <a:bodyPr wrap="square" lIns="0" tIns="0" rIns="0" bIns="0" rtlCol="0" anchor="ctr"/>
          <a:lstStyle/>
          <a:p>
            <a:pPr indent="0" marL="0">
              <a:buNone/>
            </a:pPr>
            <a:r>
              <a:rPr lang="en-US" sz="2800" b="1" dirty="0">
                <a:solidFill>
                  <a:srgbClr val="0F172A"/>
                </a:solidFill>
                <a:latin typeface="Aptos Display" pitchFamily="34" charset="0"/>
                <a:ea typeface="Aptos Display" pitchFamily="34" charset="-122"/>
                <a:cs typeface="Aptos Display" pitchFamily="34" charset="-120"/>
              </a:rPr>
              <a:t>Security: audience filtering happens before the model</a:t>
            </a:r>
            <a:endParaRPr lang="en-US" sz="2800" dirty="0"/>
          </a:p>
        </p:txBody>
      </p:sp>
      <p:sp>
        <p:nvSpPr>
          <p:cNvPr id="3" name="Text 1"/>
          <p:cNvSpPr/>
          <p:nvPr/>
        </p:nvSpPr>
        <p:spPr>
          <a:xfrm>
            <a:off x="530352" y="786384"/>
            <a:ext cx="9875520" cy="274320"/>
          </a:xfrm>
          <a:prstGeom prst="rect">
            <a:avLst/>
          </a:prstGeom>
          <a:noFill/>
          <a:ln/>
        </p:spPr>
        <p:txBody>
          <a:bodyPr wrap="square" lIns="0" tIns="0" rIns="0" bIns="0" rtlCol="0" anchor="ctr"/>
          <a:lstStyle/>
          <a:p>
            <a:pPr indent="0" marL="0">
              <a:buNone/>
            </a:pPr>
            <a:r>
              <a:rPr lang="en-US" sz="1050" dirty="0">
                <a:solidFill>
                  <a:srgbClr val="64748B"/>
                </a:solidFill>
              </a:rPr>
              <a:t>The prompt is never treated as a security boundary.</a:t>
            </a:r>
            <a:endParaRPr lang="en-US" sz="1050" dirty="0"/>
          </a:p>
        </p:txBody>
      </p:sp>
      <p:sp>
        <p:nvSpPr>
          <p:cNvPr id="4" name="Shape 2"/>
          <p:cNvSpPr/>
          <p:nvPr/>
        </p:nvSpPr>
        <p:spPr>
          <a:xfrm>
            <a:off x="502920" y="1078992"/>
            <a:ext cx="11155680" cy="0"/>
          </a:xfrm>
          <a:prstGeom prst="line">
            <a:avLst/>
          </a:prstGeom>
          <a:noFill/>
          <a:ln w="9525">
            <a:solidFill>
              <a:srgbClr val="E2E8F0"/>
            </a:solidFill>
            <a:prstDash val="solid"/>
          </a:ln>
        </p:spPr>
      </p:sp>
      <p:sp>
        <p:nvSpPr>
          <p:cNvPr id="5" name="Text 3"/>
          <p:cNvSpPr/>
          <p:nvPr/>
        </p:nvSpPr>
        <p:spPr>
          <a:xfrm>
            <a:off x="731520" y="1417320"/>
            <a:ext cx="2743200" cy="274320"/>
          </a:xfrm>
          <a:prstGeom prst="rect">
            <a:avLst/>
          </a:prstGeom>
          <a:noFill/>
          <a:ln/>
        </p:spPr>
        <p:txBody>
          <a:bodyPr wrap="square" lIns="0" tIns="0" rIns="0" bIns="0" rtlCol="0" anchor="ctr"/>
          <a:lstStyle/>
          <a:p>
            <a:pPr indent="0" marL="0">
              <a:buNone/>
            </a:pPr>
            <a:r>
              <a:rPr lang="en-US" sz="1800" b="1" dirty="0">
                <a:solidFill>
                  <a:srgbClr val="DC2626"/>
                </a:solidFill>
              </a:rPr>
              <a:t>Wrong pattern</a:t>
            </a:r>
            <a:endParaRPr lang="en-US" sz="1800" dirty="0"/>
          </a:p>
        </p:txBody>
      </p:sp>
      <p:sp>
        <p:nvSpPr>
          <p:cNvPr id="6" name="Shape 4"/>
          <p:cNvSpPr/>
          <p:nvPr/>
        </p:nvSpPr>
        <p:spPr>
          <a:xfrm>
            <a:off x="731520" y="1828800"/>
            <a:ext cx="2971800" cy="658368"/>
          </a:xfrm>
          <a:prstGeom prst="roundRect">
            <a:avLst>
              <a:gd name="adj" fmla="val 11111"/>
            </a:avLst>
          </a:prstGeom>
          <a:solidFill>
            <a:srgbClr val="FEE2E2"/>
          </a:solidFill>
          <a:ln w="15240">
            <a:solidFill>
              <a:srgbClr val="DC2626"/>
            </a:solidFill>
            <a:prstDash val="solid"/>
          </a:ln>
        </p:spPr>
      </p:sp>
      <p:sp>
        <p:nvSpPr>
          <p:cNvPr id="7" name="Text 5"/>
          <p:cNvSpPr/>
          <p:nvPr/>
        </p:nvSpPr>
        <p:spPr>
          <a:xfrm>
            <a:off x="850392" y="1901952"/>
            <a:ext cx="2734056" cy="548640"/>
          </a:xfrm>
          <a:prstGeom prst="rect">
            <a:avLst/>
          </a:prstGeom>
          <a:noFill/>
          <a:ln/>
        </p:spPr>
        <p:txBody>
          <a:bodyPr wrap="square" lIns="127" tIns="127" rIns="127" bIns="127" rtlCol="0" anchor="ctr">
            <a:normAutofit/>
          </a:bodyPr>
          <a:lstStyle/>
          <a:p>
            <a:pPr indent="0" marL="0">
              <a:buNone/>
            </a:pPr>
            <a:r>
              <a:rPr lang="en-US" sz="1500" b="1" dirty="0">
                <a:solidFill>
                  <a:srgbClr val="0F172A"/>
                </a:solidFill>
              </a:rPr>
              <a:t>Retrieve everything</a:t>
            </a:r>
            <a:pPr indent="0" marL="0">
              <a:buNone/>
            </a:pPr>
            <a:endParaRPr lang="en-US" sz="1500" dirty="0"/>
          </a:p>
          <a:p>
            <a:pPr indent="0" marL="0">
              <a:buNone/>
            </a:pPr>
            <a:r>
              <a:rPr lang="en-US" sz="900" dirty="0">
                <a:solidFill>
                  <a:srgbClr val="334155"/>
                </a:solidFill>
              </a:rPr>
              <a:t>public + trade + staff</a:t>
            </a:r>
            <a:endParaRPr lang="en-US" sz="1500" dirty="0"/>
          </a:p>
        </p:txBody>
      </p:sp>
      <p:sp>
        <p:nvSpPr>
          <p:cNvPr id="8" name="Shape 6"/>
          <p:cNvSpPr/>
          <p:nvPr/>
        </p:nvSpPr>
        <p:spPr>
          <a:xfrm>
            <a:off x="3840480" y="2157984"/>
            <a:ext cx="731520" cy="0"/>
          </a:xfrm>
          <a:prstGeom prst="line">
            <a:avLst/>
          </a:prstGeom>
          <a:noFill/>
          <a:ln w="22860">
            <a:solidFill>
              <a:srgbClr val="DC2626"/>
            </a:solidFill>
            <a:prstDash val="solid"/>
            <a:headEnd type="none"/>
            <a:tailEnd type="triangle"/>
          </a:ln>
        </p:spPr>
      </p:sp>
      <p:sp>
        <p:nvSpPr>
          <p:cNvPr id="9" name="Shape 7"/>
          <p:cNvSpPr/>
          <p:nvPr/>
        </p:nvSpPr>
        <p:spPr>
          <a:xfrm>
            <a:off x="4709160" y="1828800"/>
            <a:ext cx="2834640" cy="658368"/>
          </a:xfrm>
          <a:prstGeom prst="roundRect">
            <a:avLst>
              <a:gd name="adj" fmla="val 11111"/>
            </a:avLst>
          </a:prstGeom>
          <a:solidFill>
            <a:srgbClr val="FEE2E2"/>
          </a:solidFill>
          <a:ln w="15240">
            <a:solidFill>
              <a:srgbClr val="DC2626"/>
            </a:solidFill>
            <a:prstDash val="solid"/>
          </a:ln>
        </p:spPr>
      </p:sp>
      <p:sp>
        <p:nvSpPr>
          <p:cNvPr id="10" name="Text 8"/>
          <p:cNvSpPr/>
          <p:nvPr/>
        </p:nvSpPr>
        <p:spPr>
          <a:xfrm>
            <a:off x="4828032" y="1901952"/>
            <a:ext cx="2596896" cy="548640"/>
          </a:xfrm>
          <a:prstGeom prst="rect">
            <a:avLst/>
          </a:prstGeom>
          <a:noFill/>
          <a:ln/>
        </p:spPr>
        <p:txBody>
          <a:bodyPr wrap="square" lIns="127" tIns="127" rIns="127" bIns="127" rtlCol="0" anchor="ctr">
            <a:normAutofit/>
          </a:bodyPr>
          <a:lstStyle/>
          <a:p>
            <a:pPr indent="0" marL="0">
              <a:buNone/>
            </a:pPr>
            <a:r>
              <a:rPr lang="en-US" sz="1500" b="1" dirty="0">
                <a:solidFill>
                  <a:srgbClr val="0F172A"/>
                </a:solidFill>
              </a:rPr>
              <a:t>LLM prompt</a:t>
            </a:r>
            <a:pPr indent="0" marL="0">
              <a:buNone/>
            </a:pPr>
            <a:endParaRPr lang="en-US" sz="1500" dirty="0"/>
          </a:p>
          <a:p>
            <a:pPr indent="0" marL="0">
              <a:buNone/>
            </a:pPr>
            <a:r>
              <a:rPr lang="en-US" sz="900" dirty="0">
                <a:solidFill>
                  <a:srgbClr val="334155"/>
                </a:solidFill>
              </a:rPr>
              <a:t>“do not reveal staff info”</a:t>
            </a:r>
            <a:endParaRPr lang="en-US" sz="1500" dirty="0"/>
          </a:p>
        </p:txBody>
      </p:sp>
      <p:sp>
        <p:nvSpPr>
          <p:cNvPr id="11" name="Shape 9"/>
          <p:cNvSpPr/>
          <p:nvPr/>
        </p:nvSpPr>
        <p:spPr>
          <a:xfrm>
            <a:off x="7680960" y="2157984"/>
            <a:ext cx="731520" cy="0"/>
          </a:xfrm>
          <a:prstGeom prst="line">
            <a:avLst/>
          </a:prstGeom>
          <a:noFill/>
          <a:ln w="22860">
            <a:solidFill>
              <a:srgbClr val="DC2626"/>
            </a:solidFill>
            <a:prstDash val="solid"/>
            <a:headEnd type="none"/>
            <a:tailEnd type="triangle"/>
          </a:ln>
        </p:spPr>
      </p:sp>
      <p:sp>
        <p:nvSpPr>
          <p:cNvPr id="12" name="Shape 10"/>
          <p:cNvSpPr/>
          <p:nvPr/>
        </p:nvSpPr>
        <p:spPr>
          <a:xfrm>
            <a:off x="8549640" y="1828800"/>
            <a:ext cx="2697480" cy="658368"/>
          </a:xfrm>
          <a:prstGeom prst="roundRect">
            <a:avLst>
              <a:gd name="adj" fmla="val 11111"/>
            </a:avLst>
          </a:prstGeom>
          <a:solidFill>
            <a:srgbClr val="FEE2E2"/>
          </a:solidFill>
          <a:ln w="15240">
            <a:solidFill>
              <a:srgbClr val="DC2626"/>
            </a:solidFill>
            <a:prstDash val="solid"/>
          </a:ln>
        </p:spPr>
      </p:sp>
      <p:sp>
        <p:nvSpPr>
          <p:cNvPr id="13" name="Text 11"/>
          <p:cNvSpPr/>
          <p:nvPr/>
        </p:nvSpPr>
        <p:spPr>
          <a:xfrm>
            <a:off x="8668512" y="1901952"/>
            <a:ext cx="2459736" cy="548640"/>
          </a:xfrm>
          <a:prstGeom prst="rect">
            <a:avLst/>
          </a:prstGeom>
          <a:noFill/>
          <a:ln/>
        </p:spPr>
        <p:txBody>
          <a:bodyPr wrap="square" lIns="127" tIns="127" rIns="127" bIns="127" rtlCol="0" anchor="ctr">
            <a:normAutofit/>
          </a:bodyPr>
          <a:lstStyle/>
          <a:p>
            <a:pPr indent="0" marL="0">
              <a:buNone/>
            </a:pPr>
            <a:r>
              <a:rPr lang="en-US" sz="1500" b="1" dirty="0">
                <a:solidFill>
                  <a:srgbClr val="0F172A"/>
                </a:solidFill>
              </a:rPr>
              <a:t>Leak risk</a:t>
            </a:r>
            <a:pPr indent="0" marL="0">
              <a:buNone/>
            </a:pPr>
            <a:endParaRPr lang="en-US" sz="1500" dirty="0"/>
          </a:p>
          <a:p>
            <a:pPr indent="0" marL="0">
              <a:buNone/>
            </a:pPr>
            <a:r>
              <a:rPr lang="en-US" sz="900" dirty="0">
                <a:solidFill>
                  <a:srgbClr val="334155"/>
                </a:solidFill>
              </a:rPr>
              <a:t>prompt ≠ access control</a:t>
            </a:r>
            <a:endParaRPr lang="en-US" sz="1500" dirty="0"/>
          </a:p>
        </p:txBody>
      </p:sp>
      <p:sp>
        <p:nvSpPr>
          <p:cNvPr id="14" name="Text 12"/>
          <p:cNvSpPr/>
          <p:nvPr/>
        </p:nvSpPr>
        <p:spPr>
          <a:xfrm>
            <a:off x="731520" y="3273552"/>
            <a:ext cx="2743200" cy="274320"/>
          </a:xfrm>
          <a:prstGeom prst="rect">
            <a:avLst/>
          </a:prstGeom>
          <a:noFill/>
          <a:ln/>
        </p:spPr>
        <p:txBody>
          <a:bodyPr wrap="square" lIns="0" tIns="0" rIns="0" bIns="0" rtlCol="0" anchor="ctr"/>
          <a:lstStyle/>
          <a:p>
            <a:pPr indent="0" marL="0">
              <a:buNone/>
            </a:pPr>
            <a:r>
              <a:rPr lang="en-US" sz="1800" b="1" dirty="0">
                <a:solidFill>
                  <a:srgbClr val="38761D"/>
                </a:solidFill>
              </a:rPr>
              <a:t>Correct pattern</a:t>
            </a:r>
            <a:endParaRPr lang="en-US" sz="1800" dirty="0"/>
          </a:p>
        </p:txBody>
      </p:sp>
      <p:sp>
        <p:nvSpPr>
          <p:cNvPr id="15" name="Shape 13"/>
          <p:cNvSpPr/>
          <p:nvPr/>
        </p:nvSpPr>
        <p:spPr>
          <a:xfrm>
            <a:off x="731520" y="3657600"/>
            <a:ext cx="2971800" cy="658368"/>
          </a:xfrm>
          <a:prstGeom prst="roundRect">
            <a:avLst>
              <a:gd name="adj" fmla="val 11111"/>
            </a:avLst>
          </a:prstGeom>
          <a:solidFill>
            <a:srgbClr val="DCFCE7"/>
          </a:solidFill>
          <a:ln w="15240">
            <a:solidFill>
              <a:srgbClr val="38761D"/>
            </a:solidFill>
            <a:prstDash val="solid"/>
          </a:ln>
        </p:spPr>
      </p:sp>
      <p:sp>
        <p:nvSpPr>
          <p:cNvPr id="16" name="Text 14"/>
          <p:cNvSpPr/>
          <p:nvPr/>
        </p:nvSpPr>
        <p:spPr>
          <a:xfrm>
            <a:off x="850392" y="3730752"/>
            <a:ext cx="2734056" cy="548640"/>
          </a:xfrm>
          <a:prstGeom prst="rect">
            <a:avLst/>
          </a:prstGeom>
          <a:noFill/>
          <a:ln/>
        </p:spPr>
        <p:txBody>
          <a:bodyPr wrap="square" lIns="127" tIns="127" rIns="127" bIns="127" rtlCol="0" anchor="ctr">
            <a:normAutofit/>
          </a:bodyPr>
          <a:lstStyle/>
          <a:p>
            <a:pPr indent="0" marL="0">
              <a:buNone/>
            </a:pPr>
            <a:r>
              <a:rPr lang="en-US" sz="1500" b="1" dirty="0">
                <a:solidFill>
                  <a:srgbClr val="0F172A"/>
                </a:solidFill>
              </a:rPr>
              <a:t>Identity</a:t>
            </a:r>
            <a:pPr indent="0" marL="0">
              <a:buNone/>
            </a:pPr>
            <a:endParaRPr lang="en-US" sz="1500" dirty="0"/>
          </a:p>
          <a:p>
            <a:pPr indent="0" marL="0">
              <a:buNone/>
            </a:pPr>
            <a:r>
              <a:rPr lang="en-US" sz="900" dirty="0">
                <a:solidFill>
                  <a:srgbClr val="334155"/>
                </a:solidFill>
              </a:rPr>
              <a:t>public / trade / staff</a:t>
            </a:r>
            <a:endParaRPr lang="en-US" sz="1500" dirty="0"/>
          </a:p>
        </p:txBody>
      </p:sp>
      <p:sp>
        <p:nvSpPr>
          <p:cNvPr id="17" name="Shape 15"/>
          <p:cNvSpPr/>
          <p:nvPr/>
        </p:nvSpPr>
        <p:spPr>
          <a:xfrm>
            <a:off x="3840480" y="3986784"/>
            <a:ext cx="731520" cy="0"/>
          </a:xfrm>
          <a:prstGeom prst="line">
            <a:avLst/>
          </a:prstGeom>
          <a:noFill/>
          <a:ln w="22860">
            <a:solidFill>
              <a:srgbClr val="38761D"/>
            </a:solidFill>
            <a:prstDash val="solid"/>
            <a:headEnd type="none"/>
            <a:tailEnd type="triangle"/>
          </a:ln>
        </p:spPr>
      </p:sp>
      <p:sp>
        <p:nvSpPr>
          <p:cNvPr id="18" name="Shape 16"/>
          <p:cNvSpPr/>
          <p:nvPr/>
        </p:nvSpPr>
        <p:spPr>
          <a:xfrm>
            <a:off x="4709160" y="3657600"/>
            <a:ext cx="2834640" cy="658368"/>
          </a:xfrm>
          <a:prstGeom prst="roundRect">
            <a:avLst>
              <a:gd name="adj" fmla="val 11111"/>
            </a:avLst>
          </a:prstGeom>
          <a:solidFill>
            <a:srgbClr val="DCFCE7"/>
          </a:solidFill>
          <a:ln w="15240">
            <a:solidFill>
              <a:srgbClr val="38761D"/>
            </a:solidFill>
            <a:prstDash val="solid"/>
          </a:ln>
        </p:spPr>
      </p:sp>
      <p:sp>
        <p:nvSpPr>
          <p:cNvPr id="19" name="Text 17"/>
          <p:cNvSpPr/>
          <p:nvPr/>
        </p:nvSpPr>
        <p:spPr>
          <a:xfrm>
            <a:off x="4828032" y="3730752"/>
            <a:ext cx="2596896" cy="548640"/>
          </a:xfrm>
          <a:prstGeom prst="rect">
            <a:avLst/>
          </a:prstGeom>
          <a:noFill/>
          <a:ln/>
        </p:spPr>
        <p:txBody>
          <a:bodyPr wrap="square" lIns="127" tIns="127" rIns="127" bIns="127" rtlCol="0" anchor="ctr">
            <a:normAutofit/>
          </a:bodyPr>
          <a:lstStyle/>
          <a:p>
            <a:pPr indent="0" marL="0">
              <a:buNone/>
            </a:pPr>
            <a:r>
              <a:rPr lang="en-US" sz="1500" b="1" dirty="0">
                <a:solidFill>
                  <a:srgbClr val="0F172A"/>
                </a:solidFill>
              </a:rPr>
              <a:t>Database query</a:t>
            </a:r>
            <a:pPr indent="0" marL="0">
              <a:buNone/>
            </a:pPr>
            <a:endParaRPr lang="en-US" sz="1500" dirty="0"/>
          </a:p>
          <a:p>
            <a:pPr indent="0" marL="0">
              <a:buNone/>
            </a:pPr>
            <a:r>
              <a:rPr lang="en-US" sz="900" dirty="0">
                <a:solidFill>
                  <a:srgbClr val="334155"/>
                </a:solidFill>
              </a:rPr>
              <a:t>audience filter applied</a:t>
            </a:r>
            <a:endParaRPr lang="en-US" sz="1500" dirty="0"/>
          </a:p>
        </p:txBody>
      </p:sp>
      <p:sp>
        <p:nvSpPr>
          <p:cNvPr id="20" name="Shape 18"/>
          <p:cNvSpPr/>
          <p:nvPr/>
        </p:nvSpPr>
        <p:spPr>
          <a:xfrm>
            <a:off x="7680960" y="3986784"/>
            <a:ext cx="731520" cy="0"/>
          </a:xfrm>
          <a:prstGeom prst="line">
            <a:avLst/>
          </a:prstGeom>
          <a:noFill/>
          <a:ln w="22860">
            <a:solidFill>
              <a:srgbClr val="38761D"/>
            </a:solidFill>
            <a:prstDash val="solid"/>
            <a:headEnd type="none"/>
            <a:tailEnd type="triangle"/>
          </a:ln>
        </p:spPr>
      </p:sp>
      <p:sp>
        <p:nvSpPr>
          <p:cNvPr id="21" name="Shape 19"/>
          <p:cNvSpPr/>
          <p:nvPr/>
        </p:nvSpPr>
        <p:spPr>
          <a:xfrm>
            <a:off x="8549640" y="3657600"/>
            <a:ext cx="2697480" cy="658368"/>
          </a:xfrm>
          <a:prstGeom prst="roundRect">
            <a:avLst>
              <a:gd name="adj" fmla="val 11111"/>
            </a:avLst>
          </a:prstGeom>
          <a:solidFill>
            <a:srgbClr val="DCFCE7"/>
          </a:solidFill>
          <a:ln w="15240">
            <a:solidFill>
              <a:srgbClr val="38761D"/>
            </a:solidFill>
            <a:prstDash val="solid"/>
          </a:ln>
        </p:spPr>
      </p:sp>
      <p:sp>
        <p:nvSpPr>
          <p:cNvPr id="22" name="Text 20"/>
          <p:cNvSpPr/>
          <p:nvPr/>
        </p:nvSpPr>
        <p:spPr>
          <a:xfrm>
            <a:off x="8668512" y="3730752"/>
            <a:ext cx="2459736" cy="548640"/>
          </a:xfrm>
          <a:prstGeom prst="rect">
            <a:avLst/>
          </a:prstGeom>
          <a:noFill/>
          <a:ln/>
        </p:spPr>
        <p:txBody>
          <a:bodyPr wrap="square" lIns="127" tIns="127" rIns="127" bIns="127" rtlCol="0" anchor="ctr">
            <a:normAutofit/>
          </a:bodyPr>
          <a:lstStyle/>
          <a:p>
            <a:pPr indent="0" marL="0">
              <a:buNone/>
            </a:pPr>
            <a:r>
              <a:rPr lang="en-US" sz="1500" b="1" dirty="0">
                <a:solidFill>
                  <a:srgbClr val="0F172A"/>
                </a:solidFill>
              </a:rPr>
              <a:t>Model context</a:t>
            </a:r>
            <a:pPr indent="0" marL="0">
              <a:buNone/>
            </a:pPr>
            <a:endParaRPr lang="en-US" sz="1500" dirty="0"/>
          </a:p>
          <a:p>
            <a:pPr indent="0" marL="0">
              <a:buNone/>
            </a:pPr>
            <a:r>
              <a:rPr lang="en-US" sz="900" dirty="0">
                <a:solidFill>
                  <a:srgbClr val="334155"/>
                </a:solidFill>
              </a:rPr>
              <a:t>allowed evidence only</a:t>
            </a:r>
            <a:endParaRPr lang="en-US" sz="1500" dirty="0"/>
          </a:p>
        </p:txBody>
      </p:sp>
      <p:sp>
        <p:nvSpPr>
          <p:cNvPr id="23" name="Shape 21"/>
          <p:cNvSpPr/>
          <p:nvPr/>
        </p:nvSpPr>
        <p:spPr>
          <a:xfrm>
            <a:off x="1097280" y="5413248"/>
            <a:ext cx="54864" cy="786384"/>
          </a:xfrm>
          <a:prstGeom prst="rect">
            <a:avLst/>
          </a:prstGeom>
          <a:solidFill>
            <a:srgbClr val="38761D"/>
          </a:solidFill>
          <a:ln w="12700">
            <a:solidFill>
              <a:srgbClr val="38761D"/>
            </a:solidFill>
            <a:prstDash val="solid"/>
          </a:ln>
        </p:spPr>
      </p:sp>
      <p:sp>
        <p:nvSpPr>
          <p:cNvPr id="24" name="Text 22"/>
          <p:cNvSpPr/>
          <p:nvPr/>
        </p:nvSpPr>
        <p:spPr>
          <a:xfrm>
            <a:off x="1261872" y="5413248"/>
            <a:ext cx="9326880" cy="822960"/>
          </a:xfrm>
          <a:prstGeom prst="rect">
            <a:avLst/>
          </a:prstGeom>
          <a:noFill/>
          <a:ln/>
        </p:spPr>
        <p:txBody>
          <a:bodyPr wrap="square" lIns="254" tIns="254" rIns="254" bIns="254" rtlCol="0" anchor="ctr">
            <a:normAutofit/>
          </a:bodyPr>
          <a:lstStyle/>
          <a:p>
            <a:pPr indent="0" marL="0">
              <a:buNone/>
            </a:pPr>
            <a:r>
              <a:rPr lang="en-US" sz="1900" i="1" dirty="0">
                <a:solidFill>
                  <a:srgbClr val="0F172A"/>
                </a:solidFill>
              </a:rPr>
              <a:t>Public users never retrieve staff chunks in the first place.</a:t>
            </a:r>
            <a:endParaRPr lang="en-US" sz="190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8686800" cy="438912"/>
          </a:xfrm>
          <a:prstGeom prst="rect">
            <a:avLst/>
          </a:prstGeom>
          <a:noFill/>
          <a:ln/>
        </p:spPr>
        <p:txBody>
          <a:bodyPr wrap="square" lIns="0" tIns="0" rIns="0" bIns="0" rtlCol="0" anchor="ctr"/>
          <a:lstStyle/>
          <a:p>
            <a:pPr indent="0" marL="0">
              <a:buNone/>
            </a:pPr>
            <a:r>
              <a:rPr lang="en-US" sz="2800" b="1" dirty="0">
                <a:solidFill>
                  <a:srgbClr val="0F172A"/>
                </a:solidFill>
                <a:latin typeface="Aptos Display" pitchFamily="34" charset="0"/>
                <a:ea typeface="Aptos Display" pitchFamily="34" charset="-122"/>
                <a:cs typeface="Aptos Display" pitchFamily="34" charset="-120"/>
              </a:rPr>
              <a:t>Retrieval is evidence selection, not answer generation</a:t>
            </a:r>
            <a:endParaRPr lang="en-US" sz="2800" dirty="0"/>
          </a:p>
        </p:txBody>
      </p:sp>
      <p:sp>
        <p:nvSpPr>
          <p:cNvPr id="3" name="Text 1"/>
          <p:cNvSpPr/>
          <p:nvPr/>
        </p:nvSpPr>
        <p:spPr>
          <a:xfrm>
            <a:off x="530352" y="786384"/>
            <a:ext cx="9875520" cy="274320"/>
          </a:xfrm>
          <a:prstGeom prst="rect">
            <a:avLst/>
          </a:prstGeom>
          <a:noFill/>
          <a:ln/>
        </p:spPr>
        <p:txBody>
          <a:bodyPr wrap="square" lIns="0" tIns="0" rIns="0" bIns="0" rtlCol="0" anchor="ctr"/>
          <a:lstStyle/>
          <a:p>
            <a:pPr indent="0" marL="0">
              <a:buNone/>
            </a:pPr>
            <a:r>
              <a:rPr lang="en-US" sz="1050" dirty="0">
                <a:solidFill>
                  <a:srgbClr val="64748B"/>
                </a:solidFill>
              </a:rPr>
              <a:t>Similarity is only one part of the retrieval decision.</a:t>
            </a:r>
            <a:endParaRPr lang="en-US" sz="1050" dirty="0"/>
          </a:p>
        </p:txBody>
      </p:sp>
      <p:sp>
        <p:nvSpPr>
          <p:cNvPr id="4" name="Shape 2"/>
          <p:cNvSpPr/>
          <p:nvPr/>
        </p:nvSpPr>
        <p:spPr>
          <a:xfrm>
            <a:off x="502920" y="1078992"/>
            <a:ext cx="11155680" cy="0"/>
          </a:xfrm>
          <a:prstGeom prst="line">
            <a:avLst/>
          </a:prstGeom>
          <a:noFill/>
          <a:ln w="9525">
            <a:solidFill>
              <a:srgbClr val="E2E8F0"/>
            </a:solidFill>
            <a:prstDash val="solid"/>
          </a:ln>
        </p:spPr>
      </p:sp>
      <p:sp>
        <p:nvSpPr>
          <p:cNvPr id="5" name="Text 3"/>
          <p:cNvSpPr/>
          <p:nvPr/>
        </p:nvSpPr>
        <p:spPr>
          <a:xfrm>
            <a:off x="731520" y="1325880"/>
            <a:ext cx="5029200" cy="274320"/>
          </a:xfrm>
          <a:prstGeom prst="rect">
            <a:avLst/>
          </a:prstGeom>
          <a:noFill/>
          <a:ln/>
        </p:spPr>
        <p:txBody>
          <a:bodyPr wrap="square" lIns="0" tIns="0" rIns="0" bIns="0" rtlCol="0" anchor="ctr"/>
          <a:lstStyle/>
          <a:p>
            <a:pPr indent="0" marL="0">
              <a:buNone/>
            </a:pPr>
            <a:r>
              <a:rPr lang="en-US" sz="1800" b="1" dirty="0">
                <a:solidFill>
                  <a:srgbClr val="0F172A"/>
                </a:solidFill>
              </a:rPr>
              <a:t>Retrieval query must satisfy all gates</a:t>
            </a:r>
            <a:endParaRPr lang="en-US" sz="1800" dirty="0"/>
          </a:p>
        </p:txBody>
      </p:sp>
      <p:sp>
        <p:nvSpPr>
          <p:cNvPr id="6" name="Shape 4"/>
          <p:cNvSpPr/>
          <p:nvPr/>
        </p:nvSpPr>
        <p:spPr>
          <a:xfrm>
            <a:off x="822960" y="1828800"/>
            <a:ext cx="1920240" cy="685800"/>
          </a:xfrm>
          <a:prstGeom prst="roundRect">
            <a:avLst>
              <a:gd name="adj" fmla="val 10667"/>
            </a:avLst>
          </a:prstGeom>
          <a:solidFill>
            <a:srgbClr val="DCFCE7"/>
          </a:solidFill>
          <a:ln w="15240">
            <a:solidFill>
              <a:srgbClr val="38761D"/>
            </a:solidFill>
            <a:prstDash val="solid"/>
          </a:ln>
        </p:spPr>
      </p:sp>
      <p:sp>
        <p:nvSpPr>
          <p:cNvPr id="7" name="Text 5"/>
          <p:cNvSpPr/>
          <p:nvPr/>
        </p:nvSpPr>
        <p:spPr>
          <a:xfrm>
            <a:off x="941832" y="1901952"/>
            <a:ext cx="1682496" cy="576072"/>
          </a:xfrm>
          <a:prstGeom prst="rect">
            <a:avLst/>
          </a:prstGeom>
          <a:noFill/>
          <a:ln/>
        </p:spPr>
        <p:txBody>
          <a:bodyPr wrap="square" lIns="127" tIns="127" rIns="127" bIns="127" rtlCol="0" anchor="ctr">
            <a:normAutofit/>
          </a:bodyPr>
          <a:lstStyle/>
          <a:p>
            <a:pPr indent="0" marL="0">
              <a:buNone/>
            </a:pPr>
            <a:r>
              <a:rPr lang="en-US" sz="1400" b="1" dirty="0">
                <a:solidFill>
                  <a:srgbClr val="0F172A"/>
                </a:solidFill>
              </a:rPr>
              <a:t>Active version</a:t>
            </a:r>
            <a:pPr indent="0" marL="0">
              <a:buNone/>
            </a:pPr>
            <a:endParaRPr lang="en-US" sz="1400" dirty="0"/>
          </a:p>
          <a:p>
            <a:pPr indent="0" marL="0">
              <a:buNone/>
            </a:pPr>
            <a:r>
              <a:rPr lang="en-US" sz="900" dirty="0">
                <a:solidFill>
                  <a:srgbClr val="334155"/>
                </a:solidFill>
              </a:rPr>
              <a:t>no superseded chunks</a:t>
            </a:r>
            <a:endParaRPr lang="en-US" sz="1400" dirty="0"/>
          </a:p>
        </p:txBody>
      </p:sp>
      <p:sp>
        <p:nvSpPr>
          <p:cNvPr id="8" name="Shape 6"/>
          <p:cNvSpPr/>
          <p:nvPr/>
        </p:nvSpPr>
        <p:spPr>
          <a:xfrm>
            <a:off x="2971800" y="1828800"/>
            <a:ext cx="1920240" cy="685800"/>
          </a:xfrm>
          <a:prstGeom prst="roundRect">
            <a:avLst>
              <a:gd name="adj" fmla="val 10667"/>
            </a:avLst>
          </a:prstGeom>
          <a:solidFill>
            <a:srgbClr val="DCFCE7"/>
          </a:solidFill>
          <a:ln w="15240">
            <a:solidFill>
              <a:srgbClr val="38761D"/>
            </a:solidFill>
            <a:prstDash val="solid"/>
          </a:ln>
        </p:spPr>
      </p:sp>
      <p:sp>
        <p:nvSpPr>
          <p:cNvPr id="9" name="Text 7"/>
          <p:cNvSpPr/>
          <p:nvPr/>
        </p:nvSpPr>
        <p:spPr>
          <a:xfrm>
            <a:off x="3090672" y="1901952"/>
            <a:ext cx="1682496" cy="576072"/>
          </a:xfrm>
          <a:prstGeom prst="rect">
            <a:avLst/>
          </a:prstGeom>
          <a:noFill/>
          <a:ln/>
        </p:spPr>
        <p:txBody>
          <a:bodyPr wrap="square" lIns="127" tIns="127" rIns="127" bIns="127" rtlCol="0" anchor="ctr">
            <a:normAutofit/>
          </a:bodyPr>
          <a:lstStyle/>
          <a:p>
            <a:pPr indent="0" marL="0">
              <a:buNone/>
            </a:pPr>
            <a:r>
              <a:rPr lang="en-US" sz="1400" b="1" dirty="0">
                <a:solidFill>
                  <a:srgbClr val="0F172A"/>
                </a:solidFill>
              </a:rPr>
              <a:t>Audience</a:t>
            </a:r>
            <a:pPr indent="0" marL="0">
              <a:buNone/>
            </a:pPr>
            <a:endParaRPr lang="en-US" sz="1400" dirty="0"/>
          </a:p>
          <a:p>
            <a:pPr indent="0" marL="0">
              <a:buNone/>
            </a:pPr>
            <a:r>
              <a:rPr lang="en-US" sz="900" dirty="0">
                <a:solidFill>
                  <a:srgbClr val="334155"/>
                </a:solidFill>
              </a:rPr>
              <a:t>public/trade/staff</a:t>
            </a:r>
            <a:endParaRPr lang="en-US" sz="1400" dirty="0"/>
          </a:p>
        </p:txBody>
      </p:sp>
      <p:sp>
        <p:nvSpPr>
          <p:cNvPr id="10" name="Shape 8"/>
          <p:cNvSpPr/>
          <p:nvPr/>
        </p:nvSpPr>
        <p:spPr>
          <a:xfrm>
            <a:off x="5120640" y="1828800"/>
            <a:ext cx="1920240" cy="685800"/>
          </a:xfrm>
          <a:prstGeom prst="roundRect">
            <a:avLst>
              <a:gd name="adj" fmla="val 10667"/>
            </a:avLst>
          </a:prstGeom>
          <a:solidFill>
            <a:srgbClr val="DCFCE7"/>
          </a:solidFill>
          <a:ln w="15240">
            <a:solidFill>
              <a:srgbClr val="38761D"/>
            </a:solidFill>
            <a:prstDash val="solid"/>
          </a:ln>
        </p:spPr>
      </p:sp>
      <p:sp>
        <p:nvSpPr>
          <p:cNvPr id="11" name="Text 9"/>
          <p:cNvSpPr/>
          <p:nvPr/>
        </p:nvSpPr>
        <p:spPr>
          <a:xfrm>
            <a:off x="5239512" y="1901952"/>
            <a:ext cx="1682496" cy="576072"/>
          </a:xfrm>
          <a:prstGeom prst="rect">
            <a:avLst/>
          </a:prstGeom>
          <a:noFill/>
          <a:ln/>
        </p:spPr>
        <p:txBody>
          <a:bodyPr wrap="square" lIns="127" tIns="127" rIns="127" bIns="127" rtlCol="0" anchor="ctr">
            <a:normAutofit/>
          </a:bodyPr>
          <a:lstStyle/>
          <a:p>
            <a:pPr indent="0" marL="0">
              <a:buNone/>
            </a:pPr>
            <a:r>
              <a:rPr lang="en-US" sz="1400" b="1" dirty="0">
                <a:solidFill>
                  <a:srgbClr val="0F172A"/>
                </a:solidFill>
              </a:rPr>
              <a:t>Authority</a:t>
            </a:r>
            <a:pPr indent="0" marL="0">
              <a:buNone/>
            </a:pPr>
            <a:endParaRPr lang="en-US" sz="1400" dirty="0"/>
          </a:p>
          <a:p>
            <a:pPr indent="0" marL="0">
              <a:buNone/>
            </a:pPr>
            <a:r>
              <a:rPr lang="en-US" sz="900" dirty="0">
                <a:solidFill>
                  <a:srgbClr val="334155"/>
                </a:solidFill>
              </a:rPr>
              <a:t>datasheet &gt; page &gt; FAQ</a:t>
            </a:r>
            <a:endParaRPr lang="en-US" sz="1400" dirty="0"/>
          </a:p>
        </p:txBody>
      </p:sp>
      <p:sp>
        <p:nvSpPr>
          <p:cNvPr id="12" name="Shape 10"/>
          <p:cNvSpPr/>
          <p:nvPr/>
        </p:nvSpPr>
        <p:spPr>
          <a:xfrm>
            <a:off x="7269480" y="1828800"/>
            <a:ext cx="1920240" cy="685800"/>
          </a:xfrm>
          <a:prstGeom prst="roundRect">
            <a:avLst>
              <a:gd name="adj" fmla="val 10667"/>
            </a:avLst>
          </a:prstGeom>
          <a:solidFill>
            <a:srgbClr val="DCFCE7"/>
          </a:solidFill>
          <a:ln w="15240">
            <a:solidFill>
              <a:srgbClr val="38761D"/>
            </a:solidFill>
            <a:prstDash val="solid"/>
          </a:ln>
        </p:spPr>
      </p:sp>
      <p:sp>
        <p:nvSpPr>
          <p:cNvPr id="13" name="Text 11"/>
          <p:cNvSpPr/>
          <p:nvPr/>
        </p:nvSpPr>
        <p:spPr>
          <a:xfrm>
            <a:off x="7388352" y="1901952"/>
            <a:ext cx="1682496" cy="576072"/>
          </a:xfrm>
          <a:prstGeom prst="rect">
            <a:avLst/>
          </a:prstGeom>
          <a:noFill/>
          <a:ln/>
        </p:spPr>
        <p:txBody>
          <a:bodyPr wrap="square" lIns="127" tIns="127" rIns="127" bIns="127" rtlCol="0" anchor="ctr">
            <a:normAutofit/>
          </a:bodyPr>
          <a:lstStyle/>
          <a:p>
            <a:pPr indent="0" marL="0">
              <a:buNone/>
            </a:pPr>
            <a:r>
              <a:rPr lang="en-US" sz="1400" b="1" dirty="0">
                <a:solidFill>
                  <a:srgbClr val="0F172A"/>
                </a:solidFill>
              </a:rPr>
              <a:t>Similarity</a:t>
            </a:r>
            <a:pPr indent="0" marL="0">
              <a:buNone/>
            </a:pPr>
            <a:endParaRPr lang="en-US" sz="1400" dirty="0"/>
          </a:p>
          <a:p>
            <a:pPr indent="0" marL="0">
              <a:buNone/>
            </a:pPr>
            <a:r>
              <a:rPr lang="en-US" sz="900" dirty="0">
                <a:solidFill>
                  <a:srgbClr val="334155"/>
                </a:solidFill>
              </a:rPr>
              <a:t>semantic match</a:t>
            </a:r>
            <a:endParaRPr lang="en-US" sz="1400" dirty="0"/>
          </a:p>
        </p:txBody>
      </p:sp>
      <p:sp>
        <p:nvSpPr>
          <p:cNvPr id="14" name="Shape 12"/>
          <p:cNvSpPr/>
          <p:nvPr/>
        </p:nvSpPr>
        <p:spPr>
          <a:xfrm>
            <a:off x="9418320" y="1828800"/>
            <a:ext cx="1920240" cy="685800"/>
          </a:xfrm>
          <a:prstGeom prst="roundRect">
            <a:avLst>
              <a:gd name="adj" fmla="val 10667"/>
            </a:avLst>
          </a:prstGeom>
          <a:solidFill>
            <a:srgbClr val="DCFCE7"/>
          </a:solidFill>
          <a:ln w="15240">
            <a:solidFill>
              <a:srgbClr val="38761D"/>
            </a:solidFill>
            <a:prstDash val="solid"/>
          </a:ln>
        </p:spPr>
      </p:sp>
      <p:sp>
        <p:nvSpPr>
          <p:cNvPr id="15" name="Text 13"/>
          <p:cNvSpPr/>
          <p:nvPr/>
        </p:nvSpPr>
        <p:spPr>
          <a:xfrm>
            <a:off x="9537192" y="1901952"/>
            <a:ext cx="1682496" cy="576072"/>
          </a:xfrm>
          <a:prstGeom prst="rect">
            <a:avLst/>
          </a:prstGeom>
          <a:noFill/>
          <a:ln/>
        </p:spPr>
        <p:txBody>
          <a:bodyPr wrap="square" lIns="127" tIns="127" rIns="127" bIns="127" rtlCol="0" anchor="ctr">
            <a:normAutofit/>
          </a:bodyPr>
          <a:lstStyle/>
          <a:p>
            <a:pPr indent="0" marL="0">
              <a:buNone/>
            </a:pPr>
            <a:r>
              <a:rPr lang="en-US" sz="1400" b="1" dirty="0">
                <a:solidFill>
                  <a:srgbClr val="0F172A"/>
                </a:solidFill>
              </a:rPr>
              <a:t>Per-doc cap</a:t>
            </a:r>
            <a:pPr indent="0" marL="0">
              <a:buNone/>
            </a:pPr>
            <a:endParaRPr lang="en-US" sz="1400" dirty="0"/>
          </a:p>
          <a:p>
            <a:pPr indent="0" marL="0">
              <a:buNone/>
            </a:pPr>
            <a:r>
              <a:rPr lang="en-US" sz="900" dirty="0">
                <a:solidFill>
                  <a:srgbClr val="334155"/>
                </a:solidFill>
              </a:rPr>
              <a:t>avoid one doc flooding</a:t>
            </a:r>
            <a:endParaRPr lang="en-US" sz="1400" dirty="0"/>
          </a:p>
        </p:txBody>
      </p:sp>
      <p:sp>
        <p:nvSpPr>
          <p:cNvPr id="16" name="Shape 14"/>
          <p:cNvSpPr/>
          <p:nvPr/>
        </p:nvSpPr>
        <p:spPr>
          <a:xfrm>
            <a:off x="1783080" y="2834640"/>
            <a:ext cx="8641080" cy="0"/>
          </a:xfrm>
          <a:prstGeom prst="line">
            <a:avLst/>
          </a:prstGeom>
          <a:noFill/>
          <a:ln w="17780">
            <a:solidFill>
              <a:srgbClr val="38761D"/>
            </a:solidFill>
            <a:prstDash val="solid"/>
            <a:headEnd type="none"/>
            <a:tailEnd type="triangle"/>
          </a:ln>
        </p:spPr>
      </p:sp>
      <p:sp>
        <p:nvSpPr>
          <p:cNvPr id="17" name="Shape 15"/>
          <p:cNvSpPr/>
          <p:nvPr/>
        </p:nvSpPr>
        <p:spPr>
          <a:xfrm>
            <a:off x="3931920" y="3154680"/>
            <a:ext cx="4297680" cy="868680"/>
          </a:xfrm>
          <a:prstGeom prst="roundRect">
            <a:avLst>
              <a:gd name="adj" fmla="val 8421"/>
            </a:avLst>
          </a:prstGeom>
          <a:solidFill>
            <a:srgbClr val="E0F2FE"/>
          </a:solidFill>
          <a:ln w="15240">
            <a:solidFill>
              <a:srgbClr val="1F4E79"/>
            </a:solidFill>
            <a:prstDash val="solid"/>
          </a:ln>
        </p:spPr>
      </p:sp>
      <p:sp>
        <p:nvSpPr>
          <p:cNvPr id="18" name="Text 16"/>
          <p:cNvSpPr/>
          <p:nvPr/>
        </p:nvSpPr>
        <p:spPr>
          <a:xfrm>
            <a:off x="4050792" y="3227832"/>
            <a:ext cx="4059936" cy="758952"/>
          </a:xfrm>
          <a:prstGeom prst="rect">
            <a:avLst/>
          </a:prstGeom>
          <a:noFill/>
          <a:ln/>
        </p:spPr>
        <p:txBody>
          <a:bodyPr wrap="square" lIns="127" tIns="127" rIns="127" bIns="127" rtlCol="0" anchor="ctr">
            <a:normAutofit/>
          </a:bodyPr>
          <a:lstStyle/>
          <a:p>
            <a:pPr indent="0" marL="0">
              <a:buNone/>
            </a:pPr>
            <a:r>
              <a:rPr lang="en-US" sz="1800" b="1" dirty="0">
                <a:solidFill>
                  <a:srgbClr val="0F172A"/>
                </a:solidFill>
              </a:rPr>
              <a:t>Trusted passages</a:t>
            </a:r>
            <a:pPr indent="0" marL="0">
              <a:buNone/>
            </a:pPr>
            <a:endParaRPr lang="en-US" sz="1800" dirty="0"/>
          </a:p>
          <a:p>
            <a:pPr indent="0" marL="0">
              <a:buNone/>
            </a:pPr>
            <a:r>
              <a:rPr lang="en-US" sz="1050" dirty="0">
                <a:solidFill>
                  <a:srgbClr val="334155"/>
                </a:solidFill>
              </a:rPr>
              <a:t>the only evidence the answer engine may use</a:t>
            </a:r>
            <a:endParaRPr lang="en-US" sz="1800" dirty="0"/>
          </a:p>
        </p:txBody>
      </p:sp>
      <p:sp>
        <p:nvSpPr>
          <p:cNvPr id="19" name="Text 17"/>
          <p:cNvSpPr/>
          <p:nvPr/>
        </p:nvSpPr>
        <p:spPr>
          <a:xfrm>
            <a:off x="822960" y="4617720"/>
            <a:ext cx="4389120" cy="274320"/>
          </a:xfrm>
          <a:prstGeom prst="rect">
            <a:avLst/>
          </a:prstGeom>
          <a:noFill/>
          <a:ln/>
        </p:spPr>
        <p:txBody>
          <a:bodyPr wrap="square" lIns="0" tIns="0" rIns="0" bIns="0" rtlCol="0" anchor="ctr"/>
          <a:lstStyle/>
          <a:p>
            <a:pPr indent="0" marL="0">
              <a:buNone/>
            </a:pPr>
            <a:r>
              <a:rPr lang="en-US" sz="1800" b="1" dirty="0">
                <a:solidFill>
                  <a:srgbClr val="0F172A"/>
                </a:solidFill>
              </a:rPr>
              <a:t>PostgreSQL + pgvector advantage</a:t>
            </a:r>
            <a:endParaRPr lang="en-US" sz="1800" dirty="0"/>
          </a:p>
        </p:txBody>
      </p:sp>
      <p:sp>
        <p:nvSpPr>
          <p:cNvPr id="20" name="Text 18"/>
          <p:cNvSpPr/>
          <p:nvPr/>
        </p:nvSpPr>
        <p:spPr>
          <a:xfrm>
            <a:off x="841248" y="4974336"/>
            <a:ext cx="10469880" cy="502920"/>
          </a:xfrm>
          <a:prstGeom prst="rect">
            <a:avLst/>
          </a:prstGeom>
          <a:noFill/>
          <a:ln/>
        </p:spPr>
        <p:txBody>
          <a:bodyPr wrap="square" lIns="254" tIns="254" rIns="254" bIns="254" rtlCol="0" anchor="ctr">
            <a:normAutofit/>
          </a:bodyPr>
          <a:lstStyle/>
          <a:p>
            <a:pPr indent="0" marL="0">
              <a:buNone/>
            </a:pPr>
            <a:r>
              <a:rPr lang="en-US" sz="1500" dirty="0">
                <a:solidFill>
                  <a:srgbClr val="334155"/>
                </a:solidFill>
              </a:rPr>
              <a:t>In production, the same database query can combine vector similarity with active-version, audience and metadata filters. That reduces leakage and version-mixing risk.</a:t>
            </a:r>
            <a:endParaRPr lang="en-US" sz="150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8686800" cy="438912"/>
          </a:xfrm>
          <a:prstGeom prst="rect">
            <a:avLst/>
          </a:prstGeom>
          <a:noFill/>
          <a:ln/>
        </p:spPr>
        <p:txBody>
          <a:bodyPr wrap="square" lIns="0" tIns="0" rIns="0" bIns="0" rtlCol="0" anchor="ctr"/>
          <a:lstStyle/>
          <a:p>
            <a:pPr indent="0" marL="0">
              <a:buNone/>
            </a:pPr>
            <a:r>
              <a:rPr lang="en-US" sz="2800" b="1" dirty="0">
                <a:solidFill>
                  <a:srgbClr val="0F172A"/>
                </a:solidFill>
                <a:latin typeface="Aptos Display" pitchFamily="34" charset="0"/>
                <a:ea typeface="Aptos Display" pitchFamily="34" charset="-122"/>
                <a:cs typeface="Aptos Display" pitchFamily="34" charset="-120"/>
              </a:rPr>
              <a:t>The deterministic router decides how to answer</a:t>
            </a:r>
            <a:endParaRPr lang="en-US" sz="2800" dirty="0"/>
          </a:p>
        </p:txBody>
      </p:sp>
      <p:sp>
        <p:nvSpPr>
          <p:cNvPr id="3" name="Text 1"/>
          <p:cNvSpPr/>
          <p:nvPr/>
        </p:nvSpPr>
        <p:spPr>
          <a:xfrm>
            <a:off x="530352" y="786384"/>
            <a:ext cx="9875520" cy="274320"/>
          </a:xfrm>
          <a:prstGeom prst="rect">
            <a:avLst/>
          </a:prstGeom>
          <a:noFill/>
          <a:ln/>
        </p:spPr>
        <p:txBody>
          <a:bodyPr wrap="square" lIns="0" tIns="0" rIns="0" bIns="0" rtlCol="0" anchor="ctr"/>
          <a:lstStyle/>
          <a:p>
            <a:pPr indent="0" marL="0">
              <a:buNone/>
            </a:pPr>
            <a:r>
              <a:rPr lang="en-US" sz="1050" dirty="0">
                <a:solidFill>
                  <a:srgbClr val="64748B"/>
                </a:solidFill>
              </a:rPr>
              <a:t>This is the major difference from simple question → RAG → LLM systems.</a:t>
            </a:r>
            <a:endParaRPr lang="en-US" sz="1050" dirty="0"/>
          </a:p>
        </p:txBody>
      </p:sp>
      <p:sp>
        <p:nvSpPr>
          <p:cNvPr id="4" name="Shape 2"/>
          <p:cNvSpPr/>
          <p:nvPr/>
        </p:nvSpPr>
        <p:spPr>
          <a:xfrm>
            <a:off x="502920" y="1078992"/>
            <a:ext cx="11155680" cy="0"/>
          </a:xfrm>
          <a:prstGeom prst="line">
            <a:avLst/>
          </a:prstGeom>
          <a:noFill/>
          <a:ln w="9525">
            <a:solidFill>
              <a:srgbClr val="E2E8F0"/>
            </a:solidFill>
            <a:prstDash val="solid"/>
          </a:ln>
        </p:spPr>
      </p:sp>
      <p:sp>
        <p:nvSpPr>
          <p:cNvPr id="5" name="Shape 3"/>
          <p:cNvSpPr/>
          <p:nvPr/>
        </p:nvSpPr>
        <p:spPr>
          <a:xfrm>
            <a:off x="640080" y="1417320"/>
            <a:ext cx="2103120" cy="685800"/>
          </a:xfrm>
          <a:prstGeom prst="roundRect">
            <a:avLst>
              <a:gd name="adj" fmla="val 10667"/>
            </a:avLst>
          </a:prstGeom>
          <a:solidFill>
            <a:srgbClr val="E0F2FE"/>
          </a:solidFill>
          <a:ln w="15240">
            <a:solidFill>
              <a:srgbClr val="1F4E79"/>
            </a:solidFill>
            <a:prstDash val="solid"/>
          </a:ln>
        </p:spPr>
      </p:sp>
      <p:sp>
        <p:nvSpPr>
          <p:cNvPr id="6" name="Text 4"/>
          <p:cNvSpPr/>
          <p:nvPr/>
        </p:nvSpPr>
        <p:spPr>
          <a:xfrm>
            <a:off x="758952" y="1490472"/>
            <a:ext cx="1865376" cy="576072"/>
          </a:xfrm>
          <a:prstGeom prst="rect">
            <a:avLst/>
          </a:prstGeom>
          <a:noFill/>
          <a:ln/>
        </p:spPr>
        <p:txBody>
          <a:bodyPr wrap="square" lIns="127" tIns="127" rIns="127" bIns="127" rtlCol="0" anchor="ctr">
            <a:normAutofit/>
          </a:bodyPr>
          <a:lstStyle/>
          <a:p>
            <a:pPr indent="0" marL="0">
              <a:buNone/>
            </a:pPr>
            <a:r>
              <a:rPr lang="en-US" sz="1500" b="1" dirty="0">
                <a:solidFill>
                  <a:srgbClr val="0F172A"/>
                </a:solidFill>
              </a:rPr>
              <a:t>Retrieved evidence</a:t>
            </a:r>
            <a:pPr indent="0" marL="0">
              <a:buNone/>
            </a:pPr>
            <a:endParaRPr lang="en-US" sz="1500" dirty="0"/>
          </a:p>
          <a:p>
            <a:pPr indent="0" marL="0">
              <a:buNone/>
            </a:pPr>
            <a:r>
              <a:rPr lang="en-US" sz="900" dirty="0">
                <a:solidFill>
                  <a:srgbClr val="334155"/>
                </a:solidFill>
              </a:rPr>
              <a:t>current + allowed</a:t>
            </a:r>
            <a:endParaRPr lang="en-US" sz="1500" dirty="0"/>
          </a:p>
        </p:txBody>
      </p:sp>
      <p:sp>
        <p:nvSpPr>
          <p:cNvPr id="7" name="Shape 5"/>
          <p:cNvSpPr/>
          <p:nvPr/>
        </p:nvSpPr>
        <p:spPr>
          <a:xfrm>
            <a:off x="2852928" y="1764792"/>
            <a:ext cx="804672" cy="0"/>
          </a:xfrm>
          <a:prstGeom prst="line">
            <a:avLst/>
          </a:prstGeom>
          <a:noFill/>
          <a:ln w="19050">
            <a:solidFill>
              <a:srgbClr val="64748B"/>
            </a:solidFill>
            <a:prstDash val="solid"/>
            <a:headEnd type="none"/>
            <a:tailEnd type="triangle"/>
          </a:ln>
        </p:spPr>
      </p:sp>
      <p:sp>
        <p:nvSpPr>
          <p:cNvPr id="8" name="Shape 6"/>
          <p:cNvSpPr/>
          <p:nvPr/>
        </p:nvSpPr>
        <p:spPr>
          <a:xfrm>
            <a:off x="3794760" y="1325880"/>
            <a:ext cx="2468880" cy="868680"/>
          </a:xfrm>
          <a:prstGeom prst="roundRect">
            <a:avLst>
              <a:gd name="adj" fmla="val 8421"/>
            </a:avLst>
          </a:prstGeom>
          <a:solidFill>
            <a:srgbClr val="EDE9FE"/>
          </a:solidFill>
          <a:ln w="15240">
            <a:solidFill>
              <a:srgbClr val="6B4E9E"/>
            </a:solidFill>
            <a:prstDash val="solid"/>
          </a:ln>
        </p:spPr>
      </p:sp>
      <p:sp>
        <p:nvSpPr>
          <p:cNvPr id="9" name="Text 7"/>
          <p:cNvSpPr/>
          <p:nvPr/>
        </p:nvSpPr>
        <p:spPr>
          <a:xfrm>
            <a:off x="3913632" y="1399032"/>
            <a:ext cx="2231136" cy="758952"/>
          </a:xfrm>
          <a:prstGeom prst="rect">
            <a:avLst/>
          </a:prstGeom>
          <a:noFill/>
          <a:ln/>
        </p:spPr>
        <p:txBody>
          <a:bodyPr wrap="square" lIns="127" tIns="127" rIns="127" bIns="127" rtlCol="0" anchor="ctr">
            <a:normAutofit/>
          </a:bodyPr>
          <a:lstStyle/>
          <a:p>
            <a:pPr indent="0" marL="0">
              <a:buNone/>
            </a:pPr>
            <a:r>
              <a:rPr lang="en-US" sz="1700" b="1" dirty="0">
                <a:solidFill>
                  <a:srgbClr val="0F172A"/>
                </a:solidFill>
              </a:rPr>
              <a:t>Deterministic router</a:t>
            </a:r>
            <a:pPr indent="0" marL="0">
              <a:buNone/>
            </a:pPr>
            <a:endParaRPr lang="en-US" sz="1700" dirty="0"/>
          </a:p>
          <a:p>
            <a:pPr indent="0" marL="0">
              <a:buNone/>
            </a:pPr>
            <a:r>
              <a:rPr lang="en-US" sz="1000" dirty="0">
                <a:solidFill>
                  <a:srgbClr val="334155"/>
                </a:solidFill>
              </a:rPr>
              <a:t>ordered safety branches</a:t>
            </a:r>
            <a:endParaRPr lang="en-US" sz="1700" dirty="0"/>
          </a:p>
        </p:txBody>
      </p:sp>
      <p:sp>
        <p:nvSpPr>
          <p:cNvPr id="10" name="Shape 8"/>
          <p:cNvSpPr/>
          <p:nvPr/>
        </p:nvSpPr>
        <p:spPr>
          <a:xfrm>
            <a:off x="6382512" y="1764792"/>
            <a:ext cx="612648" cy="0"/>
          </a:xfrm>
          <a:prstGeom prst="line">
            <a:avLst/>
          </a:prstGeom>
          <a:noFill/>
          <a:ln w="19050">
            <a:solidFill>
              <a:srgbClr val="64748B"/>
            </a:solidFill>
            <a:prstDash val="solid"/>
            <a:headEnd type="none"/>
            <a:tailEnd type="triangle"/>
          </a:ln>
        </p:spPr>
      </p:sp>
      <p:sp>
        <p:nvSpPr>
          <p:cNvPr id="11" name="Shape 9"/>
          <p:cNvSpPr/>
          <p:nvPr/>
        </p:nvSpPr>
        <p:spPr>
          <a:xfrm>
            <a:off x="7132320" y="1417320"/>
            <a:ext cx="1874520" cy="685800"/>
          </a:xfrm>
          <a:prstGeom prst="roundRect">
            <a:avLst>
              <a:gd name="adj" fmla="val 10667"/>
            </a:avLst>
          </a:prstGeom>
          <a:solidFill>
            <a:srgbClr val="FEF3C7"/>
          </a:solidFill>
          <a:ln w="15240">
            <a:solidFill>
              <a:srgbClr val="F59E0B"/>
            </a:solidFill>
            <a:prstDash val="solid"/>
          </a:ln>
        </p:spPr>
      </p:sp>
      <p:sp>
        <p:nvSpPr>
          <p:cNvPr id="12" name="Text 10"/>
          <p:cNvSpPr/>
          <p:nvPr/>
        </p:nvSpPr>
        <p:spPr>
          <a:xfrm>
            <a:off x="7251192" y="1490472"/>
            <a:ext cx="1636776" cy="576072"/>
          </a:xfrm>
          <a:prstGeom prst="rect">
            <a:avLst/>
          </a:prstGeom>
          <a:noFill/>
          <a:ln/>
        </p:spPr>
        <p:txBody>
          <a:bodyPr wrap="square" lIns="127" tIns="127" rIns="127" bIns="127" rtlCol="0" anchor="ctr">
            <a:normAutofit/>
          </a:bodyPr>
          <a:lstStyle/>
          <a:p>
            <a:pPr indent="0" marL="0">
              <a:buNone/>
            </a:pPr>
            <a:r>
              <a:rPr lang="en-US" sz="1500" b="1" dirty="0">
                <a:solidFill>
                  <a:srgbClr val="0F172A"/>
                </a:solidFill>
              </a:rPr>
              <a:t>Path selected</a:t>
            </a:r>
            <a:pPr indent="0" marL="0">
              <a:buNone/>
            </a:pPr>
            <a:endParaRPr lang="en-US" sz="1500" dirty="0"/>
          </a:p>
          <a:p>
            <a:pPr indent="0" marL="0">
              <a:buNone/>
            </a:pPr>
            <a:r>
              <a:rPr lang="en-US" sz="900" dirty="0">
                <a:solidFill>
                  <a:srgbClr val="334155"/>
                </a:solidFill>
              </a:rPr>
              <a:t>not by LLM</a:t>
            </a:r>
            <a:endParaRPr lang="en-US" sz="1500" dirty="0"/>
          </a:p>
        </p:txBody>
      </p:sp>
      <p:sp>
        <p:nvSpPr>
          <p:cNvPr id="13" name="Shape 11"/>
          <p:cNvSpPr/>
          <p:nvPr/>
        </p:nvSpPr>
        <p:spPr>
          <a:xfrm>
            <a:off x="777240" y="2834640"/>
            <a:ext cx="2103120" cy="822960"/>
          </a:xfrm>
          <a:prstGeom prst="roundRect">
            <a:avLst>
              <a:gd name="adj" fmla="val 8889"/>
            </a:avLst>
          </a:prstGeom>
          <a:solidFill>
            <a:srgbClr val="DCFCE7"/>
          </a:solidFill>
          <a:ln w="15240">
            <a:solidFill>
              <a:srgbClr val="38761D"/>
            </a:solidFill>
            <a:prstDash val="solid"/>
          </a:ln>
        </p:spPr>
      </p:sp>
      <p:sp>
        <p:nvSpPr>
          <p:cNvPr id="14" name="Text 12"/>
          <p:cNvSpPr/>
          <p:nvPr/>
        </p:nvSpPr>
        <p:spPr>
          <a:xfrm>
            <a:off x="896112" y="2907792"/>
            <a:ext cx="1865376" cy="713232"/>
          </a:xfrm>
          <a:prstGeom prst="rect">
            <a:avLst/>
          </a:prstGeom>
          <a:noFill/>
          <a:ln/>
        </p:spPr>
        <p:txBody>
          <a:bodyPr wrap="square" lIns="127" tIns="127" rIns="127" bIns="127" rtlCol="0" anchor="ctr">
            <a:normAutofit/>
          </a:bodyPr>
          <a:lstStyle/>
          <a:p>
            <a:pPr indent="0" marL="0">
              <a:buNone/>
            </a:pPr>
            <a:r>
              <a:rPr lang="en-US" sz="1500" b="1" dirty="0">
                <a:solidFill>
                  <a:srgbClr val="0F172A"/>
                </a:solidFill>
              </a:rPr>
              <a:t>Extract</a:t>
            </a:r>
            <a:pPr indent="0" marL="0">
              <a:buNone/>
            </a:pPr>
            <a:endParaRPr lang="en-US" sz="1500" dirty="0"/>
          </a:p>
          <a:p>
            <a:pPr indent="0" marL="0">
              <a:buNone/>
            </a:pPr>
            <a:r>
              <a:rPr lang="en-US" sz="950" dirty="0">
                <a:solidFill>
                  <a:srgbClr val="334155"/>
                </a:solidFill>
              </a:rPr>
              <a:t>copy factual passage by code</a:t>
            </a:r>
            <a:endParaRPr lang="en-US" sz="1500" dirty="0"/>
          </a:p>
        </p:txBody>
      </p:sp>
      <p:sp>
        <p:nvSpPr>
          <p:cNvPr id="15" name="Shape 13"/>
          <p:cNvSpPr/>
          <p:nvPr/>
        </p:nvSpPr>
        <p:spPr>
          <a:xfrm>
            <a:off x="3154680" y="2834640"/>
            <a:ext cx="2103120" cy="822960"/>
          </a:xfrm>
          <a:prstGeom prst="roundRect">
            <a:avLst>
              <a:gd name="adj" fmla="val 8889"/>
            </a:avLst>
          </a:prstGeom>
          <a:solidFill>
            <a:srgbClr val="EDE9FE"/>
          </a:solidFill>
          <a:ln w="15240">
            <a:solidFill>
              <a:srgbClr val="6B4E9E"/>
            </a:solidFill>
            <a:prstDash val="solid"/>
          </a:ln>
        </p:spPr>
      </p:sp>
      <p:sp>
        <p:nvSpPr>
          <p:cNvPr id="16" name="Text 14"/>
          <p:cNvSpPr/>
          <p:nvPr/>
        </p:nvSpPr>
        <p:spPr>
          <a:xfrm>
            <a:off x="3273552" y="2907792"/>
            <a:ext cx="1865376" cy="713232"/>
          </a:xfrm>
          <a:prstGeom prst="rect">
            <a:avLst/>
          </a:prstGeom>
          <a:noFill/>
          <a:ln/>
        </p:spPr>
        <p:txBody>
          <a:bodyPr wrap="square" lIns="127" tIns="127" rIns="127" bIns="127" rtlCol="0" anchor="ctr">
            <a:normAutofit/>
          </a:bodyPr>
          <a:lstStyle/>
          <a:p>
            <a:pPr indent="0" marL="0">
              <a:buNone/>
            </a:pPr>
            <a:r>
              <a:rPr lang="en-US" sz="1500" b="1" dirty="0">
                <a:solidFill>
                  <a:srgbClr val="0F172A"/>
                </a:solidFill>
              </a:rPr>
              <a:t>Compose</a:t>
            </a:r>
            <a:pPr indent="0" marL="0">
              <a:buNone/>
            </a:pPr>
            <a:endParaRPr lang="en-US" sz="1500" dirty="0"/>
          </a:p>
          <a:p>
            <a:pPr indent="0" marL="0">
              <a:buNone/>
            </a:pPr>
            <a:r>
              <a:rPr lang="en-US" sz="950" dirty="0">
                <a:solidFill>
                  <a:srgbClr val="334155"/>
                </a:solidFill>
              </a:rPr>
              <a:t>LLM combines retrieved evidence</a:t>
            </a:r>
            <a:endParaRPr lang="en-US" sz="1500" dirty="0"/>
          </a:p>
        </p:txBody>
      </p:sp>
      <p:sp>
        <p:nvSpPr>
          <p:cNvPr id="17" name="Shape 15"/>
          <p:cNvSpPr/>
          <p:nvPr/>
        </p:nvSpPr>
        <p:spPr>
          <a:xfrm>
            <a:off x="5532120" y="2834640"/>
            <a:ext cx="2103120" cy="822960"/>
          </a:xfrm>
          <a:prstGeom prst="roundRect">
            <a:avLst>
              <a:gd name="adj" fmla="val 8889"/>
            </a:avLst>
          </a:prstGeom>
          <a:solidFill>
            <a:srgbClr val="FEF3C7"/>
          </a:solidFill>
          <a:ln w="15240">
            <a:solidFill>
              <a:srgbClr val="F59E0B"/>
            </a:solidFill>
            <a:prstDash val="solid"/>
          </a:ln>
        </p:spPr>
      </p:sp>
      <p:sp>
        <p:nvSpPr>
          <p:cNvPr id="18" name="Text 16"/>
          <p:cNvSpPr/>
          <p:nvPr/>
        </p:nvSpPr>
        <p:spPr>
          <a:xfrm>
            <a:off x="5650992" y="2907792"/>
            <a:ext cx="1865376" cy="713232"/>
          </a:xfrm>
          <a:prstGeom prst="rect">
            <a:avLst/>
          </a:prstGeom>
          <a:noFill/>
          <a:ln/>
        </p:spPr>
        <p:txBody>
          <a:bodyPr wrap="square" lIns="127" tIns="127" rIns="127" bIns="127" rtlCol="0" anchor="ctr">
            <a:normAutofit/>
          </a:bodyPr>
          <a:lstStyle/>
          <a:p>
            <a:pPr indent="0" marL="0">
              <a:buNone/>
            </a:pPr>
            <a:r>
              <a:rPr lang="en-US" sz="1500" b="1" dirty="0">
                <a:solidFill>
                  <a:srgbClr val="0F172A"/>
                </a:solidFill>
              </a:rPr>
              <a:t>Cited hand-off</a:t>
            </a:r>
            <a:pPr indent="0" marL="0">
              <a:buNone/>
            </a:pPr>
            <a:endParaRPr lang="en-US" sz="1500" dirty="0"/>
          </a:p>
          <a:p>
            <a:pPr indent="0" marL="0">
              <a:buNone/>
            </a:pPr>
            <a:r>
              <a:rPr lang="en-US" sz="950" dirty="0">
                <a:solidFill>
                  <a:srgbClr val="334155"/>
                </a:solidFill>
              </a:rPr>
              <a:t>published deferral beats guessing</a:t>
            </a:r>
            <a:endParaRPr lang="en-US" sz="1500" dirty="0"/>
          </a:p>
        </p:txBody>
      </p:sp>
      <p:sp>
        <p:nvSpPr>
          <p:cNvPr id="19" name="Shape 17"/>
          <p:cNvSpPr/>
          <p:nvPr/>
        </p:nvSpPr>
        <p:spPr>
          <a:xfrm>
            <a:off x="7909560" y="2834640"/>
            <a:ext cx="2103120" cy="822960"/>
          </a:xfrm>
          <a:prstGeom prst="roundRect">
            <a:avLst>
              <a:gd name="adj" fmla="val 8889"/>
            </a:avLst>
          </a:prstGeom>
          <a:solidFill>
            <a:srgbClr val="FEE2E2"/>
          </a:solidFill>
          <a:ln w="15240">
            <a:solidFill>
              <a:srgbClr val="DC2626"/>
            </a:solidFill>
            <a:prstDash val="solid"/>
          </a:ln>
        </p:spPr>
      </p:sp>
      <p:sp>
        <p:nvSpPr>
          <p:cNvPr id="20" name="Text 18"/>
          <p:cNvSpPr/>
          <p:nvPr/>
        </p:nvSpPr>
        <p:spPr>
          <a:xfrm>
            <a:off x="8028432" y="2907792"/>
            <a:ext cx="1865376" cy="713232"/>
          </a:xfrm>
          <a:prstGeom prst="rect">
            <a:avLst/>
          </a:prstGeom>
          <a:noFill/>
          <a:ln/>
        </p:spPr>
        <p:txBody>
          <a:bodyPr wrap="square" lIns="127" tIns="127" rIns="127" bIns="127" rtlCol="0" anchor="ctr">
            <a:normAutofit/>
          </a:bodyPr>
          <a:lstStyle/>
          <a:p>
            <a:pPr indent="0" marL="0">
              <a:buNone/>
            </a:pPr>
            <a:r>
              <a:rPr lang="en-US" sz="1500" b="1" dirty="0">
                <a:solidFill>
                  <a:srgbClr val="0F172A"/>
                </a:solidFill>
              </a:rPr>
              <a:t>Refuse</a:t>
            </a:r>
            <a:pPr indent="0" marL="0">
              <a:buNone/>
            </a:pPr>
            <a:endParaRPr lang="en-US" sz="1500" dirty="0"/>
          </a:p>
          <a:p>
            <a:pPr indent="0" marL="0">
              <a:buNone/>
            </a:pPr>
            <a:r>
              <a:rPr lang="en-US" sz="950" dirty="0">
                <a:solidFill>
                  <a:srgbClr val="334155"/>
                </a:solidFill>
              </a:rPr>
              <a:t>not stated / below threshold</a:t>
            </a:r>
            <a:endParaRPr lang="en-US" sz="1500" dirty="0"/>
          </a:p>
        </p:txBody>
      </p:sp>
      <p:sp>
        <p:nvSpPr>
          <p:cNvPr id="21" name="Shape 19"/>
          <p:cNvSpPr/>
          <p:nvPr/>
        </p:nvSpPr>
        <p:spPr>
          <a:xfrm>
            <a:off x="10287000" y="2834640"/>
            <a:ext cx="1417320" cy="822960"/>
          </a:xfrm>
          <a:prstGeom prst="roundRect">
            <a:avLst>
              <a:gd name="adj" fmla="val 8889"/>
            </a:avLst>
          </a:prstGeom>
          <a:solidFill>
            <a:srgbClr val="E0F2FE"/>
          </a:solidFill>
          <a:ln w="15240">
            <a:solidFill>
              <a:srgbClr val="1F4E79"/>
            </a:solidFill>
            <a:prstDash val="solid"/>
          </a:ln>
        </p:spPr>
      </p:sp>
      <p:sp>
        <p:nvSpPr>
          <p:cNvPr id="22" name="Text 20"/>
          <p:cNvSpPr/>
          <p:nvPr/>
        </p:nvSpPr>
        <p:spPr>
          <a:xfrm>
            <a:off x="10405872" y="2907792"/>
            <a:ext cx="1179576" cy="713232"/>
          </a:xfrm>
          <a:prstGeom prst="rect">
            <a:avLst/>
          </a:prstGeom>
          <a:noFill/>
          <a:ln/>
        </p:spPr>
        <p:txBody>
          <a:bodyPr wrap="square" lIns="127" tIns="127" rIns="127" bIns="127" rtlCol="0" anchor="ctr">
            <a:normAutofit/>
          </a:bodyPr>
          <a:lstStyle/>
          <a:p>
            <a:pPr indent="0" marL="0">
              <a:buNone/>
            </a:pPr>
            <a:r>
              <a:rPr lang="en-US" sz="1400" b="1" dirty="0">
                <a:solidFill>
                  <a:srgbClr val="0F172A"/>
                </a:solidFill>
              </a:rPr>
              <a:t>Route</a:t>
            </a:r>
            <a:pPr indent="0" marL="0">
              <a:buNone/>
            </a:pPr>
            <a:endParaRPr lang="en-US" sz="1400" dirty="0"/>
          </a:p>
          <a:p>
            <a:pPr indent="0" marL="0">
              <a:buNone/>
            </a:pPr>
            <a:r>
              <a:rPr lang="en-US" sz="950" dirty="0">
                <a:solidFill>
                  <a:srgbClr val="334155"/>
                </a:solidFill>
              </a:rPr>
              <a:t>fixed policy text</a:t>
            </a:r>
            <a:endParaRPr lang="en-US" sz="1400" dirty="0"/>
          </a:p>
        </p:txBody>
      </p:sp>
      <p:sp>
        <p:nvSpPr>
          <p:cNvPr id="23" name="Shape 21"/>
          <p:cNvSpPr/>
          <p:nvPr/>
        </p:nvSpPr>
        <p:spPr>
          <a:xfrm>
            <a:off x="914400" y="5166360"/>
            <a:ext cx="54864" cy="786384"/>
          </a:xfrm>
          <a:prstGeom prst="rect">
            <a:avLst/>
          </a:prstGeom>
          <a:solidFill>
            <a:srgbClr val="6B4E9E"/>
          </a:solidFill>
          <a:ln w="12700">
            <a:solidFill>
              <a:srgbClr val="6B4E9E"/>
            </a:solidFill>
            <a:prstDash val="solid"/>
          </a:ln>
        </p:spPr>
      </p:sp>
      <p:sp>
        <p:nvSpPr>
          <p:cNvPr id="24" name="Text 22"/>
          <p:cNvSpPr/>
          <p:nvPr/>
        </p:nvSpPr>
        <p:spPr>
          <a:xfrm>
            <a:off x="1078992" y="5166360"/>
            <a:ext cx="9692640" cy="822960"/>
          </a:xfrm>
          <a:prstGeom prst="rect">
            <a:avLst/>
          </a:prstGeom>
          <a:noFill/>
          <a:ln/>
        </p:spPr>
        <p:txBody>
          <a:bodyPr wrap="square" lIns="254" tIns="254" rIns="254" bIns="254" rtlCol="0" anchor="ctr">
            <a:normAutofit/>
          </a:bodyPr>
          <a:lstStyle/>
          <a:p>
            <a:pPr indent="0" marL="0">
              <a:buNone/>
            </a:pPr>
            <a:r>
              <a:rPr lang="en-US" sz="1900" i="1" dirty="0">
                <a:solidFill>
                  <a:srgbClr val="0F172A"/>
                </a:solidFill>
              </a:rPr>
              <a:t>The model does not decide whether to answer. Code decides whether evidence is enough.</a:t>
            </a:r>
            <a:endParaRPr lang="en-US" sz="190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8686800" cy="438912"/>
          </a:xfrm>
          <a:prstGeom prst="rect">
            <a:avLst/>
          </a:prstGeom>
          <a:noFill/>
          <a:ln/>
        </p:spPr>
        <p:txBody>
          <a:bodyPr wrap="square" lIns="0" tIns="0" rIns="0" bIns="0" rtlCol="0" anchor="ctr"/>
          <a:lstStyle/>
          <a:p>
            <a:pPr indent="0" marL="0">
              <a:buNone/>
            </a:pPr>
            <a:r>
              <a:rPr lang="en-US" sz="2800" b="1" dirty="0">
                <a:solidFill>
                  <a:srgbClr val="0F172A"/>
                </a:solidFill>
                <a:latin typeface="Aptos Display" pitchFamily="34" charset="0"/>
                <a:ea typeface="Aptos Display" pitchFamily="34" charset="-122"/>
                <a:cs typeface="Aptos Display" pitchFamily="34" charset="-120"/>
              </a:rPr>
              <a:t>Where the local LLM fits — and where it does not</a:t>
            </a:r>
            <a:endParaRPr lang="en-US" sz="2800" dirty="0"/>
          </a:p>
        </p:txBody>
      </p:sp>
      <p:sp>
        <p:nvSpPr>
          <p:cNvPr id="3" name="Text 1"/>
          <p:cNvSpPr/>
          <p:nvPr/>
        </p:nvSpPr>
        <p:spPr>
          <a:xfrm>
            <a:off x="530352" y="786384"/>
            <a:ext cx="9875520" cy="274320"/>
          </a:xfrm>
          <a:prstGeom prst="rect">
            <a:avLst/>
          </a:prstGeom>
          <a:noFill/>
          <a:ln/>
        </p:spPr>
        <p:txBody>
          <a:bodyPr wrap="square" lIns="0" tIns="0" rIns="0" bIns="0" rtlCol="0" anchor="ctr"/>
          <a:lstStyle/>
          <a:p>
            <a:pPr indent="0" marL="0">
              <a:buNone/>
            </a:pPr>
            <a:r>
              <a:rPr lang="en-US" sz="1050" dirty="0">
                <a:solidFill>
                  <a:srgbClr val="64748B"/>
                </a:solidFill>
              </a:rPr>
              <a:t>Ollama hosts local models, but control stays in deterministic code.</a:t>
            </a:r>
            <a:endParaRPr lang="en-US" sz="1050" dirty="0"/>
          </a:p>
        </p:txBody>
      </p:sp>
      <p:sp>
        <p:nvSpPr>
          <p:cNvPr id="4" name="Shape 2"/>
          <p:cNvSpPr/>
          <p:nvPr/>
        </p:nvSpPr>
        <p:spPr>
          <a:xfrm>
            <a:off x="502920" y="1078992"/>
            <a:ext cx="11155680" cy="0"/>
          </a:xfrm>
          <a:prstGeom prst="line">
            <a:avLst/>
          </a:prstGeom>
          <a:noFill/>
          <a:ln w="9525">
            <a:solidFill>
              <a:srgbClr val="E2E8F0"/>
            </a:solidFill>
            <a:prstDash val="solid"/>
          </a:ln>
        </p:spPr>
      </p:sp>
      <p:sp>
        <p:nvSpPr>
          <p:cNvPr id="5" name="Shape 3"/>
          <p:cNvSpPr/>
          <p:nvPr/>
        </p:nvSpPr>
        <p:spPr>
          <a:xfrm>
            <a:off x="777240" y="1554480"/>
            <a:ext cx="4572000" cy="2468880"/>
          </a:xfrm>
          <a:prstGeom prst="roundRect">
            <a:avLst>
              <a:gd name="adj" fmla="val 2963"/>
            </a:avLst>
          </a:prstGeom>
          <a:solidFill>
            <a:srgbClr val="EDE9FE"/>
          </a:solidFill>
          <a:ln w="15240">
            <a:solidFill>
              <a:srgbClr val="6B4E9E"/>
            </a:solidFill>
            <a:prstDash val="solid"/>
          </a:ln>
        </p:spPr>
      </p:sp>
      <p:sp>
        <p:nvSpPr>
          <p:cNvPr id="6" name="Text 4"/>
          <p:cNvSpPr/>
          <p:nvPr/>
        </p:nvSpPr>
        <p:spPr>
          <a:xfrm>
            <a:off x="896112" y="1627632"/>
            <a:ext cx="4334256" cy="2359152"/>
          </a:xfrm>
          <a:prstGeom prst="rect">
            <a:avLst/>
          </a:prstGeom>
          <a:noFill/>
          <a:ln/>
        </p:spPr>
        <p:txBody>
          <a:bodyPr wrap="square" lIns="127" tIns="127" rIns="127" bIns="127" rtlCol="0" anchor="ctr">
            <a:normAutofit/>
          </a:bodyPr>
          <a:lstStyle/>
          <a:p>
            <a:pPr indent="0" marL="0">
              <a:buNone/>
            </a:pPr>
            <a:r>
              <a:rPr lang="en-US" sz="2000" b="1" dirty="0">
                <a:solidFill>
                  <a:srgbClr val="0F172A"/>
                </a:solidFill>
              </a:rPr>
              <a:t>LLM is allowed to do</a:t>
            </a:r>
            <a:pPr indent="0" marL="0">
              <a:buNone/>
            </a:pPr>
            <a:endParaRPr lang="en-US" sz="2000" dirty="0"/>
          </a:p>
          <a:p>
            <a:pPr indent="0" marL="0">
              <a:buNone/>
            </a:pPr>
            <a:r>
              <a:rPr lang="en-US" sz="1400" dirty="0">
                <a:solidFill>
                  <a:srgbClr val="334155"/>
                </a:solidFill>
              </a:rPr>
              <a:t>• Compose grounded wording</a:t>
            </a:r>
            <a:endParaRPr lang="en-US" sz="2000" dirty="0"/>
          </a:p>
          <a:p>
            <a:pPr indent="0" marL="0">
              <a:buNone/>
            </a:pPr>
            <a:r>
              <a:rPr lang="en-US" sz="1400" dirty="0">
                <a:solidFill>
                  <a:srgbClr val="334155"/>
                </a:solidFill>
              </a:rPr>
              <a:t>• Combine retrieved passages</a:t>
            </a:r>
            <a:endParaRPr lang="en-US" sz="2000" dirty="0"/>
          </a:p>
          <a:p>
            <a:pPr indent="0" marL="0">
              <a:buNone/>
            </a:pPr>
            <a:r>
              <a:rPr lang="en-US" sz="1400" dirty="0">
                <a:solidFill>
                  <a:srgbClr val="334155"/>
                </a:solidFill>
              </a:rPr>
              <a:t>• Produce cited sentences</a:t>
            </a:r>
            <a:endParaRPr lang="en-US" sz="2000" dirty="0"/>
          </a:p>
          <a:p>
            <a:pPr indent="0" marL="0">
              <a:buNone/>
            </a:pPr>
            <a:r>
              <a:rPr lang="en-US" sz="1400" dirty="0">
                <a:solidFill>
                  <a:srgbClr val="334155"/>
                </a:solidFill>
              </a:rPr>
              <a:t>• Stay within answer length</a:t>
            </a:r>
            <a:endParaRPr lang="en-US" sz="2000" dirty="0"/>
          </a:p>
          <a:p>
            <a:pPr indent="0" marL="0">
              <a:buNone/>
            </a:pPr>
            <a:r>
              <a:rPr lang="en-US" sz="1400" dirty="0">
                <a:solidFill>
                  <a:srgbClr val="334155"/>
                </a:solidFill>
              </a:rPr>
              <a:t>• Use only supplied context</a:t>
            </a:r>
            <a:endParaRPr lang="en-US" sz="2000" dirty="0"/>
          </a:p>
        </p:txBody>
      </p:sp>
      <p:sp>
        <p:nvSpPr>
          <p:cNvPr id="7" name="Shape 5"/>
          <p:cNvSpPr/>
          <p:nvPr/>
        </p:nvSpPr>
        <p:spPr>
          <a:xfrm>
            <a:off x="6812280" y="1554480"/>
            <a:ext cx="4572000" cy="2468880"/>
          </a:xfrm>
          <a:prstGeom prst="roundRect">
            <a:avLst>
              <a:gd name="adj" fmla="val 2963"/>
            </a:avLst>
          </a:prstGeom>
          <a:solidFill>
            <a:srgbClr val="FEE2E2"/>
          </a:solidFill>
          <a:ln w="15240">
            <a:solidFill>
              <a:srgbClr val="DC2626"/>
            </a:solidFill>
            <a:prstDash val="solid"/>
          </a:ln>
        </p:spPr>
      </p:sp>
      <p:sp>
        <p:nvSpPr>
          <p:cNvPr id="8" name="Text 6"/>
          <p:cNvSpPr/>
          <p:nvPr/>
        </p:nvSpPr>
        <p:spPr>
          <a:xfrm>
            <a:off x="6931152" y="1627632"/>
            <a:ext cx="4334256" cy="2359152"/>
          </a:xfrm>
          <a:prstGeom prst="rect">
            <a:avLst/>
          </a:prstGeom>
          <a:noFill/>
          <a:ln/>
        </p:spPr>
        <p:txBody>
          <a:bodyPr wrap="square" lIns="127" tIns="127" rIns="127" bIns="127" rtlCol="0" anchor="ctr">
            <a:normAutofit/>
          </a:bodyPr>
          <a:lstStyle/>
          <a:p>
            <a:pPr indent="0" marL="0">
              <a:buNone/>
            </a:pPr>
            <a:r>
              <a:rPr lang="en-US" sz="2000" b="1" dirty="0">
                <a:solidFill>
                  <a:srgbClr val="0F172A"/>
                </a:solidFill>
              </a:rPr>
              <a:t>LLM is not allowed to do</a:t>
            </a:r>
            <a:pPr indent="0" marL="0">
              <a:buNone/>
            </a:pPr>
            <a:endParaRPr lang="en-US" sz="2000" dirty="0"/>
          </a:p>
          <a:p>
            <a:pPr indent="0" marL="0">
              <a:buNone/>
            </a:pPr>
            <a:r>
              <a:rPr lang="en-US" sz="1400" dirty="0">
                <a:solidFill>
                  <a:srgbClr val="334155"/>
                </a:solidFill>
              </a:rPr>
              <a:t>• Decide permissions</a:t>
            </a:r>
            <a:endParaRPr lang="en-US" sz="2000" dirty="0"/>
          </a:p>
          <a:p>
            <a:pPr indent="0" marL="0">
              <a:buNone/>
            </a:pPr>
            <a:r>
              <a:rPr lang="en-US" sz="1400" dirty="0">
                <a:solidFill>
                  <a:srgbClr val="334155"/>
                </a:solidFill>
              </a:rPr>
              <a:t>• Choose active versions</a:t>
            </a:r>
            <a:endParaRPr lang="en-US" sz="2000" dirty="0"/>
          </a:p>
          <a:p>
            <a:pPr indent="0" marL="0">
              <a:buNone/>
            </a:pPr>
            <a:r>
              <a:rPr lang="en-US" sz="1400" dirty="0">
                <a:solidFill>
                  <a:srgbClr val="334155"/>
                </a:solidFill>
              </a:rPr>
              <a:t>• Invent product compatibility</a:t>
            </a:r>
            <a:endParaRPr lang="en-US" sz="2000" dirty="0"/>
          </a:p>
          <a:p>
            <a:pPr indent="0" marL="0">
              <a:buNone/>
            </a:pPr>
            <a:r>
              <a:rPr lang="en-US" sz="1400" dirty="0">
                <a:solidFill>
                  <a:srgbClr val="334155"/>
                </a:solidFill>
              </a:rPr>
              <a:t>• Perform trusted arithmetic</a:t>
            </a:r>
            <a:endParaRPr lang="en-US" sz="2000" dirty="0"/>
          </a:p>
          <a:p>
            <a:pPr indent="0" marL="0">
              <a:buNone/>
            </a:pPr>
            <a:r>
              <a:rPr lang="en-US" sz="1400" dirty="0">
                <a:solidFill>
                  <a:srgbClr val="334155"/>
                </a:solidFill>
              </a:rPr>
              <a:t>• Override refusal rules</a:t>
            </a:r>
            <a:endParaRPr lang="en-US" sz="2000" dirty="0"/>
          </a:p>
        </p:txBody>
      </p:sp>
      <p:sp>
        <p:nvSpPr>
          <p:cNvPr id="9" name="Text 7"/>
          <p:cNvSpPr/>
          <p:nvPr/>
        </p:nvSpPr>
        <p:spPr>
          <a:xfrm>
            <a:off x="914400" y="4526280"/>
            <a:ext cx="6583680" cy="320040"/>
          </a:xfrm>
          <a:prstGeom prst="rect">
            <a:avLst/>
          </a:prstGeom>
          <a:noFill/>
          <a:ln/>
        </p:spPr>
        <p:txBody>
          <a:bodyPr wrap="square" lIns="0" tIns="0" rIns="0" bIns="0" rtlCol="0" anchor="ctr"/>
          <a:lstStyle/>
          <a:p>
            <a:pPr indent="0" marL="0">
              <a:buNone/>
            </a:pPr>
            <a:r>
              <a:rPr lang="en-US" sz="1800" b="1" dirty="0">
                <a:solidFill>
                  <a:srgbClr val="0F172A"/>
                </a:solidFill>
              </a:rPr>
              <a:t>After generation, deterministic checks still run.</a:t>
            </a:r>
            <a:endParaRPr lang="en-US" sz="1800" dirty="0"/>
          </a:p>
        </p:txBody>
      </p:sp>
      <p:sp>
        <p:nvSpPr>
          <p:cNvPr id="10" name="Text 8"/>
          <p:cNvSpPr/>
          <p:nvPr/>
        </p:nvSpPr>
        <p:spPr>
          <a:xfrm>
            <a:off x="932688" y="4882896"/>
            <a:ext cx="9966960" cy="411480"/>
          </a:xfrm>
          <a:prstGeom prst="rect">
            <a:avLst/>
          </a:prstGeom>
          <a:noFill/>
          <a:ln/>
        </p:spPr>
        <p:txBody>
          <a:bodyPr wrap="square" lIns="254" tIns="254" rIns="254" bIns="254" rtlCol="0" anchor="ctr">
            <a:normAutofit/>
          </a:bodyPr>
          <a:lstStyle/>
          <a:p>
            <a:pPr indent="0" marL="0">
              <a:buNone/>
            </a:pPr>
            <a:r>
              <a:rPr lang="en-US" sz="1550" dirty="0">
                <a:solidFill>
                  <a:srgbClr val="334155"/>
                </a:solidFill>
              </a:rPr>
              <a:t>Citations, numbers, qualifiers, product names, version attribution and requested-property relevance are checked before output.</a:t>
            </a:r>
            <a:endParaRPr lang="en-US" sz="1550" dirty="0"/>
          </a:p>
        </p:txBody>
      </p:sp>
      <p:sp>
        <p:nvSpPr>
          <p:cNvPr id="11" name="Shape 9"/>
          <p:cNvSpPr/>
          <p:nvPr/>
        </p:nvSpPr>
        <p:spPr>
          <a:xfrm>
            <a:off x="914400" y="5623560"/>
            <a:ext cx="54864" cy="786384"/>
          </a:xfrm>
          <a:prstGeom prst="rect">
            <a:avLst/>
          </a:prstGeom>
          <a:solidFill>
            <a:srgbClr val="DC2626"/>
          </a:solidFill>
          <a:ln w="12700">
            <a:solidFill>
              <a:srgbClr val="DC2626"/>
            </a:solidFill>
            <a:prstDash val="solid"/>
          </a:ln>
        </p:spPr>
      </p:sp>
      <p:sp>
        <p:nvSpPr>
          <p:cNvPr id="12" name="Text 10"/>
          <p:cNvSpPr/>
          <p:nvPr/>
        </p:nvSpPr>
        <p:spPr>
          <a:xfrm>
            <a:off x="1078992" y="5623560"/>
            <a:ext cx="9692640" cy="822960"/>
          </a:xfrm>
          <a:prstGeom prst="rect">
            <a:avLst/>
          </a:prstGeom>
          <a:noFill/>
          <a:ln/>
        </p:spPr>
        <p:txBody>
          <a:bodyPr wrap="square" lIns="254" tIns="254" rIns="254" bIns="254" rtlCol="0" anchor="ctr">
            <a:normAutofit/>
          </a:bodyPr>
          <a:lstStyle/>
          <a:p>
            <a:pPr indent="0" marL="0">
              <a:buNone/>
            </a:pPr>
            <a:r>
              <a:rPr lang="en-US" sz="1900" i="1" dirty="0">
                <a:solidFill>
                  <a:srgbClr val="0F172A"/>
                </a:solidFill>
              </a:rPr>
              <a:t>The model writes. The system verifies. Failed checks fail closed.</a:t>
            </a:r>
            <a:endParaRPr lang="en-US" sz="190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8686800" cy="438912"/>
          </a:xfrm>
          <a:prstGeom prst="rect">
            <a:avLst/>
          </a:prstGeom>
          <a:noFill/>
          <a:ln/>
        </p:spPr>
        <p:txBody>
          <a:bodyPr wrap="square" lIns="0" tIns="0" rIns="0" bIns="0" rtlCol="0" anchor="ctr"/>
          <a:lstStyle/>
          <a:p>
            <a:pPr indent="0" marL="0">
              <a:buNone/>
            </a:pPr>
            <a:r>
              <a:rPr lang="en-US" sz="2800" b="1" dirty="0">
                <a:solidFill>
                  <a:srgbClr val="0F172A"/>
                </a:solidFill>
                <a:latin typeface="Aptos Display" pitchFamily="34" charset="0"/>
                <a:ea typeface="Aptos Display" pitchFamily="34" charset="-122"/>
                <a:cs typeface="Aptos Display" pitchFamily="34" charset="-120"/>
              </a:rPr>
              <a:t>Evaluation and operations are part of the architecture</a:t>
            </a:r>
            <a:endParaRPr lang="en-US" sz="2800" dirty="0"/>
          </a:p>
        </p:txBody>
      </p:sp>
      <p:sp>
        <p:nvSpPr>
          <p:cNvPr id="3" name="Text 1"/>
          <p:cNvSpPr/>
          <p:nvPr/>
        </p:nvSpPr>
        <p:spPr>
          <a:xfrm>
            <a:off x="530352" y="786384"/>
            <a:ext cx="9875520" cy="274320"/>
          </a:xfrm>
          <a:prstGeom prst="rect">
            <a:avLst/>
          </a:prstGeom>
          <a:noFill/>
          <a:ln/>
        </p:spPr>
        <p:txBody>
          <a:bodyPr wrap="square" lIns="0" tIns="0" rIns="0" bIns="0" rtlCol="0" anchor="ctr"/>
          <a:lstStyle/>
          <a:p>
            <a:pPr indent="0" marL="0">
              <a:buNone/>
            </a:pPr>
            <a:r>
              <a:rPr lang="en-US" sz="1050" dirty="0">
                <a:solidFill>
                  <a:srgbClr val="64748B"/>
                </a:solidFill>
              </a:rPr>
              <a:t>The system is judged end-to-end, not by LLM quality alone.</a:t>
            </a:r>
            <a:endParaRPr lang="en-US" sz="1050" dirty="0"/>
          </a:p>
        </p:txBody>
      </p:sp>
      <p:sp>
        <p:nvSpPr>
          <p:cNvPr id="4" name="Shape 2"/>
          <p:cNvSpPr/>
          <p:nvPr/>
        </p:nvSpPr>
        <p:spPr>
          <a:xfrm>
            <a:off x="502920" y="1078992"/>
            <a:ext cx="11155680" cy="0"/>
          </a:xfrm>
          <a:prstGeom prst="line">
            <a:avLst/>
          </a:prstGeom>
          <a:noFill/>
          <a:ln w="9525">
            <a:solidFill>
              <a:srgbClr val="E2E8F0"/>
            </a:solidFill>
            <a:prstDash val="solid"/>
          </a:ln>
        </p:spPr>
      </p:sp>
      <p:sp>
        <p:nvSpPr>
          <p:cNvPr id="5" name="Shape 3"/>
          <p:cNvSpPr/>
          <p:nvPr/>
        </p:nvSpPr>
        <p:spPr>
          <a:xfrm>
            <a:off x="685800" y="1417320"/>
            <a:ext cx="3337560" cy="1051560"/>
          </a:xfrm>
          <a:prstGeom prst="roundRect">
            <a:avLst>
              <a:gd name="adj" fmla="val 6957"/>
            </a:avLst>
          </a:prstGeom>
          <a:solidFill>
            <a:srgbClr val="E0F2FE"/>
          </a:solidFill>
          <a:ln w="15240">
            <a:solidFill>
              <a:srgbClr val="1F4E79"/>
            </a:solidFill>
            <a:prstDash val="solid"/>
          </a:ln>
        </p:spPr>
      </p:sp>
      <p:sp>
        <p:nvSpPr>
          <p:cNvPr id="6" name="Text 4"/>
          <p:cNvSpPr/>
          <p:nvPr/>
        </p:nvSpPr>
        <p:spPr>
          <a:xfrm>
            <a:off x="804672" y="1490472"/>
            <a:ext cx="3099816" cy="941832"/>
          </a:xfrm>
          <a:prstGeom prst="rect">
            <a:avLst/>
          </a:prstGeom>
          <a:noFill/>
          <a:ln/>
        </p:spPr>
        <p:txBody>
          <a:bodyPr wrap="square" lIns="127" tIns="127" rIns="127" bIns="127" rtlCol="0" anchor="ctr">
            <a:normAutofit/>
          </a:bodyPr>
          <a:lstStyle/>
          <a:p>
            <a:pPr indent="0" marL="0">
              <a:buNone/>
            </a:pPr>
            <a:r>
              <a:rPr lang="en-US" sz="1800" b="1" dirty="0">
                <a:solidFill>
                  <a:srgbClr val="0F172A"/>
                </a:solidFill>
              </a:rPr>
              <a:t>Evaluation harness</a:t>
            </a:r>
            <a:pPr indent="0" marL="0">
              <a:buNone/>
            </a:pPr>
            <a:endParaRPr lang="en-US" sz="1800" dirty="0"/>
          </a:p>
          <a:p>
            <a:pPr indent="0" marL="0">
              <a:buNone/>
            </a:pPr>
            <a:r>
              <a:rPr lang="en-US" sz="1100" dirty="0">
                <a:solidFill>
                  <a:srgbClr val="334155"/>
                </a:solidFill>
              </a:rPr>
              <a:t>known scenarios · probes · threshold sweep · staff isolation</a:t>
            </a:r>
            <a:endParaRPr lang="en-US" sz="1800" dirty="0"/>
          </a:p>
        </p:txBody>
      </p:sp>
      <p:sp>
        <p:nvSpPr>
          <p:cNvPr id="7" name="Shape 5"/>
          <p:cNvSpPr/>
          <p:nvPr/>
        </p:nvSpPr>
        <p:spPr>
          <a:xfrm>
            <a:off x="4434840" y="1417320"/>
            <a:ext cx="3337560" cy="1051560"/>
          </a:xfrm>
          <a:prstGeom prst="roundRect">
            <a:avLst>
              <a:gd name="adj" fmla="val 6957"/>
            </a:avLst>
          </a:prstGeom>
          <a:solidFill>
            <a:srgbClr val="CCFBF1"/>
          </a:solidFill>
          <a:ln w="15240">
            <a:solidFill>
              <a:srgbClr val="0E7C7B"/>
            </a:solidFill>
            <a:prstDash val="solid"/>
          </a:ln>
        </p:spPr>
      </p:sp>
      <p:sp>
        <p:nvSpPr>
          <p:cNvPr id="8" name="Text 6"/>
          <p:cNvSpPr/>
          <p:nvPr/>
        </p:nvSpPr>
        <p:spPr>
          <a:xfrm>
            <a:off x="4553712" y="1490472"/>
            <a:ext cx="3099816" cy="941832"/>
          </a:xfrm>
          <a:prstGeom prst="rect">
            <a:avLst/>
          </a:prstGeom>
          <a:noFill/>
          <a:ln/>
        </p:spPr>
        <p:txBody>
          <a:bodyPr wrap="square" lIns="127" tIns="127" rIns="127" bIns="127" rtlCol="0" anchor="ctr">
            <a:normAutofit/>
          </a:bodyPr>
          <a:lstStyle/>
          <a:p>
            <a:pPr indent="0" marL="0">
              <a:buNone/>
            </a:pPr>
            <a:r>
              <a:rPr lang="en-US" sz="1800" b="1" dirty="0">
                <a:solidFill>
                  <a:srgbClr val="0F172A"/>
                </a:solidFill>
              </a:rPr>
              <a:t>Observability</a:t>
            </a:r>
            <a:pPr indent="0" marL="0">
              <a:buNone/>
            </a:pPr>
            <a:endParaRPr lang="en-US" sz="1800" dirty="0"/>
          </a:p>
          <a:p>
            <a:pPr indent="0" marL="0">
              <a:buNone/>
            </a:pPr>
            <a:r>
              <a:rPr lang="en-US" sz="1100" dirty="0">
                <a:solidFill>
                  <a:srgbClr val="334155"/>
                </a:solidFill>
              </a:rPr>
              <a:t>route · chunks · scores · snapshot · latency · failures</a:t>
            </a:r>
            <a:endParaRPr lang="en-US" sz="1800" dirty="0"/>
          </a:p>
        </p:txBody>
      </p:sp>
      <p:sp>
        <p:nvSpPr>
          <p:cNvPr id="9" name="Shape 7"/>
          <p:cNvSpPr/>
          <p:nvPr/>
        </p:nvSpPr>
        <p:spPr>
          <a:xfrm>
            <a:off x="8183880" y="1417320"/>
            <a:ext cx="3337560" cy="1051560"/>
          </a:xfrm>
          <a:prstGeom prst="roundRect">
            <a:avLst>
              <a:gd name="adj" fmla="val 6957"/>
            </a:avLst>
          </a:prstGeom>
          <a:solidFill>
            <a:srgbClr val="FEF3C7"/>
          </a:solidFill>
          <a:ln w="15240">
            <a:solidFill>
              <a:srgbClr val="F59E0B"/>
            </a:solidFill>
            <a:prstDash val="solid"/>
          </a:ln>
        </p:spPr>
      </p:sp>
      <p:sp>
        <p:nvSpPr>
          <p:cNvPr id="10" name="Text 8"/>
          <p:cNvSpPr/>
          <p:nvPr/>
        </p:nvSpPr>
        <p:spPr>
          <a:xfrm>
            <a:off x="8302752" y="1490472"/>
            <a:ext cx="3099816" cy="941832"/>
          </a:xfrm>
          <a:prstGeom prst="rect">
            <a:avLst/>
          </a:prstGeom>
          <a:noFill/>
          <a:ln/>
        </p:spPr>
        <p:txBody>
          <a:bodyPr wrap="square" lIns="127" tIns="127" rIns="127" bIns="127" rtlCol="0" anchor="ctr">
            <a:normAutofit/>
          </a:bodyPr>
          <a:lstStyle/>
          <a:p>
            <a:pPr indent="0" marL="0">
              <a:buNone/>
            </a:pPr>
            <a:r>
              <a:rPr lang="en-US" sz="1800" b="1" dirty="0">
                <a:solidFill>
                  <a:srgbClr val="0F172A"/>
                </a:solidFill>
              </a:rPr>
              <a:t>Serving layer</a:t>
            </a:r>
            <a:pPr indent="0" marL="0">
              <a:buNone/>
            </a:pPr>
            <a:endParaRPr lang="en-US" sz="1800" dirty="0"/>
          </a:p>
          <a:p>
            <a:pPr indent="0" marL="0">
              <a:buNone/>
            </a:pPr>
            <a:r>
              <a:rPr lang="en-US" sz="1100" dirty="0">
                <a:solidFill>
                  <a:srgbClr val="334155"/>
                </a:solidFill>
              </a:rPr>
              <a:t>queue · rate limit · answer cache · load shedding</a:t>
            </a:r>
            <a:endParaRPr lang="en-US" sz="1800" dirty="0"/>
          </a:p>
        </p:txBody>
      </p:sp>
      <p:sp>
        <p:nvSpPr>
          <p:cNvPr id="11" name="Text 9"/>
          <p:cNvSpPr/>
          <p:nvPr/>
        </p:nvSpPr>
        <p:spPr>
          <a:xfrm>
            <a:off x="822960" y="3154680"/>
            <a:ext cx="2011680" cy="274320"/>
          </a:xfrm>
          <a:prstGeom prst="rect">
            <a:avLst/>
          </a:prstGeom>
          <a:noFill/>
          <a:ln/>
        </p:spPr>
        <p:txBody>
          <a:bodyPr wrap="square" lIns="0" tIns="0" rIns="0" bIns="0" rtlCol="0" anchor="ctr"/>
          <a:lstStyle/>
          <a:p>
            <a:pPr indent="0" marL="0">
              <a:buNone/>
            </a:pPr>
            <a:r>
              <a:rPr lang="en-US" sz="1800" b="1" dirty="0">
                <a:solidFill>
                  <a:srgbClr val="0F172A"/>
                </a:solidFill>
              </a:rPr>
              <a:t>Under load</a:t>
            </a:r>
            <a:endParaRPr lang="en-US" sz="1800" dirty="0"/>
          </a:p>
        </p:txBody>
      </p:sp>
      <p:sp>
        <p:nvSpPr>
          <p:cNvPr id="12" name="Shape 10"/>
          <p:cNvSpPr/>
          <p:nvPr/>
        </p:nvSpPr>
        <p:spPr>
          <a:xfrm>
            <a:off x="914400" y="3611880"/>
            <a:ext cx="2743200" cy="685800"/>
          </a:xfrm>
          <a:prstGeom prst="roundRect">
            <a:avLst>
              <a:gd name="adj" fmla="val 10667"/>
            </a:avLst>
          </a:prstGeom>
          <a:solidFill>
            <a:srgbClr val="DCFCE7"/>
          </a:solidFill>
          <a:ln w="15240">
            <a:solidFill>
              <a:srgbClr val="38761D"/>
            </a:solidFill>
            <a:prstDash val="solid"/>
          </a:ln>
        </p:spPr>
      </p:sp>
      <p:sp>
        <p:nvSpPr>
          <p:cNvPr id="13" name="Text 11"/>
          <p:cNvSpPr/>
          <p:nvPr/>
        </p:nvSpPr>
        <p:spPr>
          <a:xfrm>
            <a:off x="1033272" y="3685032"/>
            <a:ext cx="2505456" cy="576072"/>
          </a:xfrm>
          <a:prstGeom prst="rect">
            <a:avLst/>
          </a:prstGeom>
          <a:noFill/>
          <a:ln/>
        </p:spPr>
        <p:txBody>
          <a:bodyPr wrap="square" lIns="127" tIns="127" rIns="127" bIns="127" rtlCol="0" anchor="ctr">
            <a:normAutofit/>
          </a:bodyPr>
          <a:lstStyle/>
          <a:p>
            <a:pPr indent="0" marL="0">
              <a:buNone/>
            </a:pPr>
            <a:r>
              <a:rPr lang="en-US" sz="1500" b="1" dirty="0">
                <a:solidFill>
                  <a:srgbClr val="0F172A"/>
                </a:solidFill>
              </a:rPr>
              <a:t>Keep safety checks</a:t>
            </a:r>
            <a:pPr indent="0" marL="0">
              <a:buNone/>
            </a:pPr>
            <a:endParaRPr lang="en-US" sz="1500" dirty="0"/>
          </a:p>
          <a:p>
            <a:pPr indent="0" marL="0">
              <a:buNone/>
            </a:pPr>
            <a:r>
              <a:rPr lang="en-US" sz="950" dirty="0">
                <a:solidFill>
                  <a:srgbClr val="334155"/>
                </a:solidFill>
              </a:rPr>
              <a:t>never dropped</a:t>
            </a:r>
            <a:endParaRPr lang="en-US" sz="1500" dirty="0"/>
          </a:p>
        </p:txBody>
      </p:sp>
      <p:sp>
        <p:nvSpPr>
          <p:cNvPr id="14" name="Shape 12"/>
          <p:cNvSpPr/>
          <p:nvPr/>
        </p:nvSpPr>
        <p:spPr>
          <a:xfrm>
            <a:off x="3840480" y="3950208"/>
            <a:ext cx="640080" cy="0"/>
          </a:xfrm>
          <a:prstGeom prst="line">
            <a:avLst/>
          </a:prstGeom>
          <a:noFill/>
          <a:ln w="19050">
            <a:solidFill>
              <a:srgbClr val="64748B"/>
            </a:solidFill>
            <a:prstDash val="solid"/>
            <a:headEnd type="none"/>
            <a:tailEnd type="triangle"/>
          </a:ln>
        </p:spPr>
      </p:sp>
      <p:sp>
        <p:nvSpPr>
          <p:cNvPr id="15" name="Shape 13"/>
          <p:cNvSpPr/>
          <p:nvPr/>
        </p:nvSpPr>
        <p:spPr>
          <a:xfrm>
            <a:off x="4663440" y="3611880"/>
            <a:ext cx="2743200" cy="685800"/>
          </a:xfrm>
          <a:prstGeom prst="roundRect">
            <a:avLst>
              <a:gd name="adj" fmla="val 10667"/>
            </a:avLst>
          </a:prstGeom>
          <a:solidFill>
            <a:srgbClr val="FEF3C7"/>
          </a:solidFill>
          <a:ln w="15240">
            <a:solidFill>
              <a:srgbClr val="F59E0B"/>
            </a:solidFill>
            <a:prstDash val="solid"/>
          </a:ln>
        </p:spPr>
      </p:sp>
      <p:sp>
        <p:nvSpPr>
          <p:cNvPr id="16" name="Text 14"/>
          <p:cNvSpPr/>
          <p:nvPr/>
        </p:nvSpPr>
        <p:spPr>
          <a:xfrm>
            <a:off x="4782312" y="3685032"/>
            <a:ext cx="2505456" cy="576072"/>
          </a:xfrm>
          <a:prstGeom prst="rect">
            <a:avLst/>
          </a:prstGeom>
          <a:noFill/>
          <a:ln/>
        </p:spPr>
        <p:txBody>
          <a:bodyPr wrap="square" lIns="127" tIns="127" rIns="127" bIns="127" rtlCol="0" anchor="ctr">
            <a:normAutofit/>
          </a:bodyPr>
          <a:lstStyle/>
          <a:p>
            <a:pPr indent="0" marL="0">
              <a:buNone/>
            </a:pPr>
            <a:r>
              <a:rPr lang="en-US" sz="1500" b="1" dirty="0">
                <a:solidFill>
                  <a:srgbClr val="0F172A"/>
                </a:solidFill>
              </a:rPr>
              <a:t>Reduce compose</a:t>
            </a:r>
            <a:pPr indent="0" marL="0">
              <a:buNone/>
            </a:pPr>
            <a:endParaRPr lang="en-US" sz="1500" dirty="0"/>
          </a:p>
          <a:p>
            <a:pPr indent="0" marL="0">
              <a:buNone/>
            </a:pPr>
            <a:r>
              <a:rPr lang="en-US" sz="950" dirty="0">
                <a:solidFill>
                  <a:srgbClr val="334155"/>
                </a:solidFill>
              </a:rPr>
              <a:t>expensive model path</a:t>
            </a:r>
            <a:endParaRPr lang="en-US" sz="1500" dirty="0"/>
          </a:p>
        </p:txBody>
      </p:sp>
      <p:sp>
        <p:nvSpPr>
          <p:cNvPr id="17" name="Shape 15"/>
          <p:cNvSpPr/>
          <p:nvPr/>
        </p:nvSpPr>
        <p:spPr>
          <a:xfrm>
            <a:off x="7589520" y="3950208"/>
            <a:ext cx="640080" cy="0"/>
          </a:xfrm>
          <a:prstGeom prst="line">
            <a:avLst/>
          </a:prstGeom>
          <a:noFill/>
          <a:ln w="19050">
            <a:solidFill>
              <a:srgbClr val="64748B"/>
            </a:solidFill>
            <a:prstDash val="solid"/>
            <a:headEnd type="none"/>
            <a:tailEnd type="triangle"/>
          </a:ln>
        </p:spPr>
      </p:sp>
      <p:sp>
        <p:nvSpPr>
          <p:cNvPr id="18" name="Shape 16"/>
          <p:cNvSpPr/>
          <p:nvPr/>
        </p:nvSpPr>
        <p:spPr>
          <a:xfrm>
            <a:off x="8412480" y="3611880"/>
            <a:ext cx="2743200" cy="685800"/>
          </a:xfrm>
          <a:prstGeom prst="roundRect">
            <a:avLst>
              <a:gd name="adj" fmla="val 10667"/>
            </a:avLst>
          </a:prstGeom>
          <a:solidFill>
            <a:srgbClr val="DCFCE7"/>
          </a:solidFill>
          <a:ln w="15240">
            <a:solidFill>
              <a:srgbClr val="38761D"/>
            </a:solidFill>
            <a:prstDash val="solid"/>
          </a:ln>
        </p:spPr>
      </p:sp>
      <p:sp>
        <p:nvSpPr>
          <p:cNvPr id="19" name="Text 17"/>
          <p:cNvSpPr/>
          <p:nvPr/>
        </p:nvSpPr>
        <p:spPr>
          <a:xfrm>
            <a:off x="8531352" y="3685032"/>
            <a:ext cx="2505456" cy="576072"/>
          </a:xfrm>
          <a:prstGeom prst="rect">
            <a:avLst/>
          </a:prstGeom>
          <a:noFill/>
          <a:ln/>
        </p:spPr>
        <p:txBody>
          <a:bodyPr wrap="square" lIns="127" tIns="127" rIns="127" bIns="127" rtlCol="0" anchor="ctr">
            <a:normAutofit/>
          </a:bodyPr>
          <a:lstStyle/>
          <a:p>
            <a:pPr indent="0" marL="0">
              <a:buNone/>
            </a:pPr>
            <a:r>
              <a:rPr lang="en-US" sz="1500" b="1" dirty="0">
                <a:solidFill>
                  <a:srgbClr val="0F172A"/>
                </a:solidFill>
              </a:rPr>
              <a:t>Serve extract/refuse</a:t>
            </a:r>
            <a:pPr indent="0" marL="0">
              <a:buNone/>
            </a:pPr>
            <a:endParaRPr lang="en-US" sz="1500" dirty="0"/>
          </a:p>
          <a:p>
            <a:pPr indent="0" marL="0">
              <a:buNone/>
            </a:pPr>
            <a:r>
              <a:rPr lang="en-US" sz="950" dirty="0">
                <a:solidFill>
                  <a:srgbClr val="334155"/>
                </a:solidFill>
              </a:rPr>
              <a:t>safe deterministic paths</a:t>
            </a:r>
            <a:endParaRPr lang="en-US" sz="1500" dirty="0"/>
          </a:p>
        </p:txBody>
      </p:sp>
      <p:sp>
        <p:nvSpPr>
          <p:cNvPr id="20" name="Shape 18"/>
          <p:cNvSpPr/>
          <p:nvPr/>
        </p:nvSpPr>
        <p:spPr>
          <a:xfrm>
            <a:off x="914400" y="5349240"/>
            <a:ext cx="54864" cy="786384"/>
          </a:xfrm>
          <a:prstGeom prst="rect">
            <a:avLst/>
          </a:prstGeom>
          <a:solidFill>
            <a:srgbClr val="F97316"/>
          </a:solidFill>
          <a:ln w="12700">
            <a:solidFill>
              <a:srgbClr val="F97316"/>
            </a:solidFill>
            <a:prstDash val="solid"/>
          </a:ln>
        </p:spPr>
      </p:sp>
      <p:sp>
        <p:nvSpPr>
          <p:cNvPr id="21" name="Text 19"/>
          <p:cNvSpPr/>
          <p:nvPr/>
        </p:nvSpPr>
        <p:spPr>
          <a:xfrm>
            <a:off x="1078992" y="5349240"/>
            <a:ext cx="9692640" cy="822960"/>
          </a:xfrm>
          <a:prstGeom prst="rect">
            <a:avLst/>
          </a:prstGeom>
          <a:noFill/>
          <a:ln/>
        </p:spPr>
        <p:txBody>
          <a:bodyPr wrap="square" lIns="254" tIns="254" rIns="254" bIns="254" rtlCol="0" anchor="ctr">
            <a:normAutofit/>
          </a:bodyPr>
          <a:lstStyle/>
          <a:p>
            <a:pPr indent="0" marL="0">
              <a:buNone/>
            </a:pPr>
            <a:r>
              <a:rPr lang="en-US" sz="1900" i="1" dirty="0">
                <a:solidFill>
                  <a:srgbClr val="0F172A"/>
                </a:solidFill>
              </a:rPr>
              <a:t>Safety does not degrade under load; coverage does.</a:t>
            </a:r>
            <a:endParaRPr lang="en-US" sz="190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8686800" cy="438912"/>
          </a:xfrm>
          <a:prstGeom prst="rect">
            <a:avLst/>
          </a:prstGeom>
          <a:noFill/>
          <a:ln/>
        </p:spPr>
        <p:txBody>
          <a:bodyPr wrap="square" lIns="0" tIns="0" rIns="0" bIns="0" rtlCol="0" anchor="ctr"/>
          <a:lstStyle/>
          <a:p>
            <a:pPr indent="0" marL="0">
              <a:buNone/>
            </a:pPr>
            <a:r>
              <a:rPr lang="en-US" sz="2800" b="1" dirty="0">
                <a:solidFill>
                  <a:srgbClr val="0F172A"/>
                </a:solidFill>
                <a:latin typeface="Aptos Display" pitchFamily="34" charset="0"/>
                <a:ea typeface="Aptos Display" pitchFamily="34" charset="-122"/>
                <a:cs typeface="Aptos Display" pitchFamily="34" charset="-120"/>
              </a:rPr>
              <a:t>Multimodal roadmap: images become structured context</a:t>
            </a:r>
            <a:endParaRPr lang="en-US" sz="2800" dirty="0"/>
          </a:p>
        </p:txBody>
      </p:sp>
      <p:sp>
        <p:nvSpPr>
          <p:cNvPr id="3" name="Text 1"/>
          <p:cNvSpPr/>
          <p:nvPr/>
        </p:nvSpPr>
        <p:spPr>
          <a:xfrm>
            <a:off x="530352" y="786384"/>
            <a:ext cx="9875520" cy="274320"/>
          </a:xfrm>
          <a:prstGeom prst="rect">
            <a:avLst/>
          </a:prstGeom>
          <a:noFill/>
          <a:ln/>
        </p:spPr>
        <p:txBody>
          <a:bodyPr wrap="square" lIns="0" tIns="0" rIns="0" bIns="0" rtlCol="0" anchor="ctr"/>
          <a:lstStyle/>
          <a:p>
            <a:pPr indent="0" marL="0">
              <a:buNone/>
            </a:pPr>
            <a:r>
              <a:rPr lang="en-US" sz="1050" dirty="0">
                <a:solidFill>
                  <a:srgbClr val="64748B"/>
                </a:solidFill>
              </a:rPr>
              <a:t>Vision is a perception layer, not a recommendation engine.</a:t>
            </a:r>
            <a:endParaRPr lang="en-US" sz="1050" dirty="0"/>
          </a:p>
        </p:txBody>
      </p:sp>
      <p:sp>
        <p:nvSpPr>
          <p:cNvPr id="4" name="Shape 2"/>
          <p:cNvSpPr/>
          <p:nvPr/>
        </p:nvSpPr>
        <p:spPr>
          <a:xfrm>
            <a:off x="502920" y="1078992"/>
            <a:ext cx="11155680" cy="0"/>
          </a:xfrm>
          <a:prstGeom prst="line">
            <a:avLst/>
          </a:prstGeom>
          <a:noFill/>
          <a:ln w="9525">
            <a:solidFill>
              <a:srgbClr val="E2E8F0"/>
            </a:solidFill>
            <a:prstDash val="solid"/>
          </a:ln>
        </p:spPr>
      </p:sp>
      <p:sp>
        <p:nvSpPr>
          <p:cNvPr id="5" name="Shape 3"/>
          <p:cNvSpPr/>
          <p:nvPr/>
        </p:nvSpPr>
        <p:spPr>
          <a:xfrm>
            <a:off x="731520" y="1828800"/>
            <a:ext cx="1828800" cy="822960"/>
          </a:xfrm>
          <a:prstGeom prst="roundRect">
            <a:avLst>
              <a:gd name="adj" fmla="val 8889"/>
            </a:avLst>
          </a:prstGeom>
          <a:solidFill>
            <a:srgbClr val="FEF3C7"/>
          </a:solidFill>
          <a:ln w="15240">
            <a:solidFill>
              <a:srgbClr val="F59E0B"/>
            </a:solidFill>
            <a:prstDash val="solid"/>
          </a:ln>
        </p:spPr>
      </p:sp>
      <p:sp>
        <p:nvSpPr>
          <p:cNvPr id="6" name="Text 4"/>
          <p:cNvSpPr/>
          <p:nvPr/>
        </p:nvSpPr>
        <p:spPr>
          <a:xfrm>
            <a:off x="850392" y="1901952"/>
            <a:ext cx="1591056" cy="713232"/>
          </a:xfrm>
          <a:prstGeom prst="rect">
            <a:avLst/>
          </a:prstGeom>
          <a:noFill/>
          <a:ln/>
        </p:spPr>
        <p:txBody>
          <a:bodyPr wrap="square" lIns="127" tIns="127" rIns="127" bIns="127" rtlCol="0" anchor="ctr">
            <a:normAutofit/>
          </a:bodyPr>
          <a:lstStyle/>
          <a:p>
            <a:pPr indent="0" marL="0">
              <a:buNone/>
            </a:pPr>
            <a:r>
              <a:rPr lang="en-US" sz="1500" b="1" dirty="0">
                <a:solidFill>
                  <a:srgbClr val="0F172A"/>
                </a:solidFill>
              </a:rPr>
              <a:t>Uploaded photo</a:t>
            </a:r>
            <a:pPr indent="0" marL="0">
              <a:buNone/>
            </a:pPr>
            <a:endParaRPr lang="en-US" sz="1500" dirty="0"/>
          </a:p>
          <a:p>
            <a:pPr indent="0" marL="0">
              <a:buNone/>
            </a:pPr>
            <a:r>
              <a:rPr lang="en-US" sz="950" dirty="0">
                <a:solidFill>
                  <a:srgbClr val="334155"/>
                </a:solidFill>
              </a:rPr>
              <a:t>old wall / plaster</a:t>
            </a:r>
            <a:endParaRPr lang="en-US" sz="1500" dirty="0"/>
          </a:p>
        </p:txBody>
      </p:sp>
      <p:sp>
        <p:nvSpPr>
          <p:cNvPr id="7" name="Shape 5"/>
          <p:cNvSpPr/>
          <p:nvPr/>
        </p:nvSpPr>
        <p:spPr>
          <a:xfrm>
            <a:off x="2697480" y="2240280"/>
            <a:ext cx="640080" cy="0"/>
          </a:xfrm>
          <a:prstGeom prst="line">
            <a:avLst/>
          </a:prstGeom>
          <a:noFill/>
          <a:ln w="19050">
            <a:solidFill>
              <a:srgbClr val="64748B"/>
            </a:solidFill>
            <a:prstDash val="solid"/>
            <a:headEnd type="none"/>
            <a:tailEnd type="triangle"/>
          </a:ln>
        </p:spPr>
      </p:sp>
      <p:sp>
        <p:nvSpPr>
          <p:cNvPr id="8" name="Shape 6"/>
          <p:cNvSpPr/>
          <p:nvPr/>
        </p:nvSpPr>
        <p:spPr>
          <a:xfrm>
            <a:off x="3474720" y="1828800"/>
            <a:ext cx="2011680" cy="822960"/>
          </a:xfrm>
          <a:prstGeom prst="roundRect">
            <a:avLst>
              <a:gd name="adj" fmla="val 8889"/>
            </a:avLst>
          </a:prstGeom>
          <a:solidFill>
            <a:srgbClr val="EDE9FE"/>
          </a:solidFill>
          <a:ln w="15240">
            <a:solidFill>
              <a:srgbClr val="6B4E9E"/>
            </a:solidFill>
            <a:prstDash val="solid"/>
          </a:ln>
        </p:spPr>
      </p:sp>
      <p:sp>
        <p:nvSpPr>
          <p:cNvPr id="9" name="Text 7"/>
          <p:cNvSpPr/>
          <p:nvPr/>
        </p:nvSpPr>
        <p:spPr>
          <a:xfrm>
            <a:off x="3593592" y="1901952"/>
            <a:ext cx="1773936" cy="713232"/>
          </a:xfrm>
          <a:prstGeom prst="rect">
            <a:avLst/>
          </a:prstGeom>
          <a:noFill/>
          <a:ln/>
        </p:spPr>
        <p:txBody>
          <a:bodyPr wrap="square" lIns="127" tIns="127" rIns="127" bIns="127" rtlCol="0" anchor="ctr">
            <a:normAutofit/>
          </a:bodyPr>
          <a:lstStyle/>
          <a:p>
            <a:pPr indent="0" marL="0">
              <a:buNone/>
            </a:pPr>
            <a:r>
              <a:rPr lang="en-US" sz="1500" b="1" dirty="0">
                <a:solidFill>
                  <a:srgbClr val="0F172A"/>
                </a:solidFill>
              </a:rPr>
              <a:t>Local VLM</a:t>
            </a:r>
            <a:pPr indent="0" marL="0">
              <a:buNone/>
            </a:pPr>
            <a:endParaRPr lang="en-US" sz="1500" dirty="0"/>
          </a:p>
          <a:p>
            <a:pPr indent="0" marL="0">
              <a:buNone/>
            </a:pPr>
            <a:r>
              <a:rPr lang="en-US" sz="950" dirty="0">
                <a:solidFill>
                  <a:srgbClr val="334155"/>
                </a:solidFill>
              </a:rPr>
              <a:t>reads pixels only</a:t>
            </a:r>
            <a:endParaRPr lang="en-US" sz="1500" dirty="0"/>
          </a:p>
        </p:txBody>
      </p:sp>
      <p:sp>
        <p:nvSpPr>
          <p:cNvPr id="10" name="Shape 8"/>
          <p:cNvSpPr/>
          <p:nvPr/>
        </p:nvSpPr>
        <p:spPr>
          <a:xfrm>
            <a:off x="5623560" y="2240280"/>
            <a:ext cx="640080" cy="0"/>
          </a:xfrm>
          <a:prstGeom prst="line">
            <a:avLst/>
          </a:prstGeom>
          <a:noFill/>
          <a:ln w="19050">
            <a:solidFill>
              <a:srgbClr val="64748B"/>
            </a:solidFill>
            <a:prstDash val="solid"/>
            <a:headEnd type="none"/>
            <a:tailEnd type="triangle"/>
          </a:ln>
        </p:spPr>
      </p:sp>
      <p:sp>
        <p:nvSpPr>
          <p:cNvPr id="11" name="Shape 9"/>
          <p:cNvSpPr/>
          <p:nvPr/>
        </p:nvSpPr>
        <p:spPr>
          <a:xfrm>
            <a:off x="6400800" y="1828800"/>
            <a:ext cx="2103120" cy="822960"/>
          </a:xfrm>
          <a:prstGeom prst="roundRect">
            <a:avLst>
              <a:gd name="adj" fmla="val 8889"/>
            </a:avLst>
          </a:prstGeom>
          <a:solidFill>
            <a:srgbClr val="CCFBF1"/>
          </a:solidFill>
          <a:ln w="15240">
            <a:solidFill>
              <a:srgbClr val="0E7C7B"/>
            </a:solidFill>
            <a:prstDash val="solid"/>
          </a:ln>
        </p:spPr>
      </p:sp>
      <p:sp>
        <p:nvSpPr>
          <p:cNvPr id="12" name="Text 10"/>
          <p:cNvSpPr/>
          <p:nvPr/>
        </p:nvSpPr>
        <p:spPr>
          <a:xfrm>
            <a:off x="6519672" y="1901952"/>
            <a:ext cx="1865376" cy="713232"/>
          </a:xfrm>
          <a:prstGeom prst="rect">
            <a:avLst/>
          </a:prstGeom>
          <a:noFill/>
          <a:ln/>
        </p:spPr>
        <p:txBody>
          <a:bodyPr wrap="square" lIns="127" tIns="127" rIns="127" bIns="127" rtlCol="0" anchor="ctr">
            <a:normAutofit/>
          </a:bodyPr>
          <a:lstStyle/>
          <a:p>
            <a:pPr indent="0" marL="0">
              <a:buNone/>
            </a:pPr>
            <a:r>
              <a:rPr lang="en-US" sz="1500" b="1" dirty="0">
                <a:solidFill>
                  <a:srgbClr val="0F172A"/>
                </a:solidFill>
              </a:rPr>
              <a:t>Observations</a:t>
            </a:r>
            <a:pPr indent="0" marL="0">
              <a:buNone/>
            </a:pPr>
            <a:endParaRPr lang="en-US" sz="1500" dirty="0"/>
          </a:p>
          <a:p>
            <a:pPr indent="0" marL="0">
              <a:buNone/>
            </a:pPr>
            <a:r>
              <a:rPr lang="en-US" sz="950" dirty="0">
                <a:solidFill>
                  <a:srgbClr val="334155"/>
                </a:solidFill>
              </a:rPr>
              <a:t>value · confidence · region</a:t>
            </a:r>
            <a:endParaRPr lang="en-US" sz="1500" dirty="0"/>
          </a:p>
        </p:txBody>
      </p:sp>
      <p:sp>
        <p:nvSpPr>
          <p:cNvPr id="13" name="Shape 11"/>
          <p:cNvSpPr/>
          <p:nvPr/>
        </p:nvSpPr>
        <p:spPr>
          <a:xfrm>
            <a:off x="8641080" y="2240280"/>
            <a:ext cx="640080" cy="0"/>
          </a:xfrm>
          <a:prstGeom prst="line">
            <a:avLst/>
          </a:prstGeom>
          <a:noFill/>
          <a:ln w="19050">
            <a:solidFill>
              <a:srgbClr val="64748B"/>
            </a:solidFill>
            <a:prstDash val="solid"/>
            <a:headEnd type="none"/>
            <a:tailEnd type="triangle"/>
          </a:ln>
        </p:spPr>
      </p:sp>
      <p:sp>
        <p:nvSpPr>
          <p:cNvPr id="14" name="Shape 12"/>
          <p:cNvSpPr/>
          <p:nvPr/>
        </p:nvSpPr>
        <p:spPr>
          <a:xfrm>
            <a:off x="9418320" y="1828800"/>
            <a:ext cx="2011680" cy="822960"/>
          </a:xfrm>
          <a:prstGeom prst="roundRect">
            <a:avLst>
              <a:gd name="adj" fmla="val 8889"/>
            </a:avLst>
          </a:prstGeom>
          <a:solidFill>
            <a:srgbClr val="E0F2FE"/>
          </a:solidFill>
          <a:ln w="15240">
            <a:solidFill>
              <a:srgbClr val="1F4E79"/>
            </a:solidFill>
            <a:prstDash val="solid"/>
          </a:ln>
        </p:spPr>
      </p:sp>
      <p:sp>
        <p:nvSpPr>
          <p:cNvPr id="15" name="Text 13"/>
          <p:cNvSpPr/>
          <p:nvPr/>
        </p:nvSpPr>
        <p:spPr>
          <a:xfrm>
            <a:off x="9537192" y="1901952"/>
            <a:ext cx="1773936" cy="713232"/>
          </a:xfrm>
          <a:prstGeom prst="rect">
            <a:avLst/>
          </a:prstGeom>
          <a:noFill/>
          <a:ln/>
        </p:spPr>
        <p:txBody>
          <a:bodyPr wrap="square" lIns="127" tIns="127" rIns="127" bIns="127" rtlCol="0" anchor="ctr">
            <a:normAutofit/>
          </a:bodyPr>
          <a:lstStyle/>
          <a:p>
            <a:pPr indent="0" marL="0">
              <a:buNone/>
            </a:pPr>
            <a:r>
              <a:rPr lang="en-US" sz="1500" b="1" dirty="0">
                <a:solidFill>
                  <a:srgbClr val="0F172A"/>
                </a:solidFill>
              </a:rPr>
              <a:t>Building profile</a:t>
            </a:r>
            <a:pPr indent="0" marL="0">
              <a:buNone/>
            </a:pPr>
            <a:endParaRPr lang="en-US" sz="1500" dirty="0"/>
          </a:p>
          <a:p>
            <a:pPr indent="0" marL="0">
              <a:buNone/>
            </a:pPr>
            <a:r>
              <a:rPr lang="en-US" sz="950" dirty="0">
                <a:solidFill>
                  <a:srgbClr val="334155"/>
                </a:solidFill>
              </a:rPr>
              <a:t>slots + unknowns</a:t>
            </a:r>
            <a:endParaRPr lang="en-US" sz="1500" dirty="0"/>
          </a:p>
        </p:txBody>
      </p:sp>
      <p:sp>
        <p:nvSpPr>
          <p:cNvPr id="16" name="Shape 14"/>
          <p:cNvSpPr/>
          <p:nvPr/>
        </p:nvSpPr>
        <p:spPr>
          <a:xfrm>
            <a:off x="10424160" y="2697480"/>
            <a:ext cx="0" cy="612648"/>
          </a:xfrm>
          <a:prstGeom prst="line">
            <a:avLst/>
          </a:prstGeom>
          <a:noFill/>
          <a:ln w="19050">
            <a:solidFill>
              <a:srgbClr val="64748B"/>
            </a:solidFill>
            <a:prstDash val="solid"/>
            <a:headEnd type="none"/>
            <a:tailEnd type="triangle"/>
          </a:ln>
        </p:spPr>
      </p:sp>
      <p:sp>
        <p:nvSpPr>
          <p:cNvPr id="17" name="Shape 15"/>
          <p:cNvSpPr/>
          <p:nvPr/>
        </p:nvSpPr>
        <p:spPr>
          <a:xfrm>
            <a:off x="8549640" y="3429000"/>
            <a:ext cx="3474720" cy="841248"/>
          </a:xfrm>
          <a:prstGeom prst="roundRect">
            <a:avLst>
              <a:gd name="adj" fmla="val 8696"/>
            </a:avLst>
          </a:prstGeom>
          <a:solidFill>
            <a:srgbClr val="DCFCE7"/>
          </a:solidFill>
          <a:ln w="15240">
            <a:solidFill>
              <a:srgbClr val="38761D"/>
            </a:solidFill>
            <a:prstDash val="solid"/>
          </a:ln>
        </p:spPr>
      </p:sp>
      <p:sp>
        <p:nvSpPr>
          <p:cNvPr id="18" name="Text 16"/>
          <p:cNvSpPr/>
          <p:nvPr/>
        </p:nvSpPr>
        <p:spPr>
          <a:xfrm>
            <a:off x="8668512" y="3502152"/>
            <a:ext cx="3236976" cy="731520"/>
          </a:xfrm>
          <a:prstGeom prst="rect">
            <a:avLst/>
          </a:prstGeom>
          <a:noFill/>
          <a:ln/>
        </p:spPr>
        <p:txBody>
          <a:bodyPr wrap="square" lIns="127" tIns="127" rIns="127" bIns="127" rtlCol="0" anchor="ctr">
            <a:normAutofit/>
          </a:bodyPr>
          <a:lstStyle/>
          <a:p>
            <a:pPr indent="0" marL="0">
              <a:buNone/>
            </a:pPr>
            <a:r>
              <a:rPr lang="en-US" sz="1600" b="1" dirty="0">
                <a:solidFill>
                  <a:srgbClr val="0F172A"/>
                </a:solidFill>
              </a:rPr>
              <a:t>Existing answer pipeline</a:t>
            </a:r>
            <a:pPr indent="0" marL="0">
              <a:buNone/>
            </a:pPr>
            <a:endParaRPr lang="en-US" sz="1600" dirty="0"/>
          </a:p>
          <a:p>
            <a:pPr indent="0" marL="0">
              <a:buNone/>
            </a:pPr>
            <a:r>
              <a:rPr lang="en-US" sz="1000" dirty="0">
                <a:solidFill>
                  <a:srgbClr val="334155"/>
                </a:solidFill>
              </a:rPr>
              <a:t>retrieval · router · checks · cited answer</a:t>
            </a:r>
            <a:endParaRPr lang="en-US" sz="1600" dirty="0"/>
          </a:p>
        </p:txBody>
      </p:sp>
      <p:sp>
        <p:nvSpPr>
          <p:cNvPr id="19" name="Text 17"/>
          <p:cNvSpPr/>
          <p:nvPr/>
        </p:nvSpPr>
        <p:spPr>
          <a:xfrm>
            <a:off x="822960" y="4526280"/>
            <a:ext cx="2194560" cy="274320"/>
          </a:xfrm>
          <a:prstGeom prst="rect">
            <a:avLst/>
          </a:prstGeom>
          <a:noFill/>
          <a:ln/>
        </p:spPr>
        <p:txBody>
          <a:bodyPr wrap="square" lIns="0" tIns="0" rIns="0" bIns="0" rtlCol="0" anchor="ctr"/>
          <a:lstStyle/>
          <a:p>
            <a:pPr indent="0" marL="0">
              <a:buNone/>
            </a:pPr>
            <a:r>
              <a:rPr lang="en-US" sz="1800" b="1" dirty="0">
                <a:solidFill>
                  <a:srgbClr val="0F172A"/>
                </a:solidFill>
              </a:rPr>
              <a:t>Crucial rule</a:t>
            </a:r>
            <a:endParaRPr lang="en-US" sz="1800" dirty="0"/>
          </a:p>
        </p:txBody>
      </p:sp>
      <p:sp>
        <p:nvSpPr>
          <p:cNvPr id="20" name="Text 18"/>
          <p:cNvSpPr/>
          <p:nvPr/>
        </p:nvSpPr>
        <p:spPr>
          <a:xfrm>
            <a:off x="841248" y="4882896"/>
            <a:ext cx="10515600" cy="640080"/>
          </a:xfrm>
          <a:prstGeom prst="rect">
            <a:avLst/>
          </a:prstGeom>
          <a:noFill/>
          <a:ln/>
        </p:spPr>
        <p:txBody>
          <a:bodyPr wrap="square" lIns="254" tIns="254" rIns="254" bIns="254" rtlCol="0" anchor="ctr">
            <a:normAutofit/>
          </a:bodyPr>
          <a:lstStyle/>
          <a:p>
            <a:pPr indent="0" marL="0">
              <a:buNone/>
            </a:pPr>
            <a:r>
              <a:rPr lang="en-US" sz="1500" dirty="0">
                <a:solidFill>
                  <a:srgbClr val="334155"/>
                </a:solidFill>
              </a:rPr>
              <a:t>The vision model may say “likely brick substrate” or “visible moisture staining”. It must not say “therefore use Product X”. Product recommendation still goes through the controlled evidence pipeline.</a:t>
            </a:r>
            <a:endParaRPr lang="en-US" sz="1500" dirty="0"/>
          </a:p>
        </p:txBody>
      </p:sp>
      <p:sp>
        <p:nvSpPr>
          <p:cNvPr id="21" name="Shape 19"/>
          <p:cNvSpPr/>
          <p:nvPr/>
        </p:nvSpPr>
        <p:spPr>
          <a:xfrm>
            <a:off x="914400" y="5705856"/>
            <a:ext cx="54864" cy="786384"/>
          </a:xfrm>
          <a:prstGeom prst="rect">
            <a:avLst/>
          </a:prstGeom>
          <a:solidFill>
            <a:srgbClr val="6B4E9E"/>
          </a:solidFill>
          <a:ln w="12700">
            <a:solidFill>
              <a:srgbClr val="6B4E9E"/>
            </a:solidFill>
            <a:prstDash val="solid"/>
          </a:ln>
        </p:spPr>
      </p:sp>
      <p:sp>
        <p:nvSpPr>
          <p:cNvPr id="22" name="Text 20"/>
          <p:cNvSpPr/>
          <p:nvPr/>
        </p:nvSpPr>
        <p:spPr>
          <a:xfrm>
            <a:off x="1078992" y="5705856"/>
            <a:ext cx="9692640" cy="822960"/>
          </a:xfrm>
          <a:prstGeom prst="rect">
            <a:avLst/>
          </a:prstGeom>
          <a:noFill/>
          <a:ln/>
        </p:spPr>
        <p:txBody>
          <a:bodyPr wrap="square" lIns="254" tIns="254" rIns="254" bIns="254" rtlCol="0" anchor="ctr">
            <a:normAutofit/>
          </a:bodyPr>
          <a:lstStyle/>
          <a:p>
            <a:pPr indent="0" marL="0">
              <a:buNone/>
            </a:pPr>
            <a:r>
              <a:rPr lang="en-US" sz="1900" i="1" dirty="0">
                <a:solidFill>
                  <a:srgbClr val="0F172A"/>
                </a:solidFill>
              </a:rPr>
              <a:t>Perception, interpretation and recommendation stay separate.</a:t>
            </a:r>
            <a:endParaRPr lang="en-US" sz="190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8686800" cy="438912"/>
          </a:xfrm>
          <a:prstGeom prst="rect">
            <a:avLst/>
          </a:prstGeom>
          <a:noFill/>
          <a:ln/>
        </p:spPr>
        <p:txBody>
          <a:bodyPr wrap="square" lIns="0" tIns="0" rIns="0" bIns="0" rtlCol="0" anchor="ctr"/>
          <a:lstStyle/>
          <a:p>
            <a:pPr indent="0" marL="0">
              <a:buNone/>
            </a:pPr>
            <a:r>
              <a:rPr lang="en-US" sz="2800" b="1" dirty="0">
                <a:solidFill>
                  <a:srgbClr val="0F172A"/>
                </a:solidFill>
                <a:latin typeface="Aptos Display" pitchFamily="34" charset="0"/>
                <a:ea typeface="Aptos Display" pitchFamily="34" charset="-122"/>
                <a:cs typeface="Aptos Display" pitchFamily="34" charset="-120"/>
              </a:rPr>
              <a:t>The 2-minute talk track</a:t>
            </a:r>
            <a:endParaRPr lang="en-US" sz="2800" dirty="0"/>
          </a:p>
        </p:txBody>
      </p:sp>
      <p:sp>
        <p:nvSpPr>
          <p:cNvPr id="3" name="Text 1"/>
          <p:cNvSpPr/>
          <p:nvPr/>
        </p:nvSpPr>
        <p:spPr>
          <a:xfrm>
            <a:off x="530352" y="786384"/>
            <a:ext cx="9875520" cy="274320"/>
          </a:xfrm>
          <a:prstGeom prst="rect">
            <a:avLst/>
          </a:prstGeom>
          <a:noFill/>
          <a:ln/>
        </p:spPr>
        <p:txBody>
          <a:bodyPr wrap="square" lIns="0" tIns="0" rIns="0" bIns="0" rtlCol="0" anchor="ctr"/>
          <a:lstStyle/>
          <a:p>
            <a:pPr indent="0" marL="0">
              <a:buNone/>
            </a:pPr>
            <a:r>
              <a:rPr lang="en-US" sz="1050" dirty="0">
                <a:solidFill>
                  <a:srgbClr val="64748B"/>
                </a:solidFill>
              </a:rPr>
              <a:t>Use this when you need to explain the architecture smoothly.</a:t>
            </a:r>
            <a:endParaRPr lang="en-US" sz="1050" dirty="0"/>
          </a:p>
        </p:txBody>
      </p:sp>
      <p:sp>
        <p:nvSpPr>
          <p:cNvPr id="4" name="Shape 2"/>
          <p:cNvSpPr/>
          <p:nvPr/>
        </p:nvSpPr>
        <p:spPr>
          <a:xfrm>
            <a:off x="502920" y="1078992"/>
            <a:ext cx="11155680" cy="0"/>
          </a:xfrm>
          <a:prstGeom prst="line">
            <a:avLst/>
          </a:prstGeom>
          <a:noFill/>
          <a:ln w="9525">
            <a:solidFill>
              <a:srgbClr val="E2E8F0"/>
            </a:solidFill>
            <a:prstDash val="solid"/>
          </a:ln>
        </p:spPr>
      </p:sp>
      <p:sp>
        <p:nvSpPr>
          <p:cNvPr id="5" name="Text 3"/>
          <p:cNvSpPr/>
          <p:nvPr/>
        </p:nvSpPr>
        <p:spPr>
          <a:xfrm>
            <a:off x="777240" y="1234440"/>
            <a:ext cx="2194560" cy="274320"/>
          </a:xfrm>
          <a:prstGeom prst="rect">
            <a:avLst/>
          </a:prstGeom>
          <a:noFill/>
          <a:ln/>
        </p:spPr>
        <p:txBody>
          <a:bodyPr wrap="square" lIns="0" tIns="0" rIns="0" bIns="0" rtlCol="0" anchor="ctr"/>
          <a:lstStyle/>
          <a:p>
            <a:pPr indent="0" marL="0">
              <a:buNone/>
            </a:pPr>
            <a:r>
              <a:rPr lang="en-US" sz="1800" b="1" dirty="0">
                <a:solidFill>
                  <a:srgbClr val="0F172A"/>
                </a:solidFill>
              </a:rPr>
              <a:t>Say it like this:</a:t>
            </a:r>
            <a:endParaRPr lang="en-US" sz="1800" dirty="0"/>
          </a:p>
        </p:txBody>
      </p:sp>
      <p:sp>
        <p:nvSpPr>
          <p:cNvPr id="6" name="Text 4"/>
          <p:cNvSpPr/>
          <p:nvPr/>
        </p:nvSpPr>
        <p:spPr>
          <a:xfrm>
            <a:off x="868680" y="1691640"/>
            <a:ext cx="10424160" cy="4251960"/>
          </a:xfrm>
          <a:prstGeom prst="rect">
            <a:avLst/>
          </a:prstGeom>
          <a:noFill/>
          <a:ln/>
        </p:spPr>
        <p:txBody>
          <a:bodyPr wrap="square" lIns="1524" tIns="1524" rIns="1524" bIns="1524" rtlCol="0" anchor="ctr">
            <a:normAutofit/>
          </a:bodyPr>
          <a:lstStyle/>
          <a:p>
            <a:pPr indent="0" marL="0">
              <a:buNone/>
            </a:pPr>
            <a:r>
              <a:rPr lang="en-US" sz="1560" dirty="0">
                <a:solidFill>
                  <a:srgbClr val="334155"/>
                </a:solidFill>
              </a:rPr>
              <a:t>“I designed the system as two pipelines: a knowledge pipeline and an answering pipeline. The knowledge side crawls Lime Green’s published technical content, stores the original files as versioned evidence, extracts and chunks them, embeds them locally, and publishes a searchable knowledge snapshot. Old versions remain auditable, but retrieval only sees the one active version.</a:t>
            </a:r>
            <a:endParaRPr lang="en-US" sz="1560" dirty="0"/>
          </a:p>
          <a:p>
            <a:pPr indent="0" marL="0">
              <a:buNone/>
            </a:pPr>
            <a:endParaRPr lang="en-US" sz="1560" dirty="0"/>
          </a:p>
          <a:p>
            <a:pPr indent="0" marL="0">
              <a:buNone/>
            </a:pPr>
            <a:r>
              <a:rPr lang="en-US" sz="1560" dirty="0">
                <a:solidFill>
                  <a:srgbClr val="334155"/>
                </a:solidFill>
              </a:rPr>
              <a:t>The answer side takes a user question, applies identity and audience restrictions, retrieves only current permitted passages, and then a deterministic router decides whether to extract, compose, refuse or hand off. The local LLM is only used for grounded composition over retrieved passages. It does not control access, versions, policy or safety.</a:t>
            </a:r>
            <a:endParaRPr lang="en-US" sz="1560" dirty="0"/>
          </a:p>
          <a:p>
            <a:pPr indent="0" marL="0">
              <a:buNone/>
            </a:pPr>
            <a:endParaRPr lang="en-US" sz="1560" dirty="0"/>
          </a:p>
          <a:p>
            <a:pPr indent="0" marL="0">
              <a:buNone/>
            </a:pPr>
            <a:r>
              <a:rPr lang="en-US" sz="1560" dirty="0">
                <a:solidFill>
                  <a:srgbClr val="334155"/>
                </a:solidFill>
              </a:rPr>
              <a:t>Finally, generated output is checked for citations, numbers, qualifiers, product names and relevance before anything is shown. The multimodal extension follows the same principle: images provide structured observations, not direct product recommendations.”</a:t>
            </a:r>
            <a:endParaRPr lang="en-US" sz="1560" dirty="0"/>
          </a:p>
        </p:txBody>
      </p:sp>
      <p:sp>
        <p:nvSpPr>
          <p:cNvPr id="7" name="Shape 5"/>
          <p:cNvSpPr/>
          <p:nvPr/>
        </p:nvSpPr>
        <p:spPr>
          <a:xfrm>
            <a:off x="914400" y="6016752"/>
            <a:ext cx="2468880" cy="292608"/>
          </a:xfrm>
          <a:prstGeom prst="roundRect">
            <a:avLst>
              <a:gd name="adj" fmla="val 25000"/>
            </a:avLst>
          </a:prstGeom>
          <a:solidFill>
            <a:srgbClr val="CCFBF1"/>
          </a:solidFill>
          <a:ln w="12700">
            <a:solidFill>
              <a:srgbClr val="CCFBF1"/>
            </a:solidFill>
            <a:prstDash val="solid"/>
          </a:ln>
        </p:spPr>
      </p:sp>
      <p:sp>
        <p:nvSpPr>
          <p:cNvPr id="8" name="Text 6"/>
          <p:cNvSpPr/>
          <p:nvPr/>
        </p:nvSpPr>
        <p:spPr>
          <a:xfrm>
            <a:off x="987552" y="6085332"/>
            <a:ext cx="2322576" cy="155448"/>
          </a:xfrm>
          <a:prstGeom prst="rect">
            <a:avLst/>
          </a:prstGeom>
          <a:noFill/>
          <a:ln/>
        </p:spPr>
        <p:txBody>
          <a:bodyPr wrap="square" lIns="0" tIns="0" rIns="0" bIns="0" rtlCol="0" anchor="ctr"/>
          <a:lstStyle/>
          <a:p>
            <a:pPr algn="ctr" indent="0" marL="0">
              <a:buNone/>
            </a:pPr>
            <a:r>
              <a:rPr lang="en-US" sz="1100" b="1" dirty="0">
                <a:solidFill>
                  <a:srgbClr val="0E7C7B"/>
                </a:solidFill>
              </a:rPr>
              <a:t>Versioned knowledge</a:t>
            </a:r>
            <a:endParaRPr lang="en-US" sz="1100" dirty="0"/>
          </a:p>
        </p:txBody>
      </p:sp>
      <p:sp>
        <p:nvSpPr>
          <p:cNvPr id="9" name="Shape 7"/>
          <p:cNvSpPr/>
          <p:nvPr/>
        </p:nvSpPr>
        <p:spPr>
          <a:xfrm>
            <a:off x="3611880" y="6016752"/>
            <a:ext cx="2103120" cy="292608"/>
          </a:xfrm>
          <a:prstGeom prst="roundRect">
            <a:avLst>
              <a:gd name="adj" fmla="val 25000"/>
            </a:avLst>
          </a:prstGeom>
          <a:solidFill>
            <a:srgbClr val="FEF3C7"/>
          </a:solidFill>
          <a:ln w="12700">
            <a:solidFill>
              <a:srgbClr val="FEF3C7"/>
            </a:solidFill>
            <a:prstDash val="solid"/>
          </a:ln>
        </p:spPr>
      </p:sp>
      <p:sp>
        <p:nvSpPr>
          <p:cNvPr id="10" name="Text 8"/>
          <p:cNvSpPr/>
          <p:nvPr/>
        </p:nvSpPr>
        <p:spPr>
          <a:xfrm>
            <a:off x="3685032" y="6085332"/>
            <a:ext cx="1956816" cy="155448"/>
          </a:xfrm>
          <a:prstGeom prst="rect">
            <a:avLst/>
          </a:prstGeom>
          <a:noFill/>
          <a:ln/>
        </p:spPr>
        <p:txBody>
          <a:bodyPr wrap="square" lIns="0" tIns="0" rIns="0" bIns="0" rtlCol="0" anchor="ctr"/>
          <a:lstStyle/>
          <a:p>
            <a:pPr algn="ctr" indent="0" marL="0">
              <a:buNone/>
            </a:pPr>
            <a:r>
              <a:rPr lang="en-US" sz="1100" b="1" dirty="0">
                <a:solidFill>
                  <a:srgbClr val="F59E0B"/>
                </a:solidFill>
              </a:rPr>
              <a:t>Code-first safety</a:t>
            </a:r>
            <a:endParaRPr lang="en-US" sz="1100" dirty="0"/>
          </a:p>
        </p:txBody>
      </p:sp>
      <p:sp>
        <p:nvSpPr>
          <p:cNvPr id="11" name="Shape 9"/>
          <p:cNvSpPr/>
          <p:nvPr/>
        </p:nvSpPr>
        <p:spPr>
          <a:xfrm>
            <a:off x="5943600" y="6016752"/>
            <a:ext cx="2103120" cy="292608"/>
          </a:xfrm>
          <a:prstGeom prst="roundRect">
            <a:avLst>
              <a:gd name="adj" fmla="val 25000"/>
            </a:avLst>
          </a:prstGeom>
          <a:solidFill>
            <a:srgbClr val="EDE9FE"/>
          </a:solidFill>
          <a:ln w="12700">
            <a:solidFill>
              <a:srgbClr val="EDE9FE"/>
            </a:solidFill>
            <a:prstDash val="solid"/>
          </a:ln>
        </p:spPr>
      </p:sp>
      <p:sp>
        <p:nvSpPr>
          <p:cNvPr id="12" name="Text 10"/>
          <p:cNvSpPr/>
          <p:nvPr/>
        </p:nvSpPr>
        <p:spPr>
          <a:xfrm>
            <a:off x="6016752" y="6085332"/>
            <a:ext cx="1956816" cy="155448"/>
          </a:xfrm>
          <a:prstGeom prst="rect">
            <a:avLst/>
          </a:prstGeom>
          <a:noFill/>
          <a:ln/>
        </p:spPr>
        <p:txBody>
          <a:bodyPr wrap="square" lIns="0" tIns="0" rIns="0" bIns="0" rtlCol="0" anchor="ctr"/>
          <a:lstStyle/>
          <a:p>
            <a:pPr algn="ctr" indent="0" marL="0">
              <a:buNone/>
            </a:pPr>
            <a:r>
              <a:rPr lang="en-US" sz="1100" b="1" dirty="0">
                <a:solidFill>
                  <a:srgbClr val="6B4E9E"/>
                </a:solidFill>
              </a:rPr>
              <a:t>Local models</a:t>
            </a:r>
            <a:endParaRPr lang="en-US" sz="1100" dirty="0"/>
          </a:p>
        </p:txBody>
      </p:sp>
      <p:sp>
        <p:nvSpPr>
          <p:cNvPr id="13" name="Shape 11"/>
          <p:cNvSpPr/>
          <p:nvPr/>
        </p:nvSpPr>
        <p:spPr>
          <a:xfrm>
            <a:off x="8275320" y="6016752"/>
            <a:ext cx="2560320" cy="292608"/>
          </a:xfrm>
          <a:prstGeom prst="roundRect">
            <a:avLst>
              <a:gd name="adj" fmla="val 25000"/>
            </a:avLst>
          </a:prstGeom>
          <a:solidFill>
            <a:srgbClr val="DCFCE7"/>
          </a:solidFill>
          <a:ln w="12700">
            <a:solidFill>
              <a:srgbClr val="DCFCE7"/>
            </a:solidFill>
            <a:prstDash val="solid"/>
          </a:ln>
        </p:spPr>
      </p:sp>
      <p:sp>
        <p:nvSpPr>
          <p:cNvPr id="14" name="Text 12"/>
          <p:cNvSpPr/>
          <p:nvPr/>
        </p:nvSpPr>
        <p:spPr>
          <a:xfrm>
            <a:off x="8348472" y="6085332"/>
            <a:ext cx="2414016" cy="155448"/>
          </a:xfrm>
          <a:prstGeom prst="rect">
            <a:avLst/>
          </a:prstGeom>
          <a:noFill/>
          <a:ln/>
        </p:spPr>
        <p:txBody>
          <a:bodyPr wrap="square" lIns="0" tIns="0" rIns="0" bIns="0" rtlCol="0" anchor="ctr"/>
          <a:lstStyle/>
          <a:p>
            <a:pPr algn="ctr" indent="0" marL="0">
              <a:buNone/>
            </a:pPr>
            <a:r>
              <a:rPr lang="en-US" sz="1100" b="1" dirty="0">
                <a:solidFill>
                  <a:srgbClr val="38761D"/>
                </a:solidFill>
              </a:rPr>
              <a:t>Cited recommendations</a:t>
            </a:r>
            <a:endParaRPr lang="en-US" sz="110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Technical Knowledge Assistant — Architecture Walkthrough</dc:title>
  <dc:subject>Technical Knowledge Assistant architecture walkthrough</dc:subject>
  <dc:creator>OpenAI</dc:creator>
  <cp:lastModifiedBy>OpenAI</cp:lastModifiedBy>
  <cp:revision>1</cp:revision>
  <dcterms:created xsi:type="dcterms:W3CDTF">2026-09-15T13:40:26Z</dcterms:created>
  <dcterms:modified xsi:type="dcterms:W3CDTF">2026-09-15T13:40:26Z</dcterms:modified>
</cp:coreProperties>
</file>