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open with this framing. I did not begin by asking which RAG framework or vector database looked impressive. I began with the users: who asks Lime Green questions, what they are trying to achieve, and what could go wrong if the assistant answers badly.
The point of this deck is to show a chain of reasoning. User segments lead to jobs-to-be-done. Those jobs appear as different query types. Each query type has a risk. The risks become system requirements. Only then do the architecture decisions make sense.
So the message I want to land is: this is not a generic chatbot wrapped around a website. It is a controlled technical assistant designed around the cost of being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would explain that the same assistant cannot treat every user the same. A homeowner is often trying to understand the basics and avoid a bad choice. A trade user is often trying to get an exact technical answer quickly. Staff are dealing with the difficult cases where consistency, evidence and governance matter.
This directly affects the architecture. It explains why the system needs audience tags, why retrieval must filter by public, trade or staff access, and why the answer engine needs different paths such as extract, compose, refuse or hand off.
The key line is: different users create different risks, so the system cannot simply retrieve everything and let the model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why I treat questions differently. Looking up a datasheet value is not the same as selecting a system. Calculating quantity is not the same as diagnosing cracking.
For example, if a trade user asks about water per 25 kg sack, the safest answer is probably a direct extract from the datasheet. The model should not paraphrase it and risk losing the unit or qualifier. But if someone asks which product suits an old brick wall, the system first needs context: substrate, location, exposure and published compatibility evidence.
So the architecture needs query classification and routing. The important point is that the route is chosen by code based on the shape and risk of the query, not by the model's instinct.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use to show judgement. The design is not trying to answer everything. It is designed around the cost of answering wrongly.
A wrong product recommendation can cause an unsuitable site decision. A paraphrased figure can lose a unit or caveat. A stale datasheet can create conflicting specifications. Staff-only guidance must not leak to the public. And a photo of a damaged wall should not let a model make a confident diagnosis.
Each of those risks turns into a concrete requirement. That is why the system has versioning, audience filtering, deterministic extraction, safety checks and hand-off. The message is: the architecture is risk-driven, not technology-driven.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slide. I would use it to explicitly connect product understanding to engineering decisions.
For example, because technical documents change, I need a versioned source store and only one active version per document. Because different audiences exist, access has to be filtered during retrieval. Because numbers and units matter, exact lookups should be extracted by code rather than paraphrased by a model.
The important line is: every technical choice is answering a requirement. I am not adding PostgreSQL, pgvector, routing, or safety checks for sophistication. They each exist because a user job or risk requires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knowledge side of the system. I would walk left to right. The sources are the Lime Green website and, later, approved staff knowledge. The change step checks whether anything actually changed using metadata and hashes. The indexer extracts the content, chunks it by structure, embeds it locally and publishes a snapshot.
The key point is that this is not a blind scraper. It is a controlled publishing pipeline. Technical documents change, so the system must avoid mixing old and new specifications. Previous versions are kept for audit, but the retriever normally sees only the active version.
I would use this phrase: I treat the knowledge base like a software release. Build it, validate it, publish it atomically, and then answer only from that published snapshot.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answering side. A question may come from the CLI, UI, website or another channel, but all of them call the same answer engine. First the system knows the audience: public, trade or staff. Then it retrieves only current and allowed evidence.
After retrieval, a deterministic router decides the path. If the answer is an exact datasheet fact, it can be extracted by code. If the question needs synthesis across evidence, the local LLM composes the wording. If the evidence is inadequate, the system refuses or hands off.
The local LLM choice should be explained carefully. Ollama is the local model server. The embedding model is selected by measurement, not fashion. The generation model is small enough to run locally and is only used for bounded composition. The model writes where useful, but it does not control access, versions, safety or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slide is where I would show that evaluation is not separate from the design. The tests should prove that the system handles the actual jobs and failure modes: exact lookup, near-miss refusal, staff isolation, superseded datasheets, missing substrate, calculation limits and failed citation checks.
For production readiness, I would be honest. I would say PostgreSQL and pgvector are the deployment direction, but I only call them production-ready when the repository contract tests and Docker smoke tests prove they work. That shows maturity because I am not confusing a diagram with an implemented system.
For images, I would explain the roadmap: a photo is used to extract structured context, not to let the vision model recommend products. The same controlled retrieval, router and verification path still applies.
My closing line would be: I designed this from users and risks into architecture. It is a controlled technical assistant, not a chatbot guessing from scraped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658368"/>
            <a:ext cx="6583680" cy="1234440"/>
          </a:xfrm>
          <a:prstGeom prst="rect">
            <a:avLst/>
          </a:prstGeom>
          <a:noFill/>
          <a:ln/>
        </p:spPr>
        <p:txBody>
          <a:bodyPr wrap="square" lIns="0" tIns="0" rIns="0" bIns="0" rtlCol="0" anchor="ctr"/>
          <a:lstStyle/>
          <a:p>
            <a:pPr indent="0" marL="0">
              <a:buNone/>
            </a:pPr>
            <a:r>
              <a:rPr lang="en-US" sz="3600" b="1" dirty="0">
                <a:solidFill>
                  <a:srgbClr val="0B1F3A"/>
                </a:solidFill>
                <a:latin typeface="Aptos Display" pitchFamily="34" charset="0"/>
                <a:ea typeface="Aptos Display" pitchFamily="34" charset="-122"/>
                <a:cs typeface="Aptos Display" pitchFamily="34" charset="-120"/>
              </a:rPr>
              <a:t>From User Jobs</a:t>
            </a:r>
            <a:endParaRPr lang="en-US" sz="3600" dirty="0"/>
          </a:p>
          <a:p>
            <a:pPr indent="0" marL="0">
              <a:buNone/>
            </a:pPr>
            <a:r>
              <a:rPr lang="en-US" sz="3600" b="1" dirty="0">
                <a:solidFill>
                  <a:srgbClr val="0B1F3A"/>
                </a:solidFill>
                <a:latin typeface="Aptos Display" pitchFamily="34" charset="0"/>
                <a:ea typeface="Aptos Display" pitchFamily="34" charset="-122"/>
                <a:cs typeface="Aptos Display" pitchFamily="34" charset="-120"/>
              </a:rPr>
              <a:t>to Architecture Decisions</a:t>
            </a:r>
            <a:endParaRPr lang="en-US" sz="3600" dirty="0"/>
          </a:p>
        </p:txBody>
      </p:sp>
      <p:sp>
        <p:nvSpPr>
          <p:cNvPr id="3" name="Text 1"/>
          <p:cNvSpPr/>
          <p:nvPr/>
        </p:nvSpPr>
        <p:spPr>
          <a:xfrm>
            <a:off x="594360" y="1965960"/>
            <a:ext cx="7315200" cy="365760"/>
          </a:xfrm>
          <a:prstGeom prst="rect">
            <a:avLst/>
          </a:prstGeom>
          <a:noFill/>
          <a:ln/>
        </p:spPr>
        <p:txBody>
          <a:bodyPr wrap="square" lIns="0" tIns="0" rIns="0" bIns="0" rtlCol="0" anchor="ctr"/>
          <a:lstStyle/>
          <a:p>
            <a:pPr indent="0" marL="0">
              <a:buNone/>
            </a:pPr>
            <a:r>
              <a:rPr lang="en-US" sz="1700" dirty="0">
                <a:solidFill>
                  <a:srgbClr val="58708E"/>
                </a:solidFill>
              </a:rPr>
              <a:t>A clear journey from real users and risks to a controlled local AI architecture.</a:t>
            </a:r>
            <a:endParaRPr lang="en-US" sz="1700" dirty="0"/>
          </a:p>
        </p:txBody>
      </p:sp>
      <p:sp>
        <p:nvSpPr>
          <p:cNvPr id="4" name="Shape 2"/>
          <p:cNvSpPr/>
          <p:nvPr/>
        </p:nvSpPr>
        <p:spPr>
          <a:xfrm>
            <a:off x="594360" y="2834640"/>
            <a:ext cx="329184" cy="329184"/>
          </a:xfrm>
          <a:prstGeom prst="ellipse">
            <a:avLst/>
          </a:prstGeom>
          <a:solidFill>
            <a:srgbClr val="1F4E79"/>
          </a:solidFill>
          <a:ln w="12700">
            <a:solidFill>
              <a:srgbClr val="1F4E79"/>
            </a:solidFill>
            <a:prstDash val="solid"/>
          </a:ln>
        </p:spPr>
      </p:sp>
      <p:sp>
        <p:nvSpPr>
          <p:cNvPr id="5" name="Text 3"/>
          <p:cNvSpPr/>
          <p:nvPr/>
        </p:nvSpPr>
        <p:spPr>
          <a:xfrm>
            <a:off x="594360" y="2894076"/>
            <a:ext cx="329184" cy="18288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6" name="Text 4"/>
          <p:cNvSpPr/>
          <p:nvPr/>
        </p:nvSpPr>
        <p:spPr>
          <a:xfrm>
            <a:off x="987552" y="2889504"/>
            <a:ext cx="1051560" cy="201168"/>
          </a:xfrm>
          <a:prstGeom prst="rect">
            <a:avLst/>
          </a:prstGeom>
          <a:noFill/>
          <a:ln/>
        </p:spPr>
        <p:txBody>
          <a:bodyPr wrap="square" lIns="0" tIns="0" rIns="0" bIns="0" rtlCol="0" anchor="ctr"/>
          <a:lstStyle/>
          <a:p>
            <a:pPr indent="0" marL="0">
              <a:buNone/>
            </a:pPr>
            <a:r>
              <a:rPr lang="en-US" sz="1200" b="1" dirty="0">
                <a:solidFill>
                  <a:srgbClr val="0B1F3A"/>
                </a:solidFill>
              </a:rPr>
              <a:t>Segments</a:t>
            </a:r>
            <a:endParaRPr lang="en-US" sz="1200" dirty="0"/>
          </a:p>
        </p:txBody>
      </p:sp>
      <p:sp>
        <p:nvSpPr>
          <p:cNvPr id="7" name="Shape 5"/>
          <p:cNvSpPr/>
          <p:nvPr/>
        </p:nvSpPr>
        <p:spPr>
          <a:xfrm>
            <a:off x="1828800" y="2999232"/>
            <a:ext cx="365760" cy="0"/>
          </a:xfrm>
          <a:prstGeom prst="line">
            <a:avLst/>
          </a:prstGeom>
          <a:noFill/>
          <a:ln w="17780">
            <a:solidFill>
              <a:srgbClr val="58708E"/>
            </a:solidFill>
            <a:prstDash val="solid"/>
            <a:headEnd type="none"/>
            <a:tailEnd type="triangle"/>
          </a:ln>
        </p:spPr>
      </p:sp>
      <p:sp>
        <p:nvSpPr>
          <p:cNvPr id="8" name="Shape 6"/>
          <p:cNvSpPr/>
          <p:nvPr/>
        </p:nvSpPr>
        <p:spPr>
          <a:xfrm>
            <a:off x="2423160" y="2834640"/>
            <a:ext cx="329184" cy="329184"/>
          </a:xfrm>
          <a:prstGeom prst="ellipse">
            <a:avLst/>
          </a:prstGeom>
          <a:solidFill>
            <a:srgbClr val="2E7D32"/>
          </a:solidFill>
          <a:ln w="12700">
            <a:solidFill>
              <a:srgbClr val="2E7D32"/>
            </a:solidFill>
            <a:prstDash val="solid"/>
          </a:ln>
        </p:spPr>
      </p:sp>
      <p:sp>
        <p:nvSpPr>
          <p:cNvPr id="9" name="Text 7"/>
          <p:cNvSpPr/>
          <p:nvPr/>
        </p:nvSpPr>
        <p:spPr>
          <a:xfrm>
            <a:off x="2423160" y="2894076"/>
            <a:ext cx="329184" cy="18288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Text 8"/>
          <p:cNvSpPr/>
          <p:nvPr/>
        </p:nvSpPr>
        <p:spPr>
          <a:xfrm>
            <a:off x="2816352" y="2889504"/>
            <a:ext cx="1051560" cy="201168"/>
          </a:xfrm>
          <a:prstGeom prst="rect">
            <a:avLst/>
          </a:prstGeom>
          <a:noFill/>
          <a:ln/>
        </p:spPr>
        <p:txBody>
          <a:bodyPr wrap="square" lIns="0" tIns="0" rIns="0" bIns="0" rtlCol="0" anchor="ctr"/>
          <a:lstStyle/>
          <a:p>
            <a:pPr indent="0" marL="0">
              <a:buNone/>
            </a:pPr>
            <a:r>
              <a:rPr lang="en-US" sz="1200" b="1" dirty="0">
                <a:solidFill>
                  <a:srgbClr val="0B1F3A"/>
                </a:solidFill>
              </a:rPr>
              <a:t>Jobs</a:t>
            </a:r>
            <a:endParaRPr lang="en-US" sz="1200" dirty="0"/>
          </a:p>
        </p:txBody>
      </p:sp>
      <p:sp>
        <p:nvSpPr>
          <p:cNvPr id="11" name="Shape 9"/>
          <p:cNvSpPr/>
          <p:nvPr/>
        </p:nvSpPr>
        <p:spPr>
          <a:xfrm>
            <a:off x="3657600" y="2999232"/>
            <a:ext cx="365760" cy="0"/>
          </a:xfrm>
          <a:prstGeom prst="line">
            <a:avLst/>
          </a:prstGeom>
          <a:noFill/>
          <a:ln w="17780">
            <a:solidFill>
              <a:srgbClr val="58708E"/>
            </a:solidFill>
            <a:prstDash val="solid"/>
            <a:headEnd type="none"/>
            <a:tailEnd type="triangle"/>
          </a:ln>
        </p:spPr>
      </p:sp>
      <p:sp>
        <p:nvSpPr>
          <p:cNvPr id="12" name="Shape 10"/>
          <p:cNvSpPr/>
          <p:nvPr/>
        </p:nvSpPr>
        <p:spPr>
          <a:xfrm>
            <a:off x="4251960" y="2834640"/>
            <a:ext cx="329184" cy="329184"/>
          </a:xfrm>
          <a:prstGeom prst="ellipse">
            <a:avLst/>
          </a:prstGeom>
          <a:solidFill>
            <a:srgbClr val="B7791F"/>
          </a:solidFill>
          <a:ln w="12700">
            <a:solidFill>
              <a:srgbClr val="B7791F"/>
            </a:solidFill>
            <a:prstDash val="solid"/>
          </a:ln>
        </p:spPr>
      </p:sp>
      <p:sp>
        <p:nvSpPr>
          <p:cNvPr id="13" name="Text 11"/>
          <p:cNvSpPr/>
          <p:nvPr/>
        </p:nvSpPr>
        <p:spPr>
          <a:xfrm>
            <a:off x="4251960" y="2894076"/>
            <a:ext cx="329184" cy="18288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4" name="Text 12"/>
          <p:cNvSpPr/>
          <p:nvPr/>
        </p:nvSpPr>
        <p:spPr>
          <a:xfrm>
            <a:off x="4645152" y="2889504"/>
            <a:ext cx="1051560" cy="201168"/>
          </a:xfrm>
          <a:prstGeom prst="rect">
            <a:avLst/>
          </a:prstGeom>
          <a:noFill/>
          <a:ln/>
        </p:spPr>
        <p:txBody>
          <a:bodyPr wrap="square" lIns="0" tIns="0" rIns="0" bIns="0" rtlCol="0" anchor="ctr"/>
          <a:lstStyle/>
          <a:p>
            <a:pPr indent="0" marL="0">
              <a:buNone/>
            </a:pPr>
            <a:r>
              <a:rPr lang="en-US" sz="1200" b="1" dirty="0">
                <a:solidFill>
                  <a:srgbClr val="0B1F3A"/>
                </a:solidFill>
              </a:rPr>
              <a:t>Queries</a:t>
            </a:r>
            <a:endParaRPr lang="en-US" sz="1200" dirty="0"/>
          </a:p>
        </p:txBody>
      </p:sp>
      <p:sp>
        <p:nvSpPr>
          <p:cNvPr id="15" name="Shape 13"/>
          <p:cNvSpPr/>
          <p:nvPr/>
        </p:nvSpPr>
        <p:spPr>
          <a:xfrm>
            <a:off x="5486400" y="2999232"/>
            <a:ext cx="365760" cy="0"/>
          </a:xfrm>
          <a:prstGeom prst="line">
            <a:avLst/>
          </a:prstGeom>
          <a:noFill/>
          <a:ln w="17780">
            <a:solidFill>
              <a:srgbClr val="58708E"/>
            </a:solidFill>
            <a:prstDash val="solid"/>
            <a:headEnd type="none"/>
            <a:tailEnd type="triangle"/>
          </a:ln>
        </p:spPr>
      </p:sp>
      <p:sp>
        <p:nvSpPr>
          <p:cNvPr id="16" name="Shape 14"/>
          <p:cNvSpPr/>
          <p:nvPr/>
        </p:nvSpPr>
        <p:spPr>
          <a:xfrm>
            <a:off x="6080760" y="2834640"/>
            <a:ext cx="329184" cy="329184"/>
          </a:xfrm>
          <a:prstGeom prst="ellipse">
            <a:avLst/>
          </a:prstGeom>
          <a:solidFill>
            <a:srgbClr val="B91C1C"/>
          </a:solidFill>
          <a:ln w="12700">
            <a:solidFill>
              <a:srgbClr val="B91C1C"/>
            </a:solidFill>
            <a:prstDash val="solid"/>
          </a:ln>
        </p:spPr>
      </p:sp>
      <p:sp>
        <p:nvSpPr>
          <p:cNvPr id="17" name="Text 15"/>
          <p:cNvSpPr/>
          <p:nvPr/>
        </p:nvSpPr>
        <p:spPr>
          <a:xfrm>
            <a:off x="6080760" y="2894076"/>
            <a:ext cx="329184" cy="18288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8" name="Text 16"/>
          <p:cNvSpPr/>
          <p:nvPr/>
        </p:nvSpPr>
        <p:spPr>
          <a:xfrm>
            <a:off x="6473952" y="2889504"/>
            <a:ext cx="1051560" cy="201168"/>
          </a:xfrm>
          <a:prstGeom prst="rect">
            <a:avLst/>
          </a:prstGeom>
          <a:noFill/>
          <a:ln/>
        </p:spPr>
        <p:txBody>
          <a:bodyPr wrap="square" lIns="0" tIns="0" rIns="0" bIns="0" rtlCol="0" anchor="ctr"/>
          <a:lstStyle/>
          <a:p>
            <a:pPr indent="0" marL="0">
              <a:buNone/>
            </a:pPr>
            <a:r>
              <a:rPr lang="en-US" sz="1200" b="1" dirty="0">
                <a:solidFill>
                  <a:srgbClr val="0B1F3A"/>
                </a:solidFill>
              </a:rPr>
              <a:t>Risks</a:t>
            </a:r>
            <a:endParaRPr lang="en-US" sz="1200" dirty="0"/>
          </a:p>
        </p:txBody>
      </p:sp>
      <p:sp>
        <p:nvSpPr>
          <p:cNvPr id="19" name="Shape 17"/>
          <p:cNvSpPr/>
          <p:nvPr/>
        </p:nvSpPr>
        <p:spPr>
          <a:xfrm>
            <a:off x="7315200" y="2999232"/>
            <a:ext cx="365760" cy="0"/>
          </a:xfrm>
          <a:prstGeom prst="line">
            <a:avLst/>
          </a:prstGeom>
          <a:noFill/>
          <a:ln w="17780">
            <a:solidFill>
              <a:srgbClr val="58708E"/>
            </a:solidFill>
            <a:prstDash val="solid"/>
            <a:headEnd type="none"/>
            <a:tailEnd type="triangle"/>
          </a:ln>
        </p:spPr>
      </p:sp>
      <p:sp>
        <p:nvSpPr>
          <p:cNvPr id="20" name="Shape 18"/>
          <p:cNvSpPr/>
          <p:nvPr/>
        </p:nvSpPr>
        <p:spPr>
          <a:xfrm>
            <a:off x="7909560" y="2834640"/>
            <a:ext cx="329184" cy="329184"/>
          </a:xfrm>
          <a:prstGeom prst="ellipse">
            <a:avLst/>
          </a:prstGeom>
          <a:solidFill>
            <a:srgbClr val="5E35B1"/>
          </a:solidFill>
          <a:ln w="12700">
            <a:solidFill>
              <a:srgbClr val="5E35B1"/>
            </a:solidFill>
            <a:prstDash val="solid"/>
          </a:ln>
        </p:spPr>
      </p:sp>
      <p:sp>
        <p:nvSpPr>
          <p:cNvPr id="21" name="Text 19"/>
          <p:cNvSpPr/>
          <p:nvPr/>
        </p:nvSpPr>
        <p:spPr>
          <a:xfrm>
            <a:off x="7909560" y="2894076"/>
            <a:ext cx="329184" cy="18288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2" name="Text 20"/>
          <p:cNvSpPr/>
          <p:nvPr/>
        </p:nvSpPr>
        <p:spPr>
          <a:xfrm>
            <a:off x="8302752" y="2889504"/>
            <a:ext cx="1051560" cy="201168"/>
          </a:xfrm>
          <a:prstGeom prst="rect">
            <a:avLst/>
          </a:prstGeom>
          <a:noFill/>
          <a:ln/>
        </p:spPr>
        <p:txBody>
          <a:bodyPr wrap="square" lIns="0" tIns="0" rIns="0" bIns="0" rtlCol="0" anchor="ctr"/>
          <a:lstStyle/>
          <a:p>
            <a:pPr indent="0" marL="0">
              <a:buNone/>
            </a:pPr>
            <a:r>
              <a:rPr lang="en-US" sz="1200" b="1" dirty="0">
                <a:solidFill>
                  <a:srgbClr val="0B1F3A"/>
                </a:solidFill>
              </a:rPr>
              <a:t>Requirements</a:t>
            </a:r>
            <a:endParaRPr lang="en-US" sz="1200" dirty="0"/>
          </a:p>
        </p:txBody>
      </p:sp>
      <p:sp>
        <p:nvSpPr>
          <p:cNvPr id="23" name="Shape 21"/>
          <p:cNvSpPr/>
          <p:nvPr/>
        </p:nvSpPr>
        <p:spPr>
          <a:xfrm>
            <a:off x="9144000" y="2999232"/>
            <a:ext cx="365760" cy="0"/>
          </a:xfrm>
          <a:prstGeom prst="line">
            <a:avLst/>
          </a:prstGeom>
          <a:noFill/>
          <a:ln w="17780">
            <a:solidFill>
              <a:srgbClr val="58708E"/>
            </a:solidFill>
            <a:prstDash val="solid"/>
            <a:headEnd type="none"/>
            <a:tailEnd type="triangle"/>
          </a:ln>
        </p:spPr>
      </p:sp>
      <p:sp>
        <p:nvSpPr>
          <p:cNvPr id="24" name="Shape 22"/>
          <p:cNvSpPr/>
          <p:nvPr/>
        </p:nvSpPr>
        <p:spPr>
          <a:xfrm>
            <a:off x="9738360" y="2834640"/>
            <a:ext cx="329184" cy="329184"/>
          </a:xfrm>
          <a:prstGeom prst="ellipse">
            <a:avLst/>
          </a:prstGeom>
          <a:solidFill>
            <a:srgbClr val="008C95"/>
          </a:solidFill>
          <a:ln w="12700">
            <a:solidFill>
              <a:srgbClr val="008C95"/>
            </a:solidFill>
            <a:prstDash val="solid"/>
          </a:ln>
        </p:spPr>
      </p:sp>
      <p:sp>
        <p:nvSpPr>
          <p:cNvPr id="25" name="Text 23"/>
          <p:cNvSpPr/>
          <p:nvPr/>
        </p:nvSpPr>
        <p:spPr>
          <a:xfrm>
            <a:off x="9738360" y="2894076"/>
            <a:ext cx="329184" cy="182880"/>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6" name="Text 24"/>
          <p:cNvSpPr/>
          <p:nvPr/>
        </p:nvSpPr>
        <p:spPr>
          <a:xfrm>
            <a:off x="10131552" y="2889504"/>
            <a:ext cx="1051560" cy="201168"/>
          </a:xfrm>
          <a:prstGeom prst="rect">
            <a:avLst/>
          </a:prstGeom>
          <a:noFill/>
          <a:ln/>
        </p:spPr>
        <p:txBody>
          <a:bodyPr wrap="square" lIns="0" tIns="0" rIns="0" bIns="0" rtlCol="0" anchor="ctr"/>
          <a:lstStyle/>
          <a:p>
            <a:pPr indent="0" marL="0">
              <a:buNone/>
            </a:pPr>
            <a:r>
              <a:rPr lang="en-US" sz="1200" b="1" dirty="0">
                <a:solidFill>
                  <a:srgbClr val="0B1F3A"/>
                </a:solidFill>
              </a:rPr>
              <a:t>Architecture</a:t>
            </a:r>
            <a:endParaRPr lang="en-US" sz="1200" dirty="0"/>
          </a:p>
        </p:txBody>
      </p:sp>
      <p:sp>
        <p:nvSpPr>
          <p:cNvPr id="27" name="Shape 25"/>
          <p:cNvSpPr/>
          <p:nvPr/>
        </p:nvSpPr>
        <p:spPr>
          <a:xfrm>
            <a:off x="685800" y="4069080"/>
            <a:ext cx="5303520" cy="1051560"/>
          </a:xfrm>
          <a:prstGeom prst="roundRect">
            <a:avLst>
              <a:gd name="adj" fmla="val 6957"/>
            </a:avLst>
          </a:prstGeom>
          <a:solidFill>
            <a:srgbClr val="DCEBFA"/>
          </a:solidFill>
          <a:ln w="15240">
            <a:solidFill>
              <a:srgbClr val="1F4E79"/>
            </a:solidFill>
            <a:prstDash val="solid"/>
          </a:ln>
        </p:spPr>
      </p:sp>
      <p:sp>
        <p:nvSpPr>
          <p:cNvPr id="28" name="Text 26"/>
          <p:cNvSpPr/>
          <p:nvPr/>
        </p:nvSpPr>
        <p:spPr>
          <a:xfrm>
            <a:off x="832104" y="4197096"/>
            <a:ext cx="5010912" cy="237744"/>
          </a:xfrm>
          <a:prstGeom prst="rect">
            <a:avLst/>
          </a:prstGeom>
          <a:noFill/>
          <a:ln/>
        </p:spPr>
        <p:txBody>
          <a:bodyPr wrap="square" lIns="0" tIns="0" rIns="0" bIns="0" rtlCol="0" anchor="ctr"/>
          <a:lstStyle/>
          <a:p>
            <a:pPr indent="0" marL="0">
              <a:buNone/>
            </a:pPr>
            <a:r>
              <a:rPr lang="en-US" sz="1400" b="1" dirty="0">
                <a:solidFill>
                  <a:srgbClr val="0B1F3A"/>
                </a:solidFill>
              </a:rPr>
              <a:t>Core argument</a:t>
            </a:r>
            <a:endParaRPr lang="en-US" sz="1400" dirty="0"/>
          </a:p>
        </p:txBody>
      </p:sp>
      <p:sp>
        <p:nvSpPr>
          <p:cNvPr id="29" name="Text 27"/>
          <p:cNvSpPr/>
          <p:nvPr/>
        </p:nvSpPr>
        <p:spPr>
          <a:xfrm>
            <a:off x="832104" y="4544568"/>
            <a:ext cx="5010912" cy="52120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This is not “I built a chatbot”. It is “I designed a technical decision-support system around real user jobs, constraints and failure modes.”</a:t>
            </a:r>
            <a:endParaRPr lang="en-US" sz="1060" dirty="0"/>
          </a:p>
        </p:txBody>
      </p:sp>
      <p:sp>
        <p:nvSpPr>
          <p:cNvPr id="30" name="Shape 28"/>
          <p:cNvSpPr/>
          <p:nvPr/>
        </p:nvSpPr>
        <p:spPr>
          <a:xfrm>
            <a:off x="6400800" y="4069080"/>
            <a:ext cx="5029200" cy="1051560"/>
          </a:xfrm>
          <a:prstGeom prst="roundRect">
            <a:avLst>
              <a:gd name="adj" fmla="val 6957"/>
            </a:avLst>
          </a:prstGeom>
          <a:solidFill>
            <a:srgbClr val="DCF5E2"/>
          </a:solidFill>
          <a:ln w="15240">
            <a:solidFill>
              <a:srgbClr val="2E7D32"/>
            </a:solidFill>
            <a:prstDash val="solid"/>
          </a:ln>
        </p:spPr>
      </p:sp>
      <p:sp>
        <p:nvSpPr>
          <p:cNvPr id="31" name="Text 29"/>
          <p:cNvSpPr/>
          <p:nvPr/>
        </p:nvSpPr>
        <p:spPr>
          <a:xfrm>
            <a:off x="6547104" y="4197096"/>
            <a:ext cx="4736592" cy="237744"/>
          </a:xfrm>
          <a:prstGeom prst="rect">
            <a:avLst/>
          </a:prstGeom>
          <a:noFill/>
          <a:ln/>
        </p:spPr>
        <p:txBody>
          <a:bodyPr wrap="square" lIns="0" tIns="0" rIns="0" bIns="0" rtlCol="0" anchor="ctr"/>
          <a:lstStyle/>
          <a:p>
            <a:pPr indent="0" marL="0">
              <a:buNone/>
            </a:pPr>
            <a:r>
              <a:rPr lang="en-US" sz="1400" b="1" dirty="0">
                <a:solidFill>
                  <a:srgbClr val="0B1F3A"/>
                </a:solidFill>
              </a:rPr>
              <a:t>What the deck proves</a:t>
            </a:r>
            <a:endParaRPr lang="en-US" sz="1400" dirty="0"/>
          </a:p>
        </p:txBody>
      </p:sp>
      <p:sp>
        <p:nvSpPr>
          <p:cNvPr id="32" name="Text 30"/>
          <p:cNvSpPr/>
          <p:nvPr/>
        </p:nvSpPr>
        <p:spPr>
          <a:xfrm>
            <a:off x="6547104" y="4544568"/>
            <a:ext cx="4736592" cy="52120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Each major architecture decision is connected back to a user segment, query archetype, risk or operational constraint.</a:t>
            </a:r>
            <a:endParaRPr lang="en-US" sz="1060" dirty="0"/>
          </a:p>
        </p:txBody>
      </p:sp>
      <p:sp>
        <p:nvSpPr>
          <p:cNvPr id="33" name="Shape 31"/>
          <p:cNvSpPr/>
          <p:nvPr/>
        </p:nvSpPr>
        <p:spPr>
          <a:xfrm>
            <a:off x="411480" y="6565392"/>
            <a:ext cx="11338560" cy="0"/>
          </a:xfrm>
          <a:prstGeom prst="line">
            <a:avLst/>
          </a:prstGeom>
          <a:noFill/>
          <a:ln w="8890">
            <a:solidFill>
              <a:srgbClr val="CBD5E1"/>
            </a:solidFill>
            <a:prstDash val="solid"/>
          </a:ln>
        </p:spPr>
      </p:sp>
      <p:sp>
        <p:nvSpPr>
          <p:cNvPr id="34" name="Text 32"/>
          <p:cNvSpPr/>
          <p:nvPr/>
        </p:nvSpPr>
        <p:spPr>
          <a:xfrm>
            <a:off x="457200" y="6611112"/>
            <a:ext cx="6858000" cy="164592"/>
          </a:xfrm>
          <a:prstGeom prst="rect">
            <a:avLst/>
          </a:prstGeom>
          <a:noFill/>
          <a:ln/>
        </p:spPr>
        <p:txBody>
          <a:bodyPr wrap="square" lIns="0" tIns="0" rIns="0" bIns="0" rtlCol="0" anchor="ctr"/>
          <a:lstStyle/>
          <a:p>
            <a:pPr indent="0" marL="0">
              <a:buNone/>
            </a:pPr>
            <a:r>
              <a:rPr lang="en-US" sz="750" dirty="0">
                <a:solidFill>
                  <a:srgbClr val="58708E"/>
                </a:solidFill>
              </a:rPr>
              <a:t>Lime Green Technical Knowledge Assistant · user jobs → risks → architecture</a:t>
            </a:r>
            <a:endParaRPr lang="en-US" sz="750" dirty="0"/>
          </a:p>
        </p:txBody>
      </p:sp>
      <p:sp>
        <p:nvSpPr>
          <p:cNvPr id="35" name="Text 33"/>
          <p:cNvSpPr/>
          <p:nvPr/>
        </p:nvSpPr>
        <p:spPr>
          <a:xfrm>
            <a:off x="11430000" y="6601968"/>
            <a:ext cx="274320" cy="164592"/>
          </a:xfrm>
          <a:prstGeom prst="rect">
            <a:avLst/>
          </a:prstGeom>
          <a:noFill/>
          <a:ln/>
        </p:spPr>
        <p:txBody>
          <a:bodyPr wrap="square" lIns="0" tIns="0" rIns="0" bIns="0" rtlCol="0" anchor="ctr"/>
          <a:lstStyle/>
          <a:p>
            <a:pPr algn="r" indent="0" marL="0">
              <a:buNone/>
            </a:pPr>
            <a:r>
              <a:rPr lang="en-US" sz="800" dirty="0">
                <a:solidFill>
                  <a:srgbClr val="58708E"/>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292608"/>
            <a:ext cx="11338560" cy="502920"/>
          </a:xfrm>
          <a:prstGeom prst="rect">
            <a:avLst/>
          </a:prstGeom>
          <a:noFill/>
          <a:ln/>
        </p:spPr>
        <p:txBody>
          <a:bodyPr wrap="square" lIns="0" tIns="0" rIns="0" bIns="0" rtlCol="0" anchor="ctr"/>
          <a:lstStyle/>
          <a:p>
            <a:pPr indent="0" marL="0">
              <a:buNone/>
            </a:pPr>
            <a:r>
              <a:rPr lang="en-US" sz="3000" b="1" dirty="0">
                <a:solidFill>
                  <a:srgbClr val="0B1F3A"/>
                </a:solidFill>
                <a:latin typeface="Aptos Display" pitchFamily="34" charset="0"/>
                <a:ea typeface="Aptos Display" pitchFamily="34" charset="-122"/>
                <a:cs typeface="Aptos Display" pitchFamily="34" charset="-120"/>
              </a:rPr>
              <a:t>1 · Who the assistant serves</a:t>
            </a:r>
            <a:endParaRPr lang="en-US" sz="3000" dirty="0"/>
          </a:p>
        </p:txBody>
      </p:sp>
      <p:sp>
        <p:nvSpPr>
          <p:cNvPr id="3" name="Text 1"/>
          <p:cNvSpPr/>
          <p:nvPr/>
        </p:nvSpPr>
        <p:spPr>
          <a:xfrm>
            <a:off x="438912" y="822960"/>
            <a:ext cx="11155680" cy="301752"/>
          </a:xfrm>
          <a:prstGeom prst="rect">
            <a:avLst/>
          </a:prstGeom>
          <a:noFill/>
          <a:ln/>
        </p:spPr>
        <p:txBody>
          <a:bodyPr wrap="square" lIns="0" tIns="0" rIns="0" bIns="0" rtlCol="0" anchor="ctr"/>
          <a:lstStyle/>
          <a:p>
            <a:pPr indent="0" marL="0">
              <a:buNone/>
            </a:pPr>
            <a:r>
              <a:rPr lang="en-US" sz="1350" dirty="0">
                <a:solidFill>
                  <a:srgbClr val="58708E"/>
                </a:solidFill>
              </a:rPr>
              <a:t>Different user groups need different detail, speed and safeguards.</a:t>
            </a:r>
            <a:endParaRPr lang="en-US" sz="1350" dirty="0"/>
          </a:p>
        </p:txBody>
      </p:sp>
      <p:sp>
        <p:nvSpPr>
          <p:cNvPr id="4" name="Shape 2"/>
          <p:cNvSpPr/>
          <p:nvPr/>
        </p:nvSpPr>
        <p:spPr>
          <a:xfrm>
            <a:off x="411480" y="1143000"/>
            <a:ext cx="11338560" cy="0"/>
          </a:xfrm>
          <a:prstGeom prst="line">
            <a:avLst/>
          </a:prstGeom>
          <a:noFill/>
          <a:ln w="12700">
            <a:solidFill>
              <a:srgbClr val="CBD5E1"/>
            </a:solidFill>
            <a:prstDash val="solid"/>
          </a:ln>
        </p:spPr>
      </p:sp>
      <p:sp>
        <p:nvSpPr>
          <p:cNvPr id="5" name="Shape 3"/>
          <p:cNvSpPr/>
          <p:nvPr/>
        </p:nvSpPr>
        <p:spPr>
          <a:xfrm>
            <a:off x="502920" y="1508760"/>
            <a:ext cx="3429000" cy="2971800"/>
          </a:xfrm>
          <a:prstGeom prst="roundRect">
            <a:avLst>
              <a:gd name="adj" fmla="val 2462"/>
            </a:avLst>
          </a:prstGeom>
          <a:solidFill>
            <a:srgbClr val="ECFDF3"/>
          </a:solidFill>
          <a:ln w="15240">
            <a:solidFill>
              <a:srgbClr val="2E7D32"/>
            </a:solidFill>
            <a:prstDash val="solid"/>
          </a:ln>
        </p:spPr>
      </p:sp>
      <p:sp>
        <p:nvSpPr>
          <p:cNvPr id="6" name="Text 4"/>
          <p:cNvSpPr/>
          <p:nvPr/>
        </p:nvSpPr>
        <p:spPr>
          <a:xfrm>
            <a:off x="649224" y="1636776"/>
            <a:ext cx="3136392" cy="237744"/>
          </a:xfrm>
          <a:prstGeom prst="rect">
            <a:avLst/>
          </a:prstGeom>
          <a:noFill/>
          <a:ln/>
        </p:spPr>
        <p:txBody>
          <a:bodyPr wrap="square" lIns="0" tIns="0" rIns="0" bIns="0" rtlCol="0" anchor="ctr"/>
          <a:lstStyle/>
          <a:p>
            <a:pPr indent="0" marL="0">
              <a:buNone/>
            </a:pPr>
            <a:r>
              <a:rPr lang="en-US" sz="1400" b="1" dirty="0">
                <a:solidFill>
                  <a:srgbClr val="14532D"/>
                </a:solidFill>
              </a:rPr>
              <a:t>Public customer / homeowner</a:t>
            </a:r>
            <a:endParaRPr lang="en-US" sz="1400" dirty="0"/>
          </a:p>
        </p:txBody>
      </p:sp>
      <p:sp>
        <p:nvSpPr>
          <p:cNvPr id="7" name="Text 5"/>
          <p:cNvSpPr/>
          <p:nvPr/>
        </p:nvSpPr>
        <p:spPr>
          <a:xfrm>
            <a:off x="649224" y="1984248"/>
            <a:ext cx="3136392" cy="244144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Usually anonymous and less technical.</a:t>
            </a:r>
            <a:endParaRPr lang="en-US" sz="1060" dirty="0"/>
          </a:p>
          <a:p>
            <a:pPr indent="0" marL="0">
              <a:buNone/>
            </a:pPr>
            <a:endParaRPr lang="en-US" sz="1060" dirty="0"/>
          </a:p>
          <a:p>
            <a:pPr indent="0" marL="0">
              <a:buNone/>
            </a:pPr>
            <a:r>
              <a:rPr lang="en-US" sz="1060" dirty="0">
                <a:solidFill>
                  <a:srgbClr val="24364B"/>
                </a:solidFill>
              </a:rPr>
              <a:t>Jobs: understand the issue, choose a suitable direction, avoid an unsuitable product.</a:t>
            </a:r>
            <a:endParaRPr lang="en-US" sz="1060" dirty="0"/>
          </a:p>
          <a:p>
            <a:pPr indent="0" marL="0">
              <a:buNone/>
            </a:pPr>
            <a:endParaRPr lang="en-US" sz="1060" dirty="0"/>
          </a:p>
          <a:p>
            <a:pPr indent="0" marL="0">
              <a:buNone/>
            </a:pPr>
            <a:r>
              <a:rPr lang="en-US" sz="1060" dirty="0">
                <a:solidFill>
                  <a:srgbClr val="24364B"/>
                </a:solidFill>
              </a:rPr>
              <a:t>Risk: misunderstands substrate, terminology or limitations.</a:t>
            </a:r>
            <a:endParaRPr lang="en-US" sz="1060" dirty="0"/>
          </a:p>
        </p:txBody>
      </p:sp>
      <p:sp>
        <p:nvSpPr>
          <p:cNvPr id="8" name="Shape 6"/>
          <p:cNvSpPr/>
          <p:nvPr/>
        </p:nvSpPr>
        <p:spPr>
          <a:xfrm>
            <a:off x="4389120" y="1508760"/>
            <a:ext cx="3429000" cy="2971800"/>
          </a:xfrm>
          <a:prstGeom prst="roundRect">
            <a:avLst>
              <a:gd name="adj" fmla="val 2462"/>
            </a:avLst>
          </a:prstGeom>
          <a:solidFill>
            <a:srgbClr val="EFF6FF"/>
          </a:solidFill>
          <a:ln w="15240">
            <a:solidFill>
              <a:srgbClr val="1F4E79"/>
            </a:solidFill>
            <a:prstDash val="solid"/>
          </a:ln>
        </p:spPr>
      </p:sp>
      <p:sp>
        <p:nvSpPr>
          <p:cNvPr id="9" name="Text 7"/>
          <p:cNvSpPr/>
          <p:nvPr/>
        </p:nvSpPr>
        <p:spPr>
          <a:xfrm>
            <a:off x="4535424" y="1636776"/>
            <a:ext cx="3136392" cy="237744"/>
          </a:xfrm>
          <a:prstGeom prst="rect">
            <a:avLst/>
          </a:prstGeom>
          <a:noFill/>
          <a:ln/>
        </p:spPr>
        <p:txBody>
          <a:bodyPr wrap="square" lIns="0" tIns="0" rIns="0" bIns="0" rtlCol="0" anchor="ctr"/>
          <a:lstStyle/>
          <a:p>
            <a:pPr indent="0" marL="0">
              <a:buNone/>
            </a:pPr>
            <a:r>
              <a:rPr lang="en-US" sz="1400" b="1" dirty="0">
                <a:solidFill>
                  <a:srgbClr val="123C69"/>
                </a:solidFill>
              </a:rPr>
              <a:t>Trade user / contractor</a:t>
            </a:r>
            <a:endParaRPr lang="en-US" sz="1400" dirty="0"/>
          </a:p>
        </p:txBody>
      </p:sp>
      <p:sp>
        <p:nvSpPr>
          <p:cNvPr id="10" name="Text 8"/>
          <p:cNvSpPr/>
          <p:nvPr/>
        </p:nvSpPr>
        <p:spPr>
          <a:xfrm>
            <a:off x="4535424" y="1984248"/>
            <a:ext cx="3136392" cy="244144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More task-focused and time-sensitive.</a:t>
            </a:r>
            <a:endParaRPr lang="en-US" sz="1060" dirty="0"/>
          </a:p>
          <a:p>
            <a:pPr indent="0" marL="0">
              <a:buNone/>
            </a:pPr>
            <a:endParaRPr lang="en-US" sz="1060" dirty="0"/>
          </a:p>
          <a:p>
            <a:pPr indent="0" marL="0">
              <a:buNone/>
            </a:pPr>
            <a:r>
              <a:rPr lang="en-US" sz="1060" dirty="0">
                <a:solidFill>
                  <a:srgbClr val="24364B"/>
                </a:solidFill>
              </a:rPr>
              <a:t>Jobs: find exact coverage, preparation, compatibility and application details quickly.</a:t>
            </a:r>
            <a:endParaRPr lang="en-US" sz="1060" dirty="0"/>
          </a:p>
          <a:p>
            <a:pPr indent="0" marL="0">
              <a:buNone/>
            </a:pPr>
            <a:endParaRPr lang="en-US" sz="1060" dirty="0"/>
          </a:p>
          <a:p>
            <a:pPr indent="0" marL="0">
              <a:buNone/>
            </a:pPr>
            <a:r>
              <a:rPr lang="en-US" sz="1060" dirty="0">
                <a:solidFill>
                  <a:srgbClr val="24364B"/>
                </a:solidFill>
              </a:rPr>
              <a:t>Risk: small wording drift creates real site errors.</a:t>
            </a:r>
            <a:endParaRPr lang="en-US" sz="1060" dirty="0"/>
          </a:p>
        </p:txBody>
      </p:sp>
      <p:sp>
        <p:nvSpPr>
          <p:cNvPr id="11" name="Shape 9"/>
          <p:cNvSpPr/>
          <p:nvPr/>
        </p:nvSpPr>
        <p:spPr>
          <a:xfrm>
            <a:off x="8275320" y="1508760"/>
            <a:ext cx="3429000" cy="2971800"/>
          </a:xfrm>
          <a:prstGeom prst="roundRect">
            <a:avLst>
              <a:gd name="adj" fmla="val 2462"/>
            </a:avLst>
          </a:prstGeom>
          <a:solidFill>
            <a:srgbClr val="F3E8FF"/>
          </a:solidFill>
          <a:ln w="15240">
            <a:solidFill>
              <a:srgbClr val="5E35B1"/>
            </a:solidFill>
            <a:prstDash val="solid"/>
          </a:ln>
        </p:spPr>
      </p:sp>
      <p:sp>
        <p:nvSpPr>
          <p:cNvPr id="12" name="Text 10"/>
          <p:cNvSpPr/>
          <p:nvPr/>
        </p:nvSpPr>
        <p:spPr>
          <a:xfrm>
            <a:off x="8421624" y="1636776"/>
            <a:ext cx="3136392" cy="237744"/>
          </a:xfrm>
          <a:prstGeom prst="rect">
            <a:avLst/>
          </a:prstGeom>
          <a:noFill/>
          <a:ln/>
        </p:spPr>
        <p:txBody>
          <a:bodyPr wrap="square" lIns="0" tIns="0" rIns="0" bIns="0" rtlCol="0" anchor="ctr"/>
          <a:lstStyle/>
          <a:p>
            <a:pPr indent="0" marL="0">
              <a:buNone/>
            </a:pPr>
            <a:r>
              <a:rPr lang="en-US" sz="1400" b="1" dirty="0">
                <a:solidFill>
                  <a:srgbClr val="4C1D95"/>
                </a:solidFill>
              </a:rPr>
              <a:t>Staff / technical advisor</a:t>
            </a:r>
            <a:endParaRPr lang="en-US" sz="1400" dirty="0"/>
          </a:p>
        </p:txBody>
      </p:sp>
      <p:sp>
        <p:nvSpPr>
          <p:cNvPr id="13" name="Text 11"/>
          <p:cNvSpPr/>
          <p:nvPr/>
        </p:nvSpPr>
        <p:spPr>
          <a:xfrm>
            <a:off x="8421624" y="1984248"/>
            <a:ext cx="3136392" cy="244144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Handles escalations and edge cases.</a:t>
            </a:r>
            <a:endParaRPr lang="en-US" sz="1060" dirty="0"/>
          </a:p>
          <a:p>
            <a:pPr indent="0" marL="0">
              <a:buNone/>
            </a:pPr>
            <a:endParaRPr lang="en-US" sz="1060" dirty="0"/>
          </a:p>
          <a:p>
            <a:pPr indent="0" marL="0">
              <a:buNone/>
            </a:pPr>
            <a:r>
              <a:rPr lang="en-US" sz="1060" dirty="0">
                <a:solidFill>
                  <a:srgbClr val="24364B"/>
                </a:solidFill>
              </a:rPr>
              <a:t>Jobs: answer consistently, reuse approved knowledge, hand off judgement-heavy cases.</a:t>
            </a:r>
            <a:endParaRPr lang="en-US" sz="1060" dirty="0"/>
          </a:p>
          <a:p>
            <a:pPr indent="0" marL="0">
              <a:buNone/>
            </a:pPr>
            <a:endParaRPr lang="en-US" sz="1060" dirty="0"/>
          </a:p>
          <a:p>
            <a:pPr indent="0" marL="0">
              <a:buNone/>
            </a:pPr>
            <a:r>
              <a:rPr lang="en-US" sz="1060" dirty="0">
                <a:solidFill>
                  <a:srgbClr val="24364B"/>
                </a:solidFill>
              </a:rPr>
              <a:t>Risk: inconsistent advice or unsupported diagnosis.</a:t>
            </a:r>
            <a:endParaRPr lang="en-US" sz="1060" dirty="0"/>
          </a:p>
        </p:txBody>
      </p:sp>
      <p:sp>
        <p:nvSpPr>
          <p:cNvPr id="14" name="Shape 12"/>
          <p:cNvSpPr/>
          <p:nvPr/>
        </p:nvSpPr>
        <p:spPr>
          <a:xfrm>
            <a:off x="822960" y="5074920"/>
            <a:ext cx="2377440" cy="438912"/>
          </a:xfrm>
          <a:prstGeom prst="roundRect">
            <a:avLst>
              <a:gd name="adj" fmla="val 33333"/>
            </a:avLst>
          </a:prstGeom>
          <a:solidFill>
            <a:srgbClr val="DCF5E2"/>
          </a:solidFill>
          <a:ln w="12700">
            <a:solidFill>
              <a:srgbClr val="2E7D32"/>
            </a:solidFill>
            <a:prstDash val="solid"/>
          </a:ln>
        </p:spPr>
      </p:sp>
      <p:sp>
        <p:nvSpPr>
          <p:cNvPr id="15" name="Text 13"/>
          <p:cNvSpPr/>
          <p:nvPr/>
        </p:nvSpPr>
        <p:spPr>
          <a:xfrm>
            <a:off x="896112" y="5129784"/>
            <a:ext cx="2231136" cy="347472"/>
          </a:xfrm>
          <a:prstGeom prst="rect">
            <a:avLst/>
          </a:prstGeom>
          <a:noFill/>
          <a:ln/>
        </p:spPr>
        <p:txBody>
          <a:bodyPr wrap="square" lIns="0" tIns="0" rIns="0" bIns="0" rtlCol="0" anchor="ctr">
            <a:normAutofit/>
          </a:bodyPr>
          <a:lstStyle/>
          <a:p>
            <a:pPr algn="ctr" indent="0" marL="0">
              <a:buNone/>
            </a:pPr>
            <a:r>
              <a:rPr lang="en-US" sz="1020" b="1" dirty="0">
                <a:solidFill>
                  <a:srgbClr val="14532D"/>
                </a:solidFill>
              </a:rPr>
              <a:t>simple explanation</a:t>
            </a:r>
            <a:endParaRPr lang="en-US" sz="1020" dirty="0"/>
          </a:p>
        </p:txBody>
      </p:sp>
      <p:sp>
        <p:nvSpPr>
          <p:cNvPr id="16" name="Shape 14"/>
          <p:cNvSpPr/>
          <p:nvPr/>
        </p:nvSpPr>
        <p:spPr>
          <a:xfrm>
            <a:off x="4892040" y="5074920"/>
            <a:ext cx="2011680" cy="438912"/>
          </a:xfrm>
          <a:prstGeom prst="roundRect">
            <a:avLst>
              <a:gd name="adj" fmla="val 33333"/>
            </a:avLst>
          </a:prstGeom>
          <a:solidFill>
            <a:srgbClr val="DCEBFA"/>
          </a:solidFill>
          <a:ln w="12700">
            <a:solidFill>
              <a:srgbClr val="1F4E79"/>
            </a:solidFill>
            <a:prstDash val="solid"/>
          </a:ln>
        </p:spPr>
      </p:sp>
      <p:sp>
        <p:nvSpPr>
          <p:cNvPr id="17" name="Text 15"/>
          <p:cNvSpPr/>
          <p:nvPr/>
        </p:nvSpPr>
        <p:spPr>
          <a:xfrm>
            <a:off x="4965192" y="5129784"/>
            <a:ext cx="1865376" cy="347472"/>
          </a:xfrm>
          <a:prstGeom prst="rect">
            <a:avLst/>
          </a:prstGeom>
          <a:noFill/>
          <a:ln/>
        </p:spPr>
        <p:txBody>
          <a:bodyPr wrap="square" lIns="0" tIns="0" rIns="0" bIns="0" rtlCol="0" anchor="ctr">
            <a:normAutofit/>
          </a:bodyPr>
          <a:lstStyle/>
          <a:p>
            <a:pPr algn="ctr" indent="0" marL="0">
              <a:buNone/>
            </a:pPr>
            <a:r>
              <a:rPr lang="en-US" sz="1020" b="1" dirty="0">
                <a:solidFill>
                  <a:srgbClr val="1F4E79"/>
                </a:solidFill>
              </a:rPr>
              <a:t>speed + precision</a:t>
            </a:r>
            <a:endParaRPr lang="en-US" sz="1020" dirty="0"/>
          </a:p>
        </p:txBody>
      </p:sp>
      <p:sp>
        <p:nvSpPr>
          <p:cNvPr id="18" name="Shape 16"/>
          <p:cNvSpPr/>
          <p:nvPr/>
        </p:nvSpPr>
        <p:spPr>
          <a:xfrm>
            <a:off x="8961120" y="5074920"/>
            <a:ext cx="1920240" cy="438912"/>
          </a:xfrm>
          <a:prstGeom prst="roundRect">
            <a:avLst>
              <a:gd name="adj" fmla="val 33333"/>
            </a:avLst>
          </a:prstGeom>
          <a:solidFill>
            <a:srgbClr val="EAE2F8"/>
          </a:solidFill>
          <a:ln w="12700">
            <a:solidFill>
              <a:srgbClr val="5E35B1"/>
            </a:solidFill>
            <a:prstDash val="solid"/>
          </a:ln>
        </p:spPr>
      </p:sp>
      <p:sp>
        <p:nvSpPr>
          <p:cNvPr id="19" name="Text 17"/>
          <p:cNvSpPr/>
          <p:nvPr/>
        </p:nvSpPr>
        <p:spPr>
          <a:xfrm>
            <a:off x="9034272" y="5129784"/>
            <a:ext cx="1773936" cy="347472"/>
          </a:xfrm>
          <a:prstGeom prst="rect">
            <a:avLst/>
          </a:prstGeom>
          <a:noFill/>
          <a:ln/>
        </p:spPr>
        <p:txBody>
          <a:bodyPr wrap="square" lIns="0" tIns="0" rIns="0" bIns="0" rtlCol="0" anchor="ctr">
            <a:normAutofit/>
          </a:bodyPr>
          <a:lstStyle/>
          <a:p>
            <a:pPr algn="ctr" indent="0" marL="0">
              <a:buNone/>
            </a:pPr>
            <a:r>
              <a:rPr lang="en-US" sz="1020" b="1" dirty="0">
                <a:solidFill>
                  <a:srgbClr val="5E35B1"/>
                </a:solidFill>
              </a:rPr>
              <a:t>governance</a:t>
            </a:r>
            <a:endParaRPr lang="en-US" sz="1020" dirty="0"/>
          </a:p>
        </p:txBody>
      </p:sp>
      <p:sp>
        <p:nvSpPr>
          <p:cNvPr id="20" name="Shape 18"/>
          <p:cNvSpPr/>
          <p:nvPr/>
        </p:nvSpPr>
        <p:spPr>
          <a:xfrm>
            <a:off x="411480" y="6565392"/>
            <a:ext cx="11338560" cy="0"/>
          </a:xfrm>
          <a:prstGeom prst="line">
            <a:avLst/>
          </a:prstGeom>
          <a:noFill/>
          <a:ln w="8890">
            <a:solidFill>
              <a:srgbClr val="CBD5E1"/>
            </a:solidFill>
            <a:prstDash val="solid"/>
          </a:ln>
        </p:spPr>
      </p:sp>
      <p:sp>
        <p:nvSpPr>
          <p:cNvPr id="21" name="Text 19"/>
          <p:cNvSpPr/>
          <p:nvPr/>
        </p:nvSpPr>
        <p:spPr>
          <a:xfrm>
            <a:off x="457200" y="6611112"/>
            <a:ext cx="6858000" cy="164592"/>
          </a:xfrm>
          <a:prstGeom prst="rect">
            <a:avLst/>
          </a:prstGeom>
          <a:noFill/>
          <a:ln/>
        </p:spPr>
        <p:txBody>
          <a:bodyPr wrap="square" lIns="0" tIns="0" rIns="0" bIns="0" rtlCol="0" anchor="ctr"/>
          <a:lstStyle/>
          <a:p>
            <a:pPr indent="0" marL="0">
              <a:buNone/>
            </a:pPr>
            <a:r>
              <a:rPr lang="en-US" sz="750" dirty="0">
                <a:solidFill>
                  <a:srgbClr val="58708E"/>
                </a:solidFill>
              </a:rPr>
              <a:t>Lime Green Technical Knowledge Assistant · user jobs → risks → architecture</a:t>
            </a:r>
            <a:endParaRPr lang="en-US" sz="750" dirty="0"/>
          </a:p>
        </p:txBody>
      </p:sp>
      <p:sp>
        <p:nvSpPr>
          <p:cNvPr id="22" name="Text 20"/>
          <p:cNvSpPr/>
          <p:nvPr/>
        </p:nvSpPr>
        <p:spPr>
          <a:xfrm>
            <a:off x="11430000" y="6601968"/>
            <a:ext cx="274320" cy="164592"/>
          </a:xfrm>
          <a:prstGeom prst="rect">
            <a:avLst/>
          </a:prstGeom>
          <a:noFill/>
          <a:ln/>
        </p:spPr>
        <p:txBody>
          <a:bodyPr wrap="square" lIns="0" tIns="0" rIns="0" bIns="0" rtlCol="0" anchor="ctr"/>
          <a:lstStyle/>
          <a:p>
            <a:pPr algn="r" indent="0" marL="0">
              <a:buNone/>
            </a:pPr>
            <a:r>
              <a:rPr lang="en-US" sz="800" dirty="0">
                <a:solidFill>
                  <a:srgbClr val="58708E"/>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292608"/>
            <a:ext cx="11338560" cy="502920"/>
          </a:xfrm>
          <a:prstGeom prst="rect">
            <a:avLst/>
          </a:prstGeom>
          <a:noFill/>
          <a:ln/>
        </p:spPr>
        <p:txBody>
          <a:bodyPr wrap="square" lIns="0" tIns="0" rIns="0" bIns="0" rtlCol="0" anchor="ctr"/>
          <a:lstStyle/>
          <a:p>
            <a:pPr indent="0" marL="0">
              <a:buNone/>
            </a:pPr>
            <a:r>
              <a:rPr lang="en-US" sz="3000" b="1" dirty="0">
                <a:solidFill>
                  <a:srgbClr val="0B1F3A"/>
                </a:solidFill>
                <a:latin typeface="Aptos Display" pitchFamily="34" charset="0"/>
                <a:ea typeface="Aptos Display" pitchFamily="34" charset="-122"/>
                <a:cs typeface="Aptos Display" pitchFamily="34" charset="-120"/>
              </a:rPr>
              <a:t>2 · Jobs become query archetypes</a:t>
            </a:r>
            <a:endParaRPr lang="en-US" sz="3000" dirty="0"/>
          </a:p>
        </p:txBody>
      </p:sp>
      <p:sp>
        <p:nvSpPr>
          <p:cNvPr id="3" name="Text 1"/>
          <p:cNvSpPr/>
          <p:nvPr/>
        </p:nvSpPr>
        <p:spPr>
          <a:xfrm>
            <a:off x="438912" y="822960"/>
            <a:ext cx="11155680" cy="301752"/>
          </a:xfrm>
          <a:prstGeom prst="rect">
            <a:avLst/>
          </a:prstGeom>
          <a:noFill/>
          <a:ln/>
        </p:spPr>
        <p:txBody>
          <a:bodyPr wrap="square" lIns="0" tIns="0" rIns="0" bIns="0" rtlCol="0" anchor="ctr"/>
          <a:lstStyle/>
          <a:p>
            <a:pPr indent="0" marL="0">
              <a:buNone/>
            </a:pPr>
            <a:r>
              <a:rPr lang="en-US" sz="1350" dirty="0">
                <a:solidFill>
                  <a:srgbClr val="58708E"/>
                </a:solidFill>
              </a:rPr>
              <a:t>The architecture is driven by the shape of real questions, not a generic chat flow.</a:t>
            </a:r>
            <a:endParaRPr lang="en-US" sz="1350" dirty="0"/>
          </a:p>
        </p:txBody>
      </p:sp>
      <p:sp>
        <p:nvSpPr>
          <p:cNvPr id="4" name="Shape 2"/>
          <p:cNvSpPr/>
          <p:nvPr/>
        </p:nvSpPr>
        <p:spPr>
          <a:xfrm>
            <a:off x="411480" y="1143000"/>
            <a:ext cx="11338560" cy="0"/>
          </a:xfrm>
          <a:prstGeom prst="line">
            <a:avLst/>
          </a:prstGeom>
          <a:noFill/>
          <a:ln w="12700">
            <a:solidFill>
              <a:srgbClr val="CBD5E1"/>
            </a:solidFill>
            <a:prstDash val="solid"/>
          </a:ln>
        </p:spPr>
      </p:sp>
      <p:sp>
        <p:nvSpPr>
          <p:cNvPr id="5" name="Text 3"/>
          <p:cNvSpPr/>
          <p:nvPr/>
        </p:nvSpPr>
        <p:spPr>
          <a:xfrm>
            <a:off x="502920" y="1353312"/>
            <a:ext cx="1097280" cy="182880"/>
          </a:xfrm>
          <a:prstGeom prst="rect">
            <a:avLst/>
          </a:prstGeom>
          <a:noFill/>
          <a:ln/>
        </p:spPr>
        <p:txBody>
          <a:bodyPr wrap="square" lIns="0" tIns="0" rIns="0" bIns="0" rtlCol="0" anchor="ctr"/>
          <a:lstStyle/>
          <a:p>
            <a:pPr indent="0" marL="0">
              <a:buNone/>
            </a:pPr>
            <a:r>
              <a:rPr lang="en-US" sz="1000" b="1" dirty="0">
                <a:solidFill>
                  <a:srgbClr val="58708E"/>
                </a:solidFill>
              </a:rPr>
              <a:t>Job</a:t>
            </a:r>
            <a:endParaRPr lang="en-US" sz="1000" dirty="0"/>
          </a:p>
        </p:txBody>
      </p:sp>
      <p:sp>
        <p:nvSpPr>
          <p:cNvPr id="6" name="Text 4"/>
          <p:cNvSpPr/>
          <p:nvPr/>
        </p:nvSpPr>
        <p:spPr>
          <a:xfrm>
            <a:off x="2743200" y="1353312"/>
            <a:ext cx="2468880" cy="182880"/>
          </a:xfrm>
          <a:prstGeom prst="rect">
            <a:avLst/>
          </a:prstGeom>
          <a:noFill/>
          <a:ln/>
        </p:spPr>
        <p:txBody>
          <a:bodyPr wrap="square" lIns="0" tIns="0" rIns="0" bIns="0" rtlCol="0" anchor="ctr"/>
          <a:lstStyle/>
          <a:p>
            <a:pPr indent="0" marL="0">
              <a:buNone/>
            </a:pPr>
            <a:r>
              <a:rPr lang="en-US" sz="1000" b="1" dirty="0">
                <a:solidFill>
                  <a:srgbClr val="58708E"/>
                </a:solidFill>
              </a:rPr>
              <a:t>Example query</a:t>
            </a:r>
            <a:endParaRPr lang="en-US" sz="1000" dirty="0"/>
          </a:p>
        </p:txBody>
      </p:sp>
      <p:sp>
        <p:nvSpPr>
          <p:cNvPr id="7" name="Text 5"/>
          <p:cNvSpPr/>
          <p:nvPr/>
        </p:nvSpPr>
        <p:spPr>
          <a:xfrm>
            <a:off x="7680960" y="1353312"/>
            <a:ext cx="3200400" cy="182880"/>
          </a:xfrm>
          <a:prstGeom prst="rect">
            <a:avLst/>
          </a:prstGeom>
          <a:noFill/>
          <a:ln/>
        </p:spPr>
        <p:txBody>
          <a:bodyPr wrap="square" lIns="0" tIns="0" rIns="0" bIns="0" rtlCol="0" anchor="ctr"/>
          <a:lstStyle/>
          <a:p>
            <a:pPr indent="0" marL="0">
              <a:buNone/>
            </a:pPr>
            <a:r>
              <a:rPr lang="en-US" sz="1000" b="1" dirty="0">
                <a:solidFill>
                  <a:srgbClr val="58708E"/>
                </a:solidFill>
              </a:rPr>
              <a:t>What the system must understand</a:t>
            </a:r>
            <a:endParaRPr lang="en-US" sz="1000" dirty="0"/>
          </a:p>
        </p:txBody>
      </p:sp>
      <p:sp>
        <p:nvSpPr>
          <p:cNvPr id="8" name="Shape 6"/>
          <p:cNvSpPr/>
          <p:nvPr/>
        </p:nvSpPr>
        <p:spPr>
          <a:xfrm>
            <a:off x="457200" y="1591056"/>
            <a:ext cx="11201400" cy="603504"/>
          </a:xfrm>
          <a:prstGeom prst="roundRect">
            <a:avLst>
              <a:gd name="adj" fmla="val 4545"/>
            </a:avLst>
          </a:prstGeom>
          <a:solidFill>
            <a:srgbClr val="FFFFFF"/>
          </a:solidFill>
          <a:ln w="8890">
            <a:solidFill>
              <a:srgbClr val="E2E8F0"/>
            </a:solidFill>
            <a:prstDash val="solid"/>
          </a:ln>
        </p:spPr>
      </p:sp>
      <p:sp>
        <p:nvSpPr>
          <p:cNvPr id="9" name="Text 7"/>
          <p:cNvSpPr/>
          <p:nvPr/>
        </p:nvSpPr>
        <p:spPr>
          <a:xfrm>
            <a:off x="640080" y="1737360"/>
            <a:ext cx="1005840" cy="164592"/>
          </a:xfrm>
          <a:prstGeom prst="rect">
            <a:avLst/>
          </a:prstGeom>
          <a:noFill/>
          <a:ln/>
        </p:spPr>
        <p:txBody>
          <a:bodyPr wrap="square" lIns="0" tIns="0" rIns="0" bIns="0" rtlCol="0" anchor="ctr"/>
          <a:lstStyle/>
          <a:p>
            <a:pPr indent="0" marL="0">
              <a:buNone/>
            </a:pPr>
            <a:r>
              <a:rPr lang="en-US" sz="1100" b="1" dirty="0">
                <a:solidFill>
                  <a:srgbClr val="0B1F3A"/>
                </a:solidFill>
              </a:rPr>
              <a:t>Select</a:t>
            </a:r>
            <a:endParaRPr lang="en-US" sz="1100" dirty="0"/>
          </a:p>
        </p:txBody>
      </p:sp>
      <p:sp>
        <p:nvSpPr>
          <p:cNvPr id="10" name="Text 8"/>
          <p:cNvSpPr/>
          <p:nvPr/>
        </p:nvSpPr>
        <p:spPr>
          <a:xfrm>
            <a:off x="2286000" y="1691640"/>
            <a:ext cx="4663440" cy="201168"/>
          </a:xfrm>
          <a:prstGeom prst="rect">
            <a:avLst/>
          </a:prstGeom>
          <a:noFill/>
          <a:ln/>
        </p:spPr>
        <p:txBody>
          <a:bodyPr wrap="square" lIns="0" tIns="0" rIns="0" bIns="0" rtlCol="0" anchor="ctr">
            <a:normAutofit/>
          </a:bodyPr>
          <a:lstStyle/>
          <a:p>
            <a:pPr indent="0" marL="0">
              <a:buNone/>
            </a:pPr>
            <a:r>
              <a:rPr lang="en-US" sz="1100" dirty="0">
                <a:solidFill>
                  <a:srgbClr val="0B1F3A"/>
                </a:solidFill>
              </a:rPr>
              <a:t>“What plaster should I use on an old brick wall?”</a:t>
            </a:r>
            <a:endParaRPr lang="en-US" sz="1100" dirty="0"/>
          </a:p>
        </p:txBody>
      </p:sp>
      <p:sp>
        <p:nvSpPr>
          <p:cNvPr id="11" name="Text 9"/>
          <p:cNvSpPr/>
          <p:nvPr/>
        </p:nvSpPr>
        <p:spPr>
          <a:xfrm>
            <a:off x="7360920" y="1691640"/>
            <a:ext cx="3749040" cy="329184"/>
          </a:xfrm>
          <a:prstGeom prst="rect">
            <a:avLst/>
          </a:prstGeom>
          <a:noFill/>
          <a:ln/>
        </p:spPr>
        <p:txBody>
          <a:bodyPr wrap="square" lIns="0" tIns="0" rIns="0" bIns="0" rtlCol="0" anchor="ctr">
            <a:normAutofit/>
          </a:bodyPr>
          <a:lstStyle/>
          <a:p>
            <a:pPr indent="0" marL="0">
              <a:buNone/>
            </a:pPr>
            <a:r>
              <a:rPr lang="en-US" sz="1020" dirty="0">
                <a:solidFill>
                  <a:srgbClr val="24364B"/>
                </a:solidFill>
              </a:rPr>
              <a:t>Needs context before recommending.</a:t>
            </a:r>
            <a:endParaRPr lang="en-US" sz="1020" dirty="0"/>
          </a:p>
        </p:txBody>
      </p:sp>
      <p:sp>
        <p:nvSpPr>
          <p:cNvPr id="12" name="Shape 10"/>
          <p:cNvSpPr/>
          <p:nvPr/>
        </p:nvSpPr>
        <p:spPr>
          <a:xfrm>
            <a:off x="457200" y="2304288"/>
            <a:ext cx="11201400" cy="603504"/>
          </a:xfrm>
          <a:prstGeom prst="roundRect">
            <a:avLst>
              <a:gd name="adj" fmla="val 4545"/>
            </a:avLst>
          </a:prstGeom>
          <a:solidFill>
            <a:srgbClr val="F1F5F9"/>
          </a:solidFill>
          <a:ln w="8890">
            <a:solidFill>
              <a:srgbClr val="E2E8F0"/>
            </a:solidFill>
            <a:prstDash val="solid"/>
          </a:ln>
        </p:spPr>
      </p:sp>
      <p:sp>
        <p:nvSpPr>
          <p:cNvPr id="13" name="Text 11"/>
          <p:cNvSpPr/>
          <p:nvPr/>
        </p:nvSpPr>
        <p:spPr>
          <a:xfrm>
            <a:off x="640080" y="2450592"/>
            <a:ext cx="1005840" cy="164592"/>
          </a:xfrm>
          <a:prstGeom prst="rect">
            <a:avLst/>
          </a:prstGeom>
          <a:noFill/>
          <a:ln/>
        </p:spPr>
        <p:txBody>
          <a:bodyPr wrap="square" lIns="0" tIns="0" rIns="0" bIns="0" rtlCol="0" anchor="ctr"/>
          <a:lstStyle/>
          <a:p>
            <a:pPr indent="0" marL="0">
              <a:buNone/>
            </a:pPr>
            <a:r>
              <a:rPr lang="en-US" sz="1100" b="1" dirty="0">
                <a:solidFill>
                  <a:srgbClr val="0B1F3A"/>
                </a:solidFill>
              </a:rPr>
              <a:t>Verify</a:t>
            </a:r>
            <a:endParaRPr lang="en-US" sz="1100" dirty="0"/>
          </a:p>
        </p:txBody>
      </p:sp>
      <p:sp>
        <p:nvSpPr>
          <p:cNvPr id="14" name="Text 12"/>
          <p:cNvSpPr/>
          <p:nvPr/>
        </p:nvSpPr>
        <p:spPr>
          <a:xfrm>
            <a:off x="2286000" y="2404872"/>
            <a:ext cx="4663440" cy="201168"/>
          </a:xfrm>
          <a:prstGeom prst="rect">
            <a:avLst/>
          </a:prstGeom>
          <a:noFill/>
          <a:ln/>
        </p:spPr>
        <p:txBody>
          <a:bodyPr wrap="square" lIns="0" tIns="0" rIns="0" bIns="0" rtlCol="0" anchor="ctr">
            <a:normAutofit/>
          </a:bodyPr>
          <a:lstStyle/>
          <a:p>
            <a:pPr indent="0" marL="0">
              <a:buNone/>
            </a:pPr>
            <a:r>
              <a:rPr lang="en-US" sz="1100" dirty="0">
                <a:solidFill>
                  <a:srgbClr val="0B1F3A"/>
                </a:solidFill>
              </a:rPr>
              <a:t>“Can I use Product X on MgO board?”</a:t>
            </a:r>
            <a:endParaRPr lang="en-US" sz="1100" dirty="0"/>
          </a:p>
        </p:txBody>
      </p:sp>
      <p:sp>
        <p:nvSpPr>
          <p:cNvPr id="15" name="Text 13"/>
          <p:cNvSpPr/>
          <p:nvPr/>
        </p:nvSpPr>
        <p:spPr>
          <a:xfrm>
            <a:off x="7360920" y="2404872"/>
            <a:ext cx="3749040" cy="329184"/>
          </a:xfrm>
          <a:prstGeom prst="rect">
            <a:avLst/>
          </a:prstGeom>
          <a:noFill/>
          <a:ln/>
        </p:spPr>
        <p:txBody>
          <a:bodyPr wrap="square" lIns="0" tIns="0" rIns="0" bIns="0" rtlCol="0" anchor="ctr">
            <a:normAutofit/>
          </a:bodyPr>
          <a:lstStyle/>
          <a:p>
            <a:pPr indent="0" marL="0">
              <a:buNone/>
            </a:pPr>
            <a:r>
              <a:rPr lang="en-US" sz="1020" dirty="0">
                <a:solidFill>
                  <a:srgbClr val="24364B"/>
                </a:solidFill>
              </a:rPr>
              <a:t>Needs exact compatibility evidence.</a:t>
            </a:r>
            <a:endParaRPr lang="en-US" sz="1020" dirty="0"/>
          </a:p>
        </p:txBody>
      </p:sp>
      <p:sp>
        <p:nvSpPr>
          <p:cNvPr id="16" name="Shape 14"/>
          <p:cNvSpPr/>
          <p:nvPr/>
        </p:nvSpPr>
        <p:spPr>
          <a:xfrm>
            <a:off x="457200" y="3017520"/>
            <a:ext cx="11201400" cy="603504"/>
          </a:xfrm>
          <a:prstGeom prst="roundRect">
            <a:avLst>
              <a:gd name="adj" fmla="val 4545"/>
            </a:avLst>
          </a:prstGeom>
          <a:solidFill>
            <a:srgbClr val="FFFFFF"/>
          </a:solidFill>
          <a:ln w="8890">
            <a:solidFill>
              <a:srgbClr val="E2E8F0"/>
            </a:solidFill>
            <a:prstDash val="solid"/>
          </a:ln>
        </p:spPr>
      </p:sp>
      <p:sp>
        <p:nvSpPr>
          <p:cNvPr id="17" name="Text 15"/>
          <p:cNvSpPr/>
          <p:nvPr/>
        </p:nvSpPr>
        <p:spPr>
          <a:xfrm>
            <a:off x="640080" y="3163824"/>
            <a:ext cx="1005840" cy="164592"/>
          </a:xfrm>
          <a:prstGeom prst="rect">
            <a:avLst/>
          </a:prstGeom>
          <a:noFill/>
          <a:ln/>
        </p:spPr>
        <p:txBody>
          <a:bodyPr wrap="square" lIns="0" tIns="0" rIns="0" bIns="0" rtlCol="0" anchor="ctr"/>
          <a:lstStyle/>
          <a:p>
            <a:pPr indent="0" marL="0">
              <a:buNone/>
            </a:pPr>
            <a:r>
              <a:rPr lang="en-US" sz="1100" b="1" dirty="0">
                <a:solidFill>
                  <a:srgbClr val="0B1F3A"/>
                </a:solidFill>
              </a:rPr>
              <a:t>Look up</a:t>
            </a:r>
            <a:endParaRPr lang="en-US" sz="1100" dirty="0"/>
          </a:p>
        </p:txBody>
      </p:sp>
      <p:sp>
        <p:nvSpPr>
          <p:cNvPr id="18" name="Text 16"/>
          <p:cNvSpPr/>
          <p:nvPr/>
        </p:nvSpPr>
        <p:spPr>
          <a:xfrm>
            <a:off x="2286000" y="3118104"/>
            <a:ext cx="4663440" cy="201168"/>
          </a:xfrm>
          <a:prstGeom prst="rect">
            <a:avLst/>
          </a:prstGeom>
          <a:noFill/>
          <a:ln/>
        </p:spPr>
        <p:txBody>
          <a:bodyPr wrap="square" lIns="0" tIns="0" rIns="0" bIns="0" rtlCol="0" anchor="ctr">
            <a:normAutofit/>
          </a:bodyPr>
          <a:lstStyle/>
          <a:p>
            <a:pPr indent="0" marL="0">
              <a:buNone/>
            </a:pPr>
            <a:r>
              <a:rPr lang="en-US" sz="1100" dirty="0">
                <a:solidFill>
                  <a:srgbClr val="0B1F3A"/>
                </a:solidFill>
              </a:rPr>
              <a:t>“How much water per 25 kg sack?”</a:t>
            </a:r>
            <a:endParaRPr lang="en-US" sz="1100" dirty="0"/>
          </a:p>
        </p:txBody>
      </p:sp>
      <p:sp>
        <p:nvSpPr>
          <p:cNvPr id="19" name="Text 17"/>
          <p:cNvSpPr/>
          <p:nvPr/>
        </p:nvSpPr>
        <p:spPr>
          <a:xfrm>
            <a:off x="7360920" y="3118104"/>
            <a:ext cx="3749040" cy="329184"/>
          </a:xfrm>
          <a:prstGeom prst="rect">
            <a:avLst/>
          </a:prstGeom>
          <a:noFill/>
          <a:ln/>
        </p:spPr>
        <p:txBody>
          <a:bodyPr wrap="square" lIns="0" tIns="0" rIns="0" bIns="0" rtlCol="0" anchor="ctr">
            <a:normAutofit/>
          </a:bodyPr>
          <a:lstStyle/>
          <a:p>
            <a:pPr indent="0" marL="0">
              <a:buNone/>
            </a:pPr>
            <a:r>
              <a:rPr lang="en-US" sz="1020" dirty="0">
                <a:solidFill>
                  <a:srgbClr val="24364B"/>
                </a:solidFill>
              </a:rPr>
              <a:t>Needs verbatim datasheet extraction.</a:t>
            </a:r>
            <a:endParaRPr lang="en-US" sz="1020" dirty="0"/>
          </a:p>
        </p:txBody>
      </p:sp>
      <p:sp>
        <p:nvSpPr>
          <p:cNvPr id="20" name="Shape 18"/>
          <p:cNvSpPr/>
          <p:nvPr/>
        </p:nvSpPr>
        <p:spPr>
          <a:xfrm>
            <a:off x="457200" y="3730752"/>
            <a:ext cx="11201400" cy="603504"/>
          </a:xfrm>
          <a:prstGeom prst="roundRect">
            <a:avLst>
              <a:gd name="adj" fmla="val 4545"/>
            </a:avLst>
          </a:prstGeom>
          <a:solidFill>
            <a:srgbClr val="F1F5F9"/>
          </a:solidFill>
          <a:ln w="8890">
            <a:solidFill>
              <a:srgbClr val="E2E8F0"/>
            </a:solidFill>
            <a:prstDash val="solid"/>
          </a:ln>
        </p:spPr>
      </p:sp>
      <p:sp>
        <p:nvSpPr>
          <p:cNvPr id="21" name="Text 19"/>
          <p:cNvSpPr/>
          <p:nvPr/>
        </p:nvSpPr>
        <p:spPr>
          <a:xfrm>
            <a:off x="640080" y="3877056"/>
            <a:ext cx="1005840" cy="164592"/>
          </a:xfrm>
          <a:prstGeom prst="rect">
            <a:avLst/>
          </a:prstGeom>
          <a:noFill/>
          <a:ln/>
        </p:spPr>
        <p:txBody>
          <a:bodyPr wrap="square" lIns="0" tIns="0" rIns="0" bIns="0" rtlCol="0" anchor="ctr"/>
          <a:lstStyle/>
          <a:p>
            <a:pPr indent="0" marL="0">
              <a:buNone/>
            </a:pPr>
            <a:r>
              <a:rPr lang="en-US" sz="1100" b="1" dirty="0">
                <a:solidFill>
                  <a:srgbClr val="0B1F3A"/>
                </a:solidFill>
              </a:rPr>
              <a:t>Calculate</a:t>
            </a:r>
            <a:endParaRPr lang="en-US" sz="1100" dirty="0"/>
          </a:p>
        </p:txBody>
      </p:sp>
      <p:sp>
        <p:nvSpPr>
          <p:cNvPr id="22" name="Text 20"/>
          <p:cNvSpPr/>
          <p:nvPr/>
        </p:nvSpPr>
        <p:spPr>
          <a:xfrm>
            <a:off x="2286000" y="3831336"/>
            <a:ext cx="4663440" cy="201168"/>
          </a:xfrm>
          <a:prstGeom prst="rect">
            <a:avLst/>
          </a:prstGeom>
          <a:noFill/>
          <a:ln/>
        </p:spPr>
        <p:txBody>
          <a:bodyPr wrap="square" lIns="0" tIns="0" rIns="0" bIns="0" rtlCol="0" anchor="ctr">
            <a:normAutofit/>
          </a:bodyPr>
          <a:lstStyle/>
          <a:p>
            <a:pPr indent="0" marL="0">
              <a:buNone/>
            </a:pPr>
            <a:r>
              <a:rPr lang="en-US" sz="1100" dirty="0">
                <a:solidFill>
                  <a:srgbClr val="0B1F3A"/>
                </a:solidFill>
              </a:rPr>
              <a:t>“How many bags for 40 m²?”</a:t>
            </a:r>
            <a:endParaRPr lang="en-US" sz="1100" dirty="0"/>
          </a:p>
        </p:txBody>
      </p:sp>
      <p:sp>
        <p:nvSpPr>
          <p:cNvPr id="23" name="Text 21"/>
          <p:cNvSpPr/>
          <p:nvPr/>
        </p:nvSpPr>
        <p:spPr>
          <a:xfrm>
            <a:off x="7360920" y="3831336"/>
            <a:ext cx="3749040" cy="329184"/>
          </a:xfrm>
          <a:prstGeom prst="rect">
            <a:avLst/>
          </a:prstGeom>
          <a:noFill/>
          <a:ln/>
        </p:spPr>
        <p:txBody>
          <a:bodyPr wrap="square" lIns="0" tIns="0" rIns="0" bIns="0" rtlCol="0" anchor="ctr">
            <a:normAutofit/>
          </a:bodyPr>
          <a:lstStyle/>
          <a:p>
            <a:pPr indent="0" marL="0">
              <a:buNone/>
            </a:pPr>
            <a:r>
              <a:rPr lang="en-US" sz="1020" dirty="0">
                <a:solidFill>
                  <a:srgbClr val="24364B"/>
                </a:solidFill>
              </a:rPr>
              <a:t>Needs published basis, not hidden assumptions.</a:t>
            </a:r>
            <a:endParaRPr lang="en-US" sz="1020" dirty="0"/>
          </a:p>
        </p:txBody>
      </p:sp>
      <p:sp>
        <p:nvSpPr>
          <p:cNvPr id="24" name="Shape 22"/>
          <p:cNvSpPr/>
          <p:nvPr/>
        </p:nvSpPr>
        <p:spPr>
          <a:xfrm>
            <a:off x="457200" y="4443984"/>
            <a:ext cx="11201400" cy="603504"/>
          </a:xfrm>
          <a:prstGeom prst="roundRect">
            <a:avLst>
              <a:gd name="adj" fmla="val 4545"/>
            </a:avLst>
          </a:prstGeom>
          <a:solidFill>
            <a:srgbClr val="FFFFFF"/>
          </a:solidFill>
          <a:ln w="8890">
            <a:solidFill>
              <a:srgbClr val="E2E8F0"/>
            </a:solidFill>
            <a:prstDash val="solid"/>
          </a:ln>
        </p:spPr>
      </p:sp>
      <p:sp>
        <p:nvSpPr>
          <p:cNvPr id="25" name="Text 23"/>
          <p:cNvSpPr/>
          <p:nvPr/>
        </p:nvSpPr>
        <p:spPr>
          <a:xfrm>
            <a:off x="640080" y="4590288"/>
            <a:ext cx="1005840" cy="164592"/>
          </a:xfrm>
          <a:prstGeom prst="rect">
            <a:avLst/>
          </a:prstGeom>
          <a:noFill/>
          <a:ln/>
        </p:spPr>
        <p:txBody>
          <a:bodyPr wrap="square" lIns="0" tIns="0" rIns="0" bIns="0" rtlCol="0" anchor="ctr"/>
          <a:lstStyle/>
          <a:p>
            <a:pPr indent="0" marL="0">
              <a:buNone/>
            </a:pPr>
            <a:r>
              <a:rPr lang="en-US" sz="1100" b="1" dirty="0">
                <a:solidFill>
                  <a:srgbClr val="0B1F3A"/>
                </a:solidFill>
              </a:rPr>
              <a:t>Troubleshoot</a:t>
            </a:r>
            <a:endParaRPr lang="en-US" sz="1100" dirty="0"/>
          </a:p>
        </p:txBody>
      </p:sp>
      <p:sp>
        <p:nvSpPr>
          <p:cNvPr id="26" name="Text 24"/>
          <p:cNvSpPr/>
          <p:nvPr/>
        </p:nvSpPr>
        <p:spPr>
          <a:xfrm>
            <a:off x="2286000" y="4544568"/>
            <a:ext cx="4663440" cy="201168"/>
          </a:xfrm>
          <a:prstGeom prst="rect">
            <a:avLst/>
          </a:prstGeom>
          <a:noFill/>
          <a:ln/>
        </p:spPr>
        <p:txBody>
          <a:bodyPr wrap="square" lIns="0" tIns="0" rIns="0" bIns="0" rtlCol="0" anchor="ctr">
            <a:normAutofit/>
          </a:bodyPr>
          <a:lstStyle/>
          <a:p>
            <a:pPr indent="0" marL="0">
              <a:buNone/>
            </a:pPr>
            <a:r>
              <a:rPr lang="en-US" sz="1100" dirty="0">
                <a:solidFill>
                  <a:srgbClr val="0B1F3A"/>
                </a:solidFill>
              </a:rPr>
              <a:t>“Why is my render cracking?”</a:t>
            </a:r>
            <a:endParaRPr lang="en-US" sz="1100" dirty="0"/>
          </a:p>
        </p:txBody>
      </p:sp>
      <p:sp>
        <p:nvSpPr>
          <p:cNvPr id="27" name="Text 25"/>
          <p:cNvSpPr/>
          <p:nvPr/>
        </p:nvSpPr>
        <p:spPr>
          <a:xfrm>
            <a:off x="7360920" y="4544568"/>
            <a:ext cx="3749040" cy="329184"/>
          </a:xfrm>
          <a:prstGeom prst="rect">
            <a:avLst/>
          </a:prstGeom>
          <a:noFill/>
          <a:ln/>
        </p:spPr>
        <p:txBody>
          <a:bodyPr wrap="square" lIns="0" tIns="0" rIns="0" bIns="0" rtlCol="0" anchor="ctr">
            <a:normAutofit/>
          </a:bodyPr>
          <a:lstStyle/>
          <a:p>
            <a:pPr indent="0" marL="0">
              <a:buNone/>
            </a:pPr>
            <a:r>
              <a:rPr lang="en-US" sz="1020" dirty="0">
                <a:solidFill>
                  <a:srgbClr val="24364B"/>
                </a:solidFill>
              </a:rPr>
              <a:t>Needs published causes and careful hand-off.</a:t>
            </a:r>
            <a:endParaRPr lang="en-US" sz="1020" dirty="0"/>
          </a:p>
        </p:txBody>
      </p:sp>
      <p:sp>
        <p:nvSpPr>
          <p:cNvPr id="28" name="Shape 26"/>
          <p:cNvSpPr/>
          <p:nvPr/>
        </p:nvSpPr>
        <p:spPr>
          <a:xfrm>
            <a:off x="457200" y="5157216"/>
            <a:ext cx="11201400" cy="603504"/>
          </a:xfrm>
          <a:prstGeom prst="roundRect">
            <a:avLst>
              <a:gd name="adj" fmla="val 4545"/>
            </a:avLst>
          </a:prstGeom>
          <a:solidFill>
            <a:srgbClr val="F1F5F9"/>
          </a:solidFill>
          <a:ln w="8890">
            <a:solidFill>
              <a:srgbClr val="E2E8F0"/>
            </a:solidFill>
            <a:prstDash val="solid"/>
          </a:ln>
        </p:spPr>
      </p:sp>
      <p:sp>
        <p:nvSpPr>
          <p:cNvPr id="29" name="Text 27"/>
          <p:cNvSpPr/>
          <p:nvPr/>
        </p:nvSpPr>
        <p:spPr>
          <a:xfrm>
            <a:off x="640080" y="5303520"/>
            <a:ext cx="1005840" cy="164592"/>
          </a:xfrm>
          <a:prstGeom prst="rect">
            <a:avLst/>
          </a:prstGeom>
          <a:noFill/>
          <a:ln/>
        </p:spPr>
        <p:txBody>
          <a:bodyPr wrap="square" lIns="0" tIns="0" rIns="0" bIns="0" rtlCol="0" anchor="ctr"/>
          <a:lstStyle/>
          <a:p>
            <a:pPr indent="0" marL="0">
              <a:buNone/>
            </a:pPr>
            <a:r>
              <a:rPr lang="en-US" sz="1100" b="1" dirty="0">
                <a:solidFill>
                  <a:srgbClr val="0B1F3A"/>
                </a:solidFill>
              </a:rPr>
              <a:t>Find</a:t>
            </a:r>
            <a:endParaRPr lang="en-US" sz="1100" dirty="0"/>
          </a:p>
        </p:txBody>
      </p:sp>
      <p:sp>
        <p:nvSpPr>
          <p:cNvPr id="30" name="Text 28"/>
          <p:cNvSpPr/>
          <p:nvPr/>
        </p:nvSpPr>
        <p:spPr>
          <a:xfrm>
            <a:off x="2286000" y="5257800"/>
            <a:ext cx="4663440" cy="201168"/>
          </a:xfrm>
          <a:prstGeom prst="rect">
            <a:avLst/>
          </a:prstGeom>
          <a:noFill/>
          <a:ln/>
        </p:spPr>
        <p:txBody>
          <a:bodyPr wrap="square" lIns="0" tIns="0" rIns="0" bIns="0" rtlCol="0" anchor="ctr">
            <a:normAutofit/>
          </a:bodyPr>
          <a:lstStyle/>
          <a:p>
            <a:pPr indent="0" marL="0">
              <a:buNone/>
            </a:pPr>
            <a:r>
              <a:rPr lang="en-US" sz="1100" dirty="0">
                <a:solidFill>
                  <a:srgbClr val="0B1F3A"/>
                </a:solidFill>
              </a:rPr>
              <a:t>“Where is the datasheet / who sells this?”</a:t>
            </a:r>
            <a:endParaRPr lang="en-US" sz="1100" dirty="0"/>
          </a:p>
        </p:txBody>
      </p:sp>
      <p:sp>
        <p:nvSpPr>
          <p:cNvPr id="31" name="Text 29"/>
          <p:cNvSpPr/>
          <p:nvPr/>
        </p:nvSpPr>
        <p:spPr>
          <a:xfrm>
            <a:off x="7360920" y="5257800"/>
            <a:ext cx="3749040" cy="329184"/>
          </a:xfrm>
          <a:prstGeom prst="rect">
            <a:avLst/>
          </a:prstGeom>
          <a:noFill/>
          <a:ln/>
        </p:spPr>
        <p:txBody>
          <a:bodyPr wrap="square" lIns="0" tIns="0" rIns="0" bIns="0" rtlCol="0" anchor="ctr">
            <a:normAutofit/>
          </a:bodyPr>
          <a:lstStyle/>
          <a:p>
            <a:pPr indent="0" marL="0">
              <a:buNone/>
            </a:pPr>
            <a:r>
              <a:rPr lang="en-US" sz="1020" dirty="0">
                <a:solidFill>
                  <a:srgbClr val="24364B"/>
                </a:solidFill>
              </a:rPr>
              <a:t>Should route from manifest/config, not model memory.</a:t>
            </a:r>
            <a:endParaRPr lang="en-US" sz="1020" dirty="0"/>
          </a:p>
        </p:txBody>
      </p:sp>
      <p:sp>
        <p:nvSpPr>
          <p:cNvPr id="32" name="Shape 30"/>
          <p:cNvSpPr/>
          <p:nvPr/>
        </p:nvSpPr>
        <p:spPr>
          <a:xfrm>
            <a:off x="1280160" y="5888736"/>
            <a:ext cx="9509760" cy="457200"/>
          </a:xfrm>
          <a:prstGeom prst="roundRect">
            <a:avLst>
              <a:gd name="adj" fmla="val 16000"/>
            </a:avLst>
          </a:prstGeom>
          <a:solidFill>
            <a:srgbClr val="FFF2CC"/>
          </a:solidFill>
          <a:ln w="15240">
            <a:solidFill>
              <a:srgbClr val="B7791F"/>
            </a:solidFill>
            <a:prstDash val="solid"/>
          </a:ln>
        </p:spPr>
      </p:sp>
      <p:sp>
        <p:nvSpPr>
          <p:cNvPr id="33" name="Text 31"/>
          <p:cNvSpPr/>
          <p:nvPr/>
        </p:nvSpPr>
        <p:spPr>
          <a:xfrm>
            <a:off x="1426464" y="6016752"/>
            <a:ext cx="9217152" cy="237744"/>
          </a:xfrm>
          <a:prstGeom prst="rect">
            <a:avLst/>
          </a:prstGeom>
          <a:noFill/>
          <a:ln/>
        </p:spPr>
        <p:txBody>
          <a:bodyPr wrap="square" lIns="0" tIns="0" rIns="0" bIns="0" rtlCol="0" anchor="ctr"/>
          <a:lstStyle/>
          <a:p>
            <a:pPr indent="0" marL="0">
              <a:buNone/>
            </a:pPr>
            <a:r>
              <a:rPr lang="en-US" sz="1400" b="1" dirty="0">
                <a:solidFill>
                  <a:srgbClr val="7C4A03"/>
                </a:solidFill>
              </a:rPr>
              <a:t>Design implication</a:t>
            </a:r>
            <a:endParaRPr lang="en-US" sz="1400" dirty="0"/>
          </a:p>
        </p:txBody>
      </p:sp>
      <p:sp>
        <p:nvSpPr>
          <p:cNvPr id="34" name="Text 32"/>
          <p:cNvSpPr/>
          <p:nvPr/>
        </p:nvSpPr>
        <p:spPr>
          <a:xfrm>
            <a:off x="1426464" y="6364224"/>
            <a:ext cx="9217152" cy="-73152"/>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Once the query type is understood, the system can choose the safest path instead of sending every question to the LLM.</a:t>
            </a:r>
            <a:endParaRPr lang="en-US" sz="1060" dirty="0"/>
          </a:p>
        </p:txBody>
      </p:sp>
      <p:sp>
        <p:nvSpPr>
          <p:cNvPr id="35" name="Shape 33"/>
          <p:cNvSpPr/>
          <p:nvPr/>
        </p:nvSpPr>
        <p:spPr>
          <a:xfrm>
            <a:off x="411480" y="6565392"/>
            <a:ext cx="11338560" cy="0"/>
          </a:xfrm>
          <a:prstGeom prst="line">
            <a:avLst/>
          </a:prstGeom>
          <a:noFill/>
          <a:ln w="8890">
            <a:solidFill>
              <a:srgbClr val="CBD5E1"/>
            </a:solidFill>
            <a:prstDash val="solid"/>
          </a:ln>
        </p:spPr>
      </p:sp>
      <p:sp>
        <p:nvSpPr>
          <p:cNvPr id="36" name="Text 34"/>
          <p:cNvSpPr/>
          <p:nvPr/>
        </p:nvSpPr>
        <p:spPr>
          <a:xfrm>
            <a:off x="457200" y="6611112"/>
            <a:ext cx="6858000" cy="164592"/>
          </a:xfrm>
          <a:prstGeom prst="rect">
            <a:avLst/>
          </a:prstGeom>
          <a:noFill/>
          <a:ln/>
        </p:spPr>
        <p:txBody>
          <a:bodyPr wrap="square" lIns="0" tIns="0" rIns="0" bIns="0" rtlCol="0" anchor="ctr"/>
          <a:lstStyle/>
          <a:p>
            <a:pPr indent="0" marL="0">
              <a:buNone/>
            </a:pPr>
            <a:r>
              <a:rPr lang="en-US" sz="750" dirty="0">
                <a:solidFill>
                  <a:srgbClr val="58708E"/>
                </a:solidFill>
              </a:rPr>
              <a:t>Lime Green Technical Knowledge Assistant · user jobs → risks → architecture</a:t>
            </a:r>
            <a:endParaRPr lang="en-US" sz="750" dirty="0"/>
          </a:p>
        </p:txBody>
      </p:sp>
      <p:sp>
        <p:nvSpPr>
          <p:cNvPr id="37" name="Text 35"/>
          <p:cNvSpPr/>
          <p:nvPr/>
        </p:nvSpPr>
        <p:spPr>
          <a:xfrm>
            <a:off x="11430000" y="6601968"/>
            <a:ext cx="274320" cy="164592"/>
          </a:xfrm>
          <a:prstGeom prst="rect">
            <a:avLst/>
          </a:prstGeom>
          <a:noFill/>
          <a:ln/>
        </p:spPr>
        <p:txBody>
          <a:bodyPr wrap="square" lIns="0" tIns="0" rIns="0" bIns="0" rtlCol="0" anchor="ctr"/>
          <a:lstStyle/>
          <a:p>
            <a:pPr algn="r" indent="0" marL="0">
              <a:buNone/>
            </a:pPr>
            <a:r>
              <a:rPr lang="en-US" sz="800" dirty="0">
                <a:solidFill>
                  <a:srgbClr val="58708E"/>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292608"/>
            <a:ext cx="11338560" cy="502920"/>
          </a:xfrm>
          <a:prstGeom prst="rect">
            <a:avLst/>
          </a:prstGeom>
          <a:noFill/>
          <a:ln/>
        </p:spPr>
        <p:txBody>
          <a:bodyPr wrap="square" lIns="0" tIns="0" rIns="0" bIns="0" rtlCol="0" anchor="ctr"/>
          <a:lstStyle/>
          <a:p>
            <a:pPr indent="0" marL="0">
              <a:buNone/>
            </a:pPr>
            <a:r>
              <a:rPr lang="en-US" sz="3000" b="1" dirty="0">
                <a:solidFill>
                  <a:srgbClr val="0B1F3A"/>
                </a:solidFill>
                <a:latin typeface="Aptos Display" pitchFamily="34" charset="0"/>
                <a:ea typeface="Aptos Display" pitchFamily="34" charset="-122"/>
                <a:cs typeface="Aptos Display" pitchFamily="34" charset="-120"/>
              </a:rPr>
              <a:t>3 · Failure modes drive requirements</a:t>
            </a:r>
            <a:endParaRPr lang="en-US" sz="3000" dirty="0"/>
          </a:p>
        </p:txBody>
      </p:sp>
      <p:sp>
        <p:nvSpPr>
          <p:cNvPr id="3" name="Text 1"/>
          <p:cNvSpPr/>
          <p:nvPr/>
        </p:nvSpPr>
        <p:spPr>
          <a:xfrm>
            <a:off x="438912" y="822960"/>
            <a:ext cx="11155680" cy="301752"/>
          </a:xfrm>
          <a:prstGeom prst="rect">
            <a:avLst/>
          </a:prstGeom>
          <a:noFill/>
          <a:ln/>
        </p:spPr>
        <p:txBody>
          <a:bodyPr wrap="square" lIns="0" tIns="0" rIns="0" bIns="0" rtlCol="0" anchor="ctr"/>
          <a:lstStyle/>
          <a:p>
            <a:pPr indent="0" marL="0">
              <a:buNone/>
            </a:pPr>
            <a:r>
              <a:rPr lang="en-US" sz="1350" dirty="0">
                <a:solidFill>
                  <a:srgbClr val="58708E"/>
                </a:solidFill>
              </a:rPr>
              <a:t>This is where the architecture stops being decorative and becomes necessary.</a:t>
            </a:r>
            <a:endParaRPr lang="en-US" sz="1350" dirty="0"/>
          </a:p>
        </p:txBody>
      </p:sp>
      <p:sp>
        <p:nvSpPr>
          <p:cNvPr id="4" name="Shape 2"/>
          <p:cNvSpPr/>
          <p:nvPr/>
        </p:nvSpPr>
        <p:spPr>
          <a:xfrm>
            <a:off x="411480" y="1143000"/>
            <a:ext cx="11338560" cy="0"/>
          </a:xfrm>
          <a:prstGeom prst="line">
            <a:avLst/>
          </a:prstGeom>
          <a:noFill/>
          <a:ln w="12700">
            <a:solidFill>
              <a:srgbClr val="CBD5E1"/>
            </a:solidFill>
            <a:prstDash val="solid"/>
          </a:ln>
        </p:spPr>
      </p:sp>
      <p:sp>
        <p:nvSpPr>
          <p:cNvPr id="5" name="Shape 3"/>
          <p:cNvSpPr/>
          <p:nvPr/>
        </p:nvSpPr>
        <p:spPr>
          <a:xfrm>
            <a:off x="502920" y="1463040"/>
            <a:ext cx="3611880" cy="1143000"/>
          </a:xfrm>
          <a:prstGeom prst="roundRect">
            <a:avLst>
              <a:gd name="adj" fmla="val 6400"/>
            </a:avLst>
          </a:prstGeom>
          <a:solidFill>
            <a:srgbClr val="FEE2E2"/>
          </a:solidFill>
          <a:ln w="15240">
            <a:solidFill>
              <a:srgbClr val="B91C1C"/>
            </a:solidFill>
            <a:prstDash val="solid"/>
          </a:ln>
        </p:spPr>
      </p:sp>
      <p:sp>
        <p:nvSpPr>
          <p:cNvPr id="6" name="Text 4"/>
          <p:cNvSpPr/>
          <p:nvPr/>
        </p:nvSpPr>
        <p:spPr>
          <a:xfrm>
            <a:off x="649224" y="1591056"/>
            <a:ext cx="3319272" cy="237744"/>
          </a:xfrm>
          <a:prstGeom prst="rect">
            <a:avLst/>
          </a:prstGeom>
          <a:noFill/>
          <a:ln/>
        </p:spPr>
        <p:txBody>
          <a:bodyPr wrap="square" lIns="0" tIns="0" rIns="0" bIns="0" rtlCol="0" anchor="ctr"/>
          <a:lstStyle/>
          <a:p>
            <a:pPr indent="0" marL="0">
              <a:buNone/>
            </a:pPr>
            <a:r>
              <a:rPr lang="en-US" sz="1400" b="1" dirty="0">
                <a:solidFill>
                  <a:srgbClr val="B91C1C"/>
                </a:solidFill>
              </a:rPr>
              <a:t>Wrong product</a:t>
            </a:r>
            <a:endParaRPr lang="en-US" sz="1400" dirty="0"/>
          </a:p>
        </p:txBody>
      </p:sp>
      <p:sp>
        <p:nvSpPr>
          <p:cNvPr id="7" name="Text 5"/>
          <p:cNvSpPr/>
          <p:nvPr/>
        </p:nvSpPr>
        <p:spPr>
          <a:xfrm>
            <a:off x="649224" y="1938528"/>
            <a:ext cx="3319272" cy="61264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Consequence: Unsuitable recommendation</a:t>
            </a:r>
            <a:endParaRPr lang="en-US" sz="1060" dirty="0"/>
          </a:p>
          <a:p>
            <a:pPr indent="0" marL="0">
              <a:buNone/>
            </a:pPr>
            <a:r>
              <a:rPr lang="en-US" sz="1060" dirty="0">
                <a:solidFill>
                  <a:srgbClr val="24364B"/>
                </a:solidFill>
              </a:rPr>
              <a:t>Response: slots + evidence gate + refusal</a:t>
            </a:r>
            <a:endParaRPr lang="en-US" sz="1060" dirty="0"/>
          </a:p>
        </p:txBody>
      </p:sp>
      <p:sp>
        <p:nvSpPr>
          <p:cNvPr id="8" name="Shape 6"/>
          <p:cNvSpPr/>
          <p:nvPr/>
        </p:nvSpPr>
        <p:spPr>
          <a:xfrm>
            <a:off x="4389120" y="1463040"/>
            <a:ext cx="3611880" cy="1143000"/>
          </a:xfrm>
          <a:prstGeom prst="roundRect">
            <a:avLst>
              <a:gd name="adj" fmla="val 6400"/>
            </a:avLst>
          </a:prstGeom>
          <a:solidFill>
            <a:srgbClr val="FFF2CC"/>
          </a:solidFill>
          <a:ln w="15240">
            <a:solidFill>
              <a:srgbClr val="B7791F"/>
            </a:solidFill>
            <a:prstDash val="solid"/>
          </a:ln>
        </p:spPr>
      </p:sp>
      <p:sp>
        <p:nvSpPr>
          <p:cNvPr id="9" name="Text 7"/>
          <p:cNvSpPr/>
          <p:nvPr/>
        </p:nvSpPr>
        <p:spPr>
          <a:xfrm>
            <a:off x="4535424" y="1591056"/>
            <a:ext cx="3319272" cy="237744"/>
          </a:xfrm>
          <a:prstGeom prst="rect">
            <a:avLst/>
          </a:prstGeom>
          <a:noFill/>
          <a:ln/>
        </p:spPr>
        <p:txBody>
          <a:bodyPr wrap="square" lIns="0" tIns="0" rIns="0" bIns="0" rtlCol="0" anchor="ctr"/>
          <a:lstStyle/>
          <a:p>
            <a:pPr indent="0" marL="0">
              <a:buNone/>
            </a:pPr>
            <a:r>
              <a:rPr lang="en-US" sz="1400" b="1" dirty="0">
                <a:solidFill>
                  <a:srgbClr val="B7791F"/>
                </a:solidFill>
              </a:rPr>
              <a:t>Paraphrased figure</a:t>
            </a:r>
            <a:endParaRPr lang="en-US" sz="1400" dirty="0"/>
          </a:p>
        </p:txBody>
      </p:sp>
      <p:sp>
        <p:nvSpPr>
          <p:cNvPr id="10" name="Text 8"/>
          <p:cNvSpPr/>
          <p:nvPr/>
        </p:nvSpPr>
        <p:spPr>
          <a:xfrm>
            <a:off x="4535424" y="1938528"/>
            <a:ext cx="3319272" cy="61264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Consequence: Lost unit, caveat or product link</a:t>
            </a:r>
            <a:endParaRPr lang="en-US" sz="1060" dirty="0"/>
          </a:p>
          <a:p>
            <a:pPr indent="0" marL="0">
              <a:buNone/>
            </a:pPr>
            <a:r>
              <a:rPr lang="en-US" sz="1060" dirty="0">
                <a:solidFill>
                  <a:srgbClr val="24364B"/>
                </a:solidFill>
              </a:rPr>
              <a:t>Response: extract by code + numeric checks</a:t>
            </a:r>
            <a:endParaRPr lang="en-US" sz="1060" dirty="0"/>
          </a:p>
        </p:txBody>
      </p:sp>
      <p:sp>
        <p:nvSpPr>
          <p:cNvPr id="11" name="Shape 9"/>
          <p:cNvSpPr/>
          <p:nvPr/>
        </p:nvSpPr>
        <p:spPr>
          <a:xfrm>
            <a:off x="8275320" y="1463040"/>
            <a:ext cx="3611880" cy="1143000"/>
          </a:xfrm>
          <a:prstGeom prst="roundRect">
            <a:avLst>
              <a:gd name="adj" fmla="val 6400"/>
            </a:avLst>
          </a:prstGeom>
          <a:solidFill>
            <a:srgbClr val="DCEBFA"/>
          </a:solidFill>
          <a:ln w="15240">
            <a:solidFill>
              <a:srgbClr val="1F4E79"/>
            </a:solidFill>
            <a:prstDash val="solid"/>
          </a:ln>
        </p:spPr>
      </p:sp>
      <p:sp>
        <p:nvSpPr>
          <p:cNvPr id="12" name="Text 10"/>
          <p:cNvSpPr/>
          <p:nvPr/>
        </p:nvSpPr>
        <p:spPr>
          <a:xfrm>
            <a:off x="8421624" y="1591056"/>
            <a:ext cx="3319272" cy="237744"/>
          </a:xfrm>
          <a:prstGeom prst="rect">
            <a:avLst/>
          </a:prstGeom>
          <a:noFill/>
          <a:ln/>
        </p:spPr>
        <p:txBody>
          <a:bodyPr wrap="square" lIns="0" tIns="0" rIns="0" bIns="0" rtlCol="0" anchor="ctr"/>
          <a:lstStyle/>
          <a:p>
            <a:pPr indent="0" marL="0">
              <a:buNone/>
            </a:pPr>
            <a:r>
              <a:rPr lang="en-US" sz="1400" b="1" dirty="0">
                <a:solidFill>
                  <a:srgbClr val="1F4E79"/>
                </a:solidFill>
              </a:rPr>
              <a:t>Stale datasheet</a:t>
            </a:r>
            <a:endParaRPr lang="en-US" sz="1400" dirty="0"/>
          </a:p>
        </p:txBody>
      </p:sp>
      <p:sp>
        <p:nvSpPr>
          <p:cNvPr id="13" name="Text 11"/>
          <p:cNvSpPr/>
          <p:nvPr/>
        </p:nvSpPr>
        <p:spPr>
          <a:xfrm>
            <a:off x="8421624" y="1938528"/>
            <a:ext cx="3319272" cy="61264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Consequence: Old and new specs blend</a:t>
            </a:r>
            <a:endParaRPr lang="en-US" sz="1060" dirty="0"/>
          </a:p>
          <a:p>
            <a:pPr indent="0" marL="0">
              <a:buNone/>
            </a:pPr>
            <a:r>
              <a:rPr lang="en-US" sz="1060" dirty="0">
                <a:solidFill>
                  <a:srgbClr val="24364B"/>
                </a:solidFill>
              </a:rPr>
              <a:t>Response: version ledger + one active version</a:t>
            </a:r>
            <a:endParaRPr lang="en-US" sz="1060" dirty="0"/>
          </a:p>
        </p:txBody>
      </p:sp>
      <p:sp>
        <p:nvSpPr>
          <p:cNvPr id="14" name="Shape 12"/>
          <p:cNvSpPr/>
          <p:nvPr/>
        </p:nvSpPr>
        <p:spPr>
          <a:xfrm>
            <a:off x="502920" y="2880360"/>
            <a:ext cx="3611880" cy="1143000"/>
          </a:xfrm>
          <a:prstGeom prst="roundRect">
            <a:avLst>
              <a:gd name="adj" fmla="val 6400"/>
            </a:avLst>
          </a:prstGeom>
          <a:solidFill>
            <a:srgbClr val="EAE2F8"/>
          </a:solidFill>
          <a:ln w="15240">
            <a:solidFill>
              <a:srgbClr val="5E35B1"/>
            </a:solidFill>
            <a:prstDash val="solid"/>
          </a:ln>
        </p:spPr>
      </p:sp>
      <p:sp>
        <p:nvSpPr>
          <p:cNvPr id="15" name="Text 13"/>
          <p:cNvSpPr/>
          <p:nvPr/>
        </p:nvSpPr>
        <p:spPr>
          <a:xfrm>
            <a:off x="649224" y="3008376"/>
            <a:ext cx="3319272" cy="237744"/>
          </a:xfrm>
          <a:prstGeom prst="rect">
            <a:avLst/>
          </a:prstGeom>
          <a:noFill/>
          <a:ln/>
        </p:spPr>
        <p:txBody>
          <a:bodyPr wrap="square" lIns="0" tIns="0" rIns="0" bIns="0" rtlCol="0" anchor="ctr"/>
          <a:lstStyle/>
          <a:p>
            <a:pPr indent="0" marL="0">
              <a:buNone/>
            </a:pPr>
            <a:r>
              <a:rPr lang="en-US" sz="1400" b="1" dirty="0">
                <a:solidFill>
                  <a:srgbClr val="5E35B1"/>
                </a:solidFill>
              </a:rPr>
              <a:t>Staff leakage</a:t>
            </a:r>
            <a:endParaRPr lang="en-US" sz="1400" dirty="0"/>
          </a:p>
        </p:txBody>
      </p:sp>
      <p:sp>
        <p:nvSpPr>
          <p:cNvPr id="16" name="Text 14"/>
          <p:cNvSpPr/>
          <p:nvPr/>
        </p:nvSpPr>
        <p:spPr>
          <a:xfrm>
            <a:off x="649224" y="3355848"/>
            <a:ext cx="3319272" cy="61264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Consequence: Internal guidance shown publicly</a:t>
            </a:r>
            <a:endParaRPr lang="en-US" sz="1060" dirty="0"/>
          </a:p>
          <a:p>
            <a:pPr indent="0" marL="0">
              <a:buNone/>
            </a:pPr>
            <a:r>
              <a:rPr lang="en-US" sz="1060" dirty="0">
                <a:solidFill>
                  <a:srgbClr val="24364B"/>
                </a:solidFill>
              </a:rPr>
              <a:t>Response: audience filter before retrieval</a:t>
            </a:r>
            <a:endParaRPr lang="en-US" sz="1060" dirty="0"/>
          </a:p>
        </p:txBody>
      </p:sp>
      <p:sp>
        <p:nvSpPr>
          <p:cNvPr id="17" name="Shape 15"/>
          <p:cNvSpPr/>
          <p:nvPr/>
        </p:nvSpPr>
        <p:spPr>
          <a:xfrm>
            <a:off x="4389120" y="2880360"/>
            <a:ext cx="3611880" cy="1143000"/>
          </a:xfrm>
          <a:prstGeom prst="roundRect">
            <a:avLst>
              <a:gd name="adj" fmla="val 6400"/>
            </a:avLst>
          </a:prstGeom>
          <a:solidFill>
            <a:srgbClr val="FEE2E2"/>
          </a:solidFill>
          <a:ln w="15240">
            <a:solidFill>
              <a:srgbClr val="B91C1C"/>
            </a:solidFill>
            <a:prstDash val="solid"/>
          </a:ln>
        </p:spPr>
      </p:sp>
      <p:sp>
        <p:nvSpPr>
          <p:cNvPr id="18" name="Text 16"/>
          <p:cNvSpPr/>
          <p:nvPr/>
        </p:nvSpPr>
        <p:spPr>
          <a:xfrm>
            <a:off x="4535424" y="3008376"/>
            <a:ext cx="3319272" cy="237744"/>
          </a:xfrm>
          <a:prstGeom prst="rect">
            <a:avLst/>
          </a:prstGeom>
          <a:noFill/>
          <a:ln/>
        </p:spPr>
        <p:txBody>
          <a:bodyPr wrap="square" lIns="0" tIns="0" rIns="0" bIns="0" rtlCol="0" anchor="ctr"/>
          <a:lstStyle/>
          <a:p>
            <a:pPr indent="0" marL="0">
              <a:buNone/>
            </a:pPr>
            <a:r>
              <a:rPr lang="en-US" sz="1400" b="1" dirty="0">
                <a:solidFill>
                  <a:srgbClr val="B91C1C"/>
                </a:solidFill>
              </a:rPr>
              <a:t>False diagnosis</a:t>
            </a:r>
            <a:endParaRPr lang="en-US" sz="1400" dirty="0"/>
          </a:p>
        </p:txBody>
      </p:sp>
      <p:sp>
        <p:nvSpPr>
          <p:cNvPr id="19" name="Text 17"/>
          <p:cNvSpPr/>
          <p:nvPr/>
        </p:nvSpPr>
        <p:spPr>
          <a:xfrm>
            <a:off x="4535424" y="3355848"/>
            <a:ext cx="3319272" cy="61264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Consequence: Liability and bad remediation</a:t>
            </a:r>
            <a:endParaRPr lang="en-US" sz="1060" dirty="0"/>
          </a:p>
          <a:p>
            <a:pPr indent="0" marL="0">
              <a:buNone/>
            </a:pPr>
            <a:r>
              <a:rPr lang="en-US" sz="1060" dirty="0">
                <a:solidFill>
                  <a:srgbClr val="24364B"/>
                </a:solidFill>
              </a:rPr>
              <a:t>Response: published causes + human hand-off</a:t>
            </a:r>
            <a:endParaRPr lang="en-US" sz="1060" dirty="0"/>
          </a:p>
        </p:txBody>
      </p:sp>
      <p:sp>
        <p:nvSpPr>
          <p:cNvPr id="20" name="Shape 18"/>
          <p:cNvSpPr/>
          <p:nvPr/>
        </p:nvSpPr>
        <p:spPr>
          <a:xfrm>
            <a:off x="8275320" y="2880360"/>
            <a:ext cx="3611880" cy="1143000"/>
          </a:xfrm>
          <a:prstGeom prst="roundRect">
            <a:avLst>
              <a:gd name="adj" fmla="val 6400"/>
            </a:avLst>
          </a:prstGeom>
          <a:solidFill>
            <a:srgbClr val="EFF3F7"/>
          </a:solidFill>
          <a:ln w="15240">
            <a:solidFill>
              <a:srgbClr val="58708E"/>
            </a:solidFill>
            <a:prstDash val="solid"/>
          </a:ln>
        </p:spPr>
      </p:sp>
      <p:sp>
        <p:nvSpPr>
          <p:cNvPr id="21" name="Text 19"/>
          <p:cNvSpPr/>
          <p:nvPr/>
        </p:nvSpPr>
        <p:spPr>
          <a:xfrm>
            <a:off x="8421624" y="3008376"/>
            <a:ext cx="3319272" cy="237744"/>
          </a:xfrm>
          <a:prstGeom prst="rect">
            <a:avLst/>
          </a:prstGeom>
          <a:noFill/>
          <a:ln/>
        </p:spPr>
        <p:txBody>
          <a:bodyPr wrap="square" lIns="0" tIns="0" rIns="0" bIns="0" rtlCol="0" anchor="ctr"/>
          <a:lstStyle/>
          <a:p>
            <a:pPr indent="0" marL="0">
              <a:buNone/>
            </a:pPr>
            <a:r>
              <a:rPr lang="en-US" sz="1400" b="1" dirty="0">
                <a:solidFill>
                  <a:srgbClr val="58708E"/>
                </a:solidFill>
              </a:rPr>
              <a:t>Prompt injection</a:t>
            </a:r>
            <a:endParaRPr lang="en-US" sz="1400" dirty="0"/>
          </a:p>
        </p:txBody>
      </p:sp>
      <p:sp>
        <p:nvSpPr>
          <p:cNvPr id="22" name="Text 20"/>
          <p:cNvSpPr/>
          <p:nvPr/>
        </p:nvSpPr>
        <p:spPr>
          <a:xfrm>
            <a:off x="8421624" y="3355848"/>
            <a:ext cx="3319272" cy="61264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Consequence: Text tries to override rules</a:t>
            </a:r>
            <a:endParaRPr lang="en-US" sz="1060" dirty="0"/>
          </a:p>
          <a:p>
            <a:pPr indent="0" marL="0">
              <a:buNone/>
            </a:pPr>
            <a:r>
              <a:rPr lang="en-US" sz="1060" dirty="0">
                <a:solidFill>
                  <a:srgbClr val="24364B"/>
                </a:solidFill>
              </a:rPr>
              <a:t>Response: deterministic router + validation</a:t>
            </a:r>
            <a:endParaRPr lang="en-US" sz="1060" dirty="0"/>
          </a:p>
        </p:txBody>
      </p:sp>
      <p:sp>
        <p:nvSpPr>
          <p:cNvPr id="23" name="Shape 21"/>
          <p:cNvSpPr/>
          <p:nvPr/>
        </p:nvSpPr>
        <p:spPr>
          <a:xfrm>
            <a:off x="914400" y="5074920"/>
            <a:ext cx="10241280" cy="822960"/>
          </a:xfrm>
          <a:prstGeom prst="roundRect">
            <a:avLst>
              <a:gd name="adj" fmla="val 8889"/>
            </a:avLst>
          </a:prstGeom>
          <a:solidFill>
            <a:srgbClr val="FFFFFF"/>
          </a:solidFill>
          <a:ln w="15240">
            <a:solidFill>
              <a:srgbClr val="0B1F3A"/>
            </a:solidFill>
            <a:prstDash val="solid"/>
          </a:ln>
        </p:spPr>
      </p:sp>
      <p:sp>
        <p:nvSpPr>
          <p:cNvPr id="24" name="Text 22"/>
          <p:cNvSpPr/>
          <p:nvPr/>
        </p:nvSpPr>
        <p:spPr>
          <a:xfrm>
            <a:off x="1060704" y="5202936"/>
            <a:ext cx="9948672" cy="237744"/>
          </a:xfrm>
          <a:prstGeom prst="rect">
            <a:avLst/>
          </a:prstGeom>
          <a:noFill/>
          <a:ln/>
        </p:spPr>
        <p:txBody>
          <a:bodyPr wrap="square" lIns="0" tIns="0" rIns="0" bIns="0" rtlCol="0" anchor="ctr"/>
          <a:lstStyle/>
          <a:p>
            <a:pPr indent="0" marL="0">
              <a:buNone/>
            </a:pPr>
            <a:r>
              <a:rPr lang="en-US" sz="1400" b="1" dirty="0">
                <a:solidFill>
                  <a:srgbClr val="0B1F3A"/>
                </a:solidFill>
              </a:rPr>
              <a:t>The decision principle</a:t>
            </a:r>
            <a:endParaRPr lang="en-US" sz="1400" dirty="0"/>
          </a:p>
        </p:txBody>
      </p:sp>
      <p:sp>
        <p:nvSpPr>
          <p:cNvPr id="25" name="Text 23"/>
          <p:cNvSpPr/>
          <p:nvPr/>
        </p:nvSpPr>
        <p:spPr>
          <a:xfrm>
            <a:off x="1060704" y="5550408"/>
            <a:ext cx="9948672" cy="29260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A refusal is acceptable. A confident unsupported technical recommendation is the real failure.</a:t>
            </a:r>
            <a:endParaRPr lang="en-US" sz="1060" dirty="0"/>
          </a:p>
        </p:txBody>
      </p:sp>
      <p:sp>
        <p:nvSpPr>
          <p:cNvPr id="26" name="Shape 24"/>
          <p:cNvSpPr/>
          <p:nvPr/>
        </p:nvSpPr>
        <p:spPr>
          <a:xfrm>
            <a:off x="411480" y="6565392"/>
            <a:ext cx="11338560" cy="0"/>
          </a:xfrm>
          <a:prstGeom prst="line">
            <a:avLst/>
          </a:prstGeom>
          <a:noFill/>
          <a:ln w="8890">
            <a:solidFill>
              <a:srgbClr val="CBD5E1"/>
            </a:solidFill>
            <a:prstDash val="solid"/>
          </a:ln>
        </p:spPr>
      </p:sp>
      <p:sp>
        <p:nvSpPr>
          <p:cNvPr id="27" name="Text 25"/>
          <p:cNvSpPr/>
          <p:nvPr/>
        </p:nvSpPr>
        <p:spPr>
          <a:xfrm>
            <a:off x="457200" y="6611112"/>
            <a:ext cx="6858000" cy="164592"/>
          </a:xfrm>
          <a:prstGeom prst="rect">
            <a:avLst/>
          </a:prstGeom>
          <a:noFill/>
          <a:ln/>
        </p:spPr>
        <p:txBody>
          <a:bodyPr wrap="square" lIns="0" tIns="0" rIns="0" bIns="0" rtlCol="0" anchor="ctr"/>
          <a:lstStyle/>
          <a:p>
            <a:pPr indent="0" marL="0">
              <a:buNone/>
            </a:pPr>
            <a:r>
              <a:rPr lang="en-US" sz="750" dirty="0">
                <a:solidFill>
                  <a:srgbClr val="58708E"/>
                </a:solidFill>
              </a:rPr>
              <a:t>Lime Green Technical Knowledge Assistant · user jobs → risks → architecture</a:t>
            </a:r>
            <a:endParaRPr lang="en-US" sz="750" dirty="0"/>
          </a:p>
        </p:txBody>
      </p:sp>
      <p:sp>
        <p:nvSpPr>
          <p:cNvPr id="28" name="Text 26"/>
          <p:cNvSpPr/>
          <p:nvPr/>
        </p:nvSpPr>
        <p:spPr>
          <a:xfrm>
            <a:off x="11430000" y="6601968"/>
            <a:ext cx="274320" cy="164592"/>
          </a:xfrm>
          <a:prstGeom prst="rect">
            <a:avLst/>
          </a:prstGeom>
          <a:noFill/>
          <a:ln/>
        </p:spPr>
        <p:txBody>
          <a:bodyPr wrap="square" lIns="0" tIns="0" rIns="0" bIns="0" rtlCol="0" anchor="ctr"/>
          <a:lstStyle/>
          <a:p>
            <a:pPr algn="r" indent="0" marL="0">
              <a:buNone/>
            </a:pPr>
            <a:r>
              <a:rPr lang="en-US" sz="800" dirty="0">
                <a:solidFill>
                  <a:srgbClr val="58708E"/>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292608"/>
            <a:ext cx="11338560" cy="502920"/>
          </a:xfrm>
          <a:prstGeom prst="rect">
            <a:avLst/>
          </a:prstGeom>
          <a:noFill/>
          <a:ln/>
        </p:spPr>
        <p:txBody>
          <a:bodyPr wrap="square" lIns="0" tIns="0" rIns="0" bIns="0" rtlCol="0" anchor="ctr"/>
          <a:lstStyle/>
          <a:p>
            <a:pPr indent="0" marL="0">
              <a:buNone/>
            </a:pPr>
            <a:r>
              <a:rPr lang="en-US" sz="3000" b="1" dirty="0">
                <a:solidFill>
                  <a:srgbClr val="0B1F3A"/>
                </a:solidFill>
                <a:latin typeface="Aptos Display" pitchFamily="34" charset="0"/>
                <a:ea typeface="Aptos Display" pitchFamily="34" charset="-122"/>
                <a:cs typeface="Aptos Display" pitchFamily="34" charset="-120"/>
              </a:rPr>
              <a:t>4 · Requirements become architecture decisions</a:t>
            </a:r>
            <a:endParaRPr lang="en-US" sz="3000" dirty="0"/>
          </a:p>
        </p:txBody>
      </p:sp>
      <p:sp>
        <p:nvSpPr>
          <p:cNvPr id="3" name="Text 1"/>
          <p:cNvSpPr/>
          <p:nvPr/>
        </p:nvSpPr>
        <p:spPr>
          <a:xfrm>
            <a:off x="438912" y="822960"/>
            <a:ext cx="11155680" cy="301752"/>
          </a:xfrm>
          <a:prstGeom prst="rect">
            <a:avLst/>
          </a:prstGeom>
          <a:noFill/>
          <a:ln/>
        </p:spPr>
        <p:txBody>
          <a:bodyPr wrap="square" lIns="0" tIns="0" rIns="0" bIns="0" rtlCol="0" anchor="ctr"/>
          <a:lstStyle/>
          <a:p>
            <a:pPr indent="0" marL="0">
              <a:buNone/>
            </a:pPr>
            <a:r>
              <a:rPr lang="en-US" sz="1350" dirty="0">
                <a:solidFill>
                  <a:srgbClr val="58708E"/>
                </a:solidFill>
              </a:rPr>
              <a:t>This is the evidence chain reviewers need to see.</a:t>
            </a:r>
            <a:endParaRPr lang="en-US" sz="1350" dirty="0"/>
          </a:p>
        </p:txBody>
      </p:sp>
      <p:sp>
        <p:nvSpPr>
          <p:cNvPr id="4" name="Shape 2"/>
          <p:cNvSpPr/>
          <p:nvPr/>
        </p:nvSpPr>
        <p:spPr>
          <a:xfrm>
            <a:off x="411480" y="1143000"/>
            <a:ext cx="11338560" cy="0"/>
          </a:xfrm>
          <a:prstGeom prst="line">
            <a:avLst/>
          </a:prstGeom>
          <a:noFill/>
          <a:ln w="12700">
            <a:solidFill>
              <a:srgbClr val="CBD5E1"/>
            </a:solidFill>
            <a:prstDash val="solid"/>
          </a:ln>
        </p:spPr>
      </p:sp>
      <p:sp>
        <p:nvSpPr>
          <p:cNvPr id="5" name="Text 3"/>
          <p:cNvSpPr/>
          <p:nvPr/>
        </p:nvSpPr>
        <p:spPr>
          <a:xfrm>
            <a:off x="685800" y="1417320"/>
            <a:ext cx="2743200" cy="201168"/>
          </a:xfrm>
          <a:prstGeom prst="rect">
            <a:avLst/>
          </a:prstGeom>
          <a:noFill/>
          <a:ln/>
        </p:spPr>
        <p:txBody>
          <a:bodyPr wrap="square" lIns="0" tIns="0" rIns="0" bIns="0" rtlCol="0" anchor="ctr"/>
          <a:lstStyle/>
          <a:p>
            <a:pPr indent="0" marL="0">
              <a:buNone/>
            </a:pPr>
            <a:r>
              <a:rPr lang="en-US" sz="1000" b="1" dirty="0">
                <a:solidFill>
                  <a:srgbClr val="58708E"/>
                </a:solidFill>
              </a:rPr>
              <a:t>Requirement</a:t>
            </a:r>
            <a:endParaRPr lang="en-US" sz="1000" dirty="0"/>
          </a:p>
        </p:txBody>
      </p:sp>
      <p:sp>
        <p:nvSpPr>
          <p:cNvPr id="6" name="Text 4"/>
          <p:cNvSpPr/>
          <p:nvPr/>
        </p:nvSpPr>
        <p:spPr>
          <a:xfrm>
            <a:off x="4800600" y="1417320"/>
            <a:ext cx="3657600" cy="201168"/>
          </a:xfrm>
          <a:prstGeom prst="rect">
            <a:avLst/>
          </a:prstGeom>
          <a:noFill/>
          <a:ln/>
        </p:spPr>
        <p:txBody>
          <a:bodyPr wrap="square" lIns="0" tIns="0" rIns="0" bIns="0" rtlCol="0" anchor="ctr"/>
          <a:lstStyle/>
          <a:p>
            <a:pPr indent="0" marL="0">
              <a:buNone/>
            </a:pPr>
            <a:r>
              <a:rPr lang="en-US" sz="1000" b="1" dirty="0">
                <a:solidFill>
                  <a:srgbClr val="58708E"/>
                </a:solidFill>
              </a:rPr>
              <a:t>Architecture decision</a:t>
            </a:r>
            <a:endParaRPr lang="en-US" sz="1000" dirty="0"/>
          </a:p>
        </p:txBody>
      </p:sp>
      <p:sp>
        <p:nvSpPr>
          <p:cNvPr id="7" name="Shape 5"/>
          <p:cNvSpPr/>
          <p:nvPr/>
        </p:nvSpPr>
        <p:spPr>
          <a:xfrm>
            <a:off x="548640" y="1655064"/>
            <a:ext cx="3566160" cy="420624"/>
          </a:xfrm>
          <a:prstGeom prst="roundRect">
            <a:avLst>
              <a:gd name="adj" fmla="val 6522"/>
            </a:avLst>
          </a:prstGeom>
          <a:solidFill>
            <a:srgbClr val="FFFFFF"/>
          </a:solidFill>
          <a:ln w="12700">
            <a:solidFill>
              <a:srgbClr val="1F4E79"/>
            </a:solidFill>
            <a:prstDash val="solid"/>
          </a:ln>
        </p:spPr>
      </p:sp>
      <p:sp>
        <p:nvSpPr>
          <p:cNvPr id="8" name="Text 6"/>
          <p:cNvSpPr/>
          <p:nvPr/>
        </p:nvSpPr>
        <p:spPr>
          <a:xfrm>
            <a:off x="713232" y="1755648"/>
            <a:ext cx="3200400" cy="155448"/>
          </a:xfrm>
          <a:prstGeom prst="rect">
            <a:avLst/>
          </a:prstGeom>
          <a:noFill/>
          <a:ln/>
        </p:spPr>
        <p:txBody>
          <a:bodyPr wrap="square" lIns="0" tIns="0" rIns="0" bIns="0" rtlCol="0" anchor="ctr">
            <a:normAutofit/>
          </a:bodyPr>
          <a:lstStyle/>
          <a:p>
            <a:pPr indent="0" marL="0">
              <a:buNone/>
            </a:pPr>
            <a:r>
              <a:rPr lang="en-US" sz="1080" b="1" dirty="0">
                <a:solidFill>
                  <a:srgbClr val="0B1F3A"/>
                </a:solidFill>
              </a:rPr>
              <a:t>Current evidence only</a:t>
            </a:r>
            <a:endParaRPr lang="en-US" sz="1080" dirty="0"/>
          </a:p>
        </p:txBody>
      </p:sp>
      <p:sp>
        <p:nvSpPr>
          <p:cNvPr id="9" name="Shape 7"/>
          <p:cNvSpPr/>
          <p:nvPr/>
        </p:nvSpPr>
        <p:spPr>
          <a:xfrm>
            <a:off x="4251960" y="1847088"/>
            <a:ext cx="429768" cy="0"/>
          </a:xfrm>
          <a:prstGeom prst="line">
            <a:avLst/>
          </a:prstGeom>
          <a:noFill/>
          <a:ln w="17780">
            <a:solidFill>
              <a:srgbClr val="1F4E79"/>
            </a:solidFill>
            <a:prstDash val="solid"/>
            <a:headEnd type="none"/>
            <a:tailEnd type="triangle"/>
          </a:ln>
        </p:spPr>
      </p:sp>
      <p:sp>
        <p:nvSpPr>
          <p:cNvPr id="10" name="Shape 8"/>
          <p:cNvSpPr/>
          <p:nvPr/>
        </p:nvSpPr>
        <p:spPr>
          <a:xfrm>
            <a:off x="4892040" y="1655064"/>
            <a:ext cx="6309360" cy="420624"/>
          </a:xfrm>
          <a:prstGeom prst="roundRect">
            <a:avLst>
              <a:gd name="adj" fmla="val 6522"/>
            </a:avLst>
          </a:prstGeom>
          <a:solidFill>
            <a:srgbClr val="FFFFFF"/>
          </a:solidFill>
          <a:ln w="12700">
            <a:solidFill>
              <a:srgbClr val="1F4E79"/>
            </a:solidFill>
            <a:prstDash val="solid"/>
          </a:ln>
        </p:spPr>
      </p:sp>
      <p:sp>
        <p:nvSpPr>
          <p:cNvPr id="11" name="Text 9"/>
          <p:cNvSpPr/>
          <p:nvPr/>
        </p:nvSpPr>
        <p:spPr>
          <a:xfrm>
            <a:off x="5056632" y="1741932"/>
            <a:ext cx="5897880" cy="182880"/>
          </a:xfrm>
          <a:prstGeom prst="rect">
            <a:avLst/>
          </a:prstGeom>
          <a:noFill/>
          <a:ln/>
        </p:spPr>
        <p:txBody>
          <a:bodyPr wrap="square" lIns="0" tIns="0" rIns="0" bIns="0" rtlCol="0" anchor="ctr">
            <a:normAutofit/>
          </a:bodyPr>
          <a:lstStyle/>
          <a:p>
            <a:pPr indent="0" marL="0">
              <a:buNone/>
            </a:pPr>
            <a:r>
              <a:rPr lang="en-US" sz="1050" dirty="0">
                <a:solidFill>
                  <a:srgbClr val="24364B"/>
                </a:solidFill>
              </a:rPr>
              <a:t>Versioned source store + one active document version</a:t>
            </a:r>
            <a:endParaRPr lang="en-US" sz="1050" dirty="0"/>
          </a:p>
        </p:txBody>
      </p:sp>
      <p:sp>
        <p:nvSpPr>
          <p:cNvPr id="12" name="Shape 10"/>
          <p:cNvSpPr/>
          <p:nvPr/>
        </p:nvSpPr>
        <p:spPr>
          <a:xfrm>
            <a:off x="548640" y="2240280"/>
            <a:ext cx="3566160" cy="420624"/>
          </a:xfrm>
          <a:prstGeom prst="roundRect">
            <a:avLst>
              <a:gd name="adj" fmla="val 6522"/>
            </a:avLst>
          </a:prstGeom>
          <a:solidFill>
            <a:srgbClr val="FFFFFF"/>
          </a:solidFill>
          <a:ln w="12700">
            <a:solidFill>
              <a:srgbClr val="2E7D32"/>
            </a:solidFill>
            <a:prstDash val="solid"/>
          </a:ln>
        </p:spPr>
      </p:sp>
      <p:sp>
        <p:nvSpPr>
          <p:cNvPr id="13" name="Text 11"/>
          <p:cNvSpPr/>
          <p:nvPr/>
        </p:nvSpPr>
        <p:spPr>
          <a:xfrm>
            <a:off x="713232" y="2340864"/>
            <a:ext cx="3200400" cy="155448"/>
          </a:xfrm>
          <a:prstGeom prst="rect">
            <a:avLst/>
          </a:prstGeom>
          <a:noFill/>
          <a:ln/>
        </p:spPr>
        <p:txBody>
          <a:bodyPr wrap="square" lIns="0" tIns="0" rIns="0" bIns="0" rtlCol="0" anchor="ctr">
            <a:normAutofit/>
          </a:bodyPr>
          <a:lstStyle/>
          <a:p>
            <a:pPr indent="0" marL="0">
              <a:buNone/>
            </a:pPr>
            <a:r>
              <a:rPr lang="en-US" sz="1080" b="1" dirty="0">
                <a:solidFill>
                  <a:srgbClr val="0B1F3A"/>
                </a:solidFill>
              </a:rPr>
              <a:t>No access leakage</a:t>
            </a:r>
            <a:endParaRPr lang="en-US" sz="1080" dirty="0"/>
          </a:p>
        </p:txBody>
      </p:sp>
      <p:sp>
        <p:nvSpPr>
          <p:cNvPr id="14" name="Shape 12"/>
          <p:cNvSpPr/>
          <p:nvPr/>
        </p:nvSpPr>
        <p:spPr>
          <a:xfrm>
            <a:off x="4251960" y="2432304"/>
            <a:ext cx="429768" cy="0"/>
          </a:xfrm>
          <a:prstGeom prst="line">
            <a:avLst/>
          </a:prstGeom>
          <a:noFill/>
          <a:ln w="17780">
            <a:solidFill>
              <a:srgbClr val="2E7D32"/>
            </a:solidFill>
            <a:prstDash val="solid"/>
            <a:headEnd type="none"/>
            <a:tailEnd type="triangle"/>
          </a:ln>
        </p:spPr>
      </p:sp>
      <p:sp>
        <p:nvSpPr>
          <p:cNvPr id="15" name="Shape 13"/>
          <p:cNvSpPr/>
          <p:nvPr/>
        </p:nvSpPr>
        <p:spPr>
          <a:xfrm>
            <a:off x="4892040" y="2240280"/>
            <a:ext cx="6309360" cy="420624"/>
          </a:xfrm>
          <a:prstGeom prst="roundRect">
            <a:avLst>
              <a:gd name="adj" fmla="val 6522"/>
            </a:avLst>
          </a:prstGeom>
          <a:solidFill>
            <a:srgbClr val="FFFFFF"/>
          </a:solidFill>
          <a:ln w="12700">
            <a:solidFill>
              <a:srgbClr val="2E7D32"/>
            </a:solidFill>
            <a:prstDash val="solid"/>
          </a:ln>
        </p:spPr>
      </p:sp>
      <p:sp>
        <p:nvSpPr>
          <p:cNvPr id="16" name="Text 14"/>
          <p:cNvSpPr/>
          <p:nvPr/>
        </p:nvSpPr>
        <p:spPr>
          <a:xfrm>
            <a:off x="5056632" y="2327148"/>
            <a:ext cx="5897880" cy="182880"/>
          </a:xfrm>
          <a:prstGeom prst="rect">
            <a:avLst/>
          </a:prstGeom>
          <a:noFill/>
          <a:ln/>
        </p:spPr>
        <p:txBody>
          <a:bodyPr wrap="square" lIns="0" tIns="0" rIns="0" bIns="0" rtlCol="0" anchor="ctr">
            <a:normAutofit/>
          </a:bodyPr>
          <a:lstStyle/>
          <a:p>
            <a:pPr indent="0" marL="0">
              <a:buNone/>
            </a:pPr>
            <a:r>
              <a:rPr lang="en-US" sz="1050" dirty="0">
                <a:solidFill>
                  <a:srgbClr val="24364B"/>
                </a:solidFill>
              </a:rPr>
              <a:t>Audience tags filtered inside retrieval</a:t>
            </a:r>
            <a:endParaRPr lang="en-US" sz="1050" dirty="0"/>
          </a:p>
        </p:txBody>
      </p:sp>
      <p:sp>
        <p:nvSpPr>
          <p:cNvPr id="17" name="Shape 15"/>
          <p:cNvSpPr/>
          <p:nvPr/>
        </p:nvSpPr>
        <p:spPr>
          <a:xfrm>
            <a:off x="548640" y="2825496"/>
            <a:ext cx="3566160" cy="420624"/>
          </a:xfrm>
          <a:prstGeom prst="roundRect">
            <a:avLst>
              <a:gd name="adj" fmla="val 6522"/>
            </a:avLst>
          </a:prstGeom>
          <a:solidFill>
            <a:srgbClr val="FFFFFF"/>
          </a:solidFill>
          <a:ln w="12700">
            <a:solidFill>
              <a:srgbClr val="B7791F"/>
            </a:solidFill>
            <a:prstDash val="solid"/>
          </a:ln>
        </p:spPr>
      </p:sp>
      <p:sp>
        <p:nvSpPr>
          <p:cNvPr id="18" name="Text 16"/>
          <p:cNvSpPr/>
          <p:nvPr/>
        </p:nvSpPr>
        <p:spPr>
          <a:xfrm>
            <a:off x="713232" y="2926080"/>
            <a:ext cx="3200400" cy="155448"/>
          </a:xfrm>
          <a:prstGeom prst="rect">
            <a:avLst/>
          </a:prstGeom>
          <a:noFill/>
          <a:ln/>
        </p:spPr>
        <p:txBody>
          <a:bodyPr wrap="square" lIns="0" tIns="0" rIns="0" bIns="0" rtlCol="0" anchor="ctr">
            <a:normAutofit/>
          </a:bodyPr>
          <a:lstStyle/>
          <a:p>
            <a:pPr indent="0" marL="0">
              <a:buNone/>
            </a:pPr>
            <a:r>
              <a:rPr lang="en-US" sz="1080" b="1" dirty="0">
                <a:solidFill>
                  <a:srgbClr val="0B1F3A"/>
                </a:solidFill>
              </a:rPr>
              <a:t>Exact datasheet values</a:t>
            </a:r>
            <a:endParaRPr lang="en-US" sz="1080" dirty="0"/>
          </a:p>
        </p:txBody>
      </p:sp>
      <p:sp>
        <p:nvSpPr>
          <p:cNvPr id="19" name="Shape 17"/>
          <p:cNvSpPr/>
          <p:nvPr/>
        </p:nvSpPr>
        <p:spPr>
          <a:xfrm>
            <a:off x="4251960" y="3017520"/>
            <a:ext cx="429768" cy="0"/>
          </a:xfrm>
          <a:prstGeom prst="line">
            <a:avLst/>
          </a:prstGeom>
          <a:noFill/>
          <a:ln w="17780">
            <a:solidFill>
              <a:srgbClr val="B7791F"/>
            </a:solidFill>
            <a:prstDash val="solid"/>
            <a:headEnd type="none"/>
            <a:tailEnd type="triangle"/>
          </a:ln>
        </p:spPr>
      </p:sp>
      <p:sp>
        <p:nvSpPr>
          <p:cNvPr id="20" name="Shape 18"/>
          <p:cNvSpPr/>
          <p:nvPr/>
        </p:nvSpPr>
        <p:spPr>
          <a:xfrm>
            <a:off x="4892040" y="2825496"/>
            <a:ext cx="6309360" cy="420624"/>
          </a:xfrm>
          <a:prstGeom prst="roundRect">
            <a:avLst>
              <a:gd name="adj" fmla="val 6522"/>
            </a:avLst>
          </a:prstGeom>
          <a:solidFill>
            <a:srgbClr val="FFFFFF"/>
          </a:solidFill>
          <a:ln w="12700">
            <a:solidFill>
              <a:srgbClr val="B7791F"/>
            </a:solidFill>
            <a:prstDash val="solid"/>
          </a:ln>
        </p:spPr>
      </p:sp>
      <p:sp>
        <p:nvSpPr>
          <p:cNvPr id="21" name="Text 19"/>
          <p:cNvSpPr/>
          <p:nvPr/>
        </p:nvSpPr>
        <p:spPr>
          <a:xfrm>
            <a:off x="5056632" y="2912364"/>
            <a:ext cx="5897880" cy="182880"/>
          </a:xfrm>
          <a:prstGeom prst="rect">
            <a:avLst/>
          </a:prstGeom>
          <a:noFill/>
          <a:ln/>
        </p:spPr>
        <p:txBody>
          <a:bodyPr wrap="square" lIns="0" tIns="0" rIns="0" bIns="0" rtlCol="0" anchor="ctr">
            <a:normAutofit/>
          </a:bodyPr>
          <a:lstStyle/>
          <a:p>
            <a:pPr indent="0" marL="0">
              <a:buNone/>
            </a:pPr>
            <a:r>
              <a:rPr lang="en-US" sz="1050" dirty="0">
                <a:solidFill>
                  <a:srgbClr val="24364B"/>
                </a:solidFill>
              </a:rPr>
              <a:t>Extract path by code, not model paraphrase</a:t>
            </a:r>
            <a:endParaRPr lang="en-US" sz="1050" dirty="0"/>
          </a:p>
        </p:txBody>
      </p:sp>
      <p:sp>
        <p:nvSpPr>
          <p:cNvPr id="22" name="Shape 20"/>
          <p:cNvSpPr/>
          <p:nvPr/>
        </p:nvSpPr>
        <p:spPr>
          <a:xfrm>
            <a:off x="548640" y="3410712"/>
            <a:ext cx="3566160" cy="420624"/>
          </a:xfrm>
          <a:prstGeom prst="roundRect">
            <a:avLst>
              <a:gd name="adj" fmla="val 6522"/>
            </a:avLst>
          </a:prstGeom>
          <a:solidFill>
            <a:srgbClr val="FFFFFF"/>
          </a:solidFill>
          <a:ln w="12700">
            <a:solidFill>
              <a:srgbClr val="5E35B1"/>
            </a:solidFill>
            <a:prstDash val="solid"/>
          </a:ln>
        </p:spPr>
      </p:sp>
      <p:sp>
        <p:nvSpPr>
          <p:cNvPr id="23" name="Text 21"/>
          <p:cNvSpPr/>
          <p:nvPr/>
        </p:nvSpPr>
        <p:spPr>
          <a:xfrm>
            <a:off x="713232" y="3511296"/>
            <a:ext cx="3200400" cy="155448"/>
          </a:xfrm>
          <a:prstGeom prst="rect">
            <a:avLst/>
          </a:prstGeom>
          <a:noFill/>
          <a:ln/>
        </p:spPr>
        <p:txBody>
          <a:bodyPr wrap="square" lIns="0" tIns="0" rIns="0" bIns="0" rtlCol="0" anchor="ctr">
            <a:normAutofit/>
          </a:bodyPr>
          <a:lstStyle/>
          <a:p>
            <a:pPr indent="0" marL="0">
              <a:buNone/>
            </a:pPr>
            <a:r>
              <a:rPr lang="en-US" sz="1080" b="1" dirty="0">
                <a:solidFill>
                  <a:srgbClr val="0B1F3A"/>
                </a:solidFill>
              </a:rPr>
              <a:t>Synthesis across sources</a:t>
            </a:r>
            <a:endParaRPr lang="en-US" sz="1080" dirty="0"/>
          </a:p>
        </p:txBody>
      </p:sp>
      <p:sp>
        <p:nvSpPr>
          <p:cNvPr id="24" name="Shape 22"/>
          <p:cNvSpPr/>
          <p:nvPr/>
        </p:nvSpPr>
        <p:spPr>
          <a:xfrm>
            <a:off x="4251960" y="3602736"/>
            <a:ext cx="429768" cy="0"/>
          </a:xfrm>
          <a:prstGeom prst="line">
            <a:avLst/>
          </a:prstGeom>
          <a:noFill/>
          <a:ln w="17780">
            <a:solidFill>
              <a:srgbClr val="5E35B1"/>
            </a:solidFill>
            <a:prstDash val="solid"/>
            <a:headEnd type="none"/>
            <a:tailEnd type="triangle"/>
          </a:ln>
        </p:spPr>
      </p:sp>
      <p:sp>
        <p:nvSpPr>
          <p:cNvPr id="25" name="Shape 23"/>
          <p:cNvSpPr/>
          <p:nvPr/>
        </p:nvSpPr>
        <p:spPr>
          <a:xfrm>
            <a:off x="4892040" y="3410712"/>
            <a:ext cx="6309360" cy="420624"/>
          </a:xfrm>
          <a:prstGeom prst="roundRect">
            <a:avLst>
              <a:gd name="adj" fmla="val 6522"/>
            </a:avLst>
          </a:prstGeom>
          <a:solidFill>
            <a:srgbClr val="FFFFFF"/>
          </a:solidFill>
          <a:ln w="12700">
            <a:solidFill>
              <a:srgbClr val="5E35B1"/>
            </a:solidFill>
            <a:prstDash val="solid"/>
          </a:ln>
        </p:spPr>
      </p:sp>
      <p:sp>
        <p:nvSpPr>
          <p:cNvPr id="26" name="Text 24"/>
          <p:cNvSpPr/>
          <p:nvPr/>
        </p:nvSpPr>
        <p:spPr>
          <a:xfrm>
            <a:off x="5056632" y="3497580"/>
            <a:ext cx="5897880" cy="182880"/>
          </a:xfrm>
          <a:prstGeom prst="rect">
            <a:avLst/>
          </a:prstGeom>
          <a:noFill/>
          <a:ln/>
        </p:spPr>
        <p:txBody>
          <a:bodyPr wrap="square" lIns="0" tIns="0" rIns="0" bIns="0" rtlCol="0" anchor="ctr">
            <a:normAutofit/>
          </a:bodyPr>
          <a:lstStyle/>
          <a:p>
            <a:pPr indent="0" marL="0">
              <a:buNone/>
            </a:pPr>
            <a:r>
              <a:rPr lang="en-US" sz="1050" dirty="0">
                <a:solidFill>
                  <a:srgbClr val="24364B"/>
                </a:solidFill>
              </a:rPr>
              <a:t>Compose path using a local LLM over retrieved passages</a:t>
            </a:r>
            <a:endParaRPr lang="en-US" sz="1050" dirty="0"/>
          </a:p>
        </p:txBody>
      </p:sp>
      <p:sp>
        <p:nvSpPr>
          <p:cNvPr id="27" name="Shape 25"/>
          <p:cNvSpPr/>
          <p:nvPr/>
        </p:nvSpPr>
        <p:spPr>
          <a:xfrm>
            <a:off x="548640" y="3995928"/>
            <a:ext cx="3566160" cy="420624"/>
          </a:xfrm>
          <a:prstGeom prst="roundRect">
            <a:avLst>
              <a:gd name="adj" fmla="val 6522"/>
            </a:avLst>
          </a:prstGeom>
          <a:solidFill>
            <a:srgbClr val="FFFFFF"/>
          </a:solidFill>
          <a:ln w="12700">
            <a:solidFill>
              <a:srgbClr val="B91C1C"/>
            </a:solidFill>
            <a:prstDash val="solid"/>
          </a:ln>
        </p:spPr>
      </p:sp>
      <p:sp>
        <p:nvSpPr>
          <p:cNvPr id="28" name="Text 26"/>
          <p:cNvSpPr/>
          <p:nvPr/>
        </p:nvSpPr>
        <p:spPr>
          <a:xfrm>
            <a:off x="713232" y="4096512"/>
            <a:ext cx="3200400" cy="155448"/>
          </a:xfrm>
          <a:prstGeom prst="rect">
            <a:avLst/>
          </a:prstGeom>
          <a:noFill/>
          <a:ln/>
        </p:spPr>
        <p:txBody>
          <a:bodyPr wrap="square" lIns="0" tIns="0" rIns="0" bIns="0" rtlCol="0" anchor="ctr">
            <a:normAutofit/>
          </a:bodyPr>
          <a:lstStyle/>
          <a:p>
            <a:pPr indent="0" marL="0">
              <a:buNone/>
            </a:pPr>
            <a:r>
              <a:rPr lang="en-US" sz="1080" b="1" dirty="0">
                <a:solidFill>
                  <a:srgbClr val="0B1F3A"/>
                </a:solidFill>
              </a:rPr>
              <a:t>Safe failure</a:t>
            </a:r>
            <a:endParaRPr lang="en-US" sz="1080" dirty="0"/>
          </a:p>
        </p:txBody>
      </p:sp>
      <p:sp>
        <p:nvSpPr>
          <p:cNvPr id="29" name="Shape 27"/>
          <p:cNvSpPr/>
          <p:nvPr/>
        </p:nvSpPr>
        <p:spPr>
          <a:xfrm>
            <a:off x="4251960" y="4187952"/>
            <a:ext cx="429768" cy="0"/>
          </a:xfrm>
          <a:prstGeom prst="line">
            <a:avLst/>
          </a:prstGeom>
          <a:noFill/>
          <a:ln w="17780">
            <a:solidFill>
              <a:srgbClr val="B91C1C"/>
            </a:solidFill>
            <a:prstDash val="solid"/>
            <a:headEnd type="none"/>
            <a:tailEnd type="triangle"/>
          </a:ln>
        </p:spPr>
      </p:sp>
      <p:sp>
        <p:nvSpPr>
          <p:cNvPr id="30" name="Shape 28"/>
          <p:cNvSpPr/>
          <p:nvPr/>
        </p:nvSpPr>
        <p:spPr>
          <a:xfrm>
            <a:off x="4892040" y="3995928"/>
            <a:ext cx="6309360" cy="420624"/>
          </a:xfrm>
          <a:prstGeom prst="roundRect">
            <a:avLst>
              <a:gd name="adj" fmla="val 6522"/>
            </a:avLst>
          </a:prstGeom>
          <a:solidFill>
            <a:srgbClr val="FFFFFF"/>
          </a:solidFill>
          <a:ln w="12700">
            <a:solidFill>
              <a:srgbClr val="B91C1C"/>
            </a:solidFill>
            <a:prstDash val="solid"/>
          </a:ln>
        </p:spPr>
      </p:sp>
      <p:sp>
        <p:nvSpPr>
          <p:cNvPr id="31" name="Text 29"/>
          <p:cNvSpPr/>
          <p:nvPr/>
        </p:nvSpPr>
        <p:spPr>
          <a:xfrm>
            <a:off x="5056632" y="4082796"/>
            <a:ext cx="5897880" cy="182880"/>
          </a:xfrm>
          <a:prstGeom prst="rect">
            <a:avLst/>
          </a:prstGeom>
          <a:noFill/>
          <a:ln/>
        </p:spPr>
        <p:txBody>
          <a:bodyPr wrap="square" lIns="0" tIns="0" rIns="0" bIns="0" rtlCol="0" anchor="ctr">
            <a:normAutofit/>
          </a:bodyPr>
          <a:lstStyle/>
          <a:p>
            <a:pPr indent="0" marL="0">
              <a:buNone/>
            </a:pPr>
            <a:r>
              <a:rPr lang="en-US" sz="1050" dirty="0">
                <a:solidFill>
                  <a:srgbClr val="24364B"/>
                </a:solidFill>
              </a:rPr>
              <a:t>Refusal / cited hand-off when evidence is insufficient</a:t>
            </a:r>
            <a:endParaRPr lang="en-US" sz="1050" dirty="0"/>
          </a:p>
        </p:txBody>
      </p:sp>
      <p:sp>
        <p:nvSpPr>
          <p:cNvPr id="32" name="Shape 30"/>
          <p:cNvSpPr/>
          <p:nvPr/>
        </p:nvSpPr>
        <p:spPr>
          <a:xfrm>
            <a:off x="548640" y="4581144"/>
            <a:ext cx="3566160" cy="420624"/>
          </a:xfrm>
          <a:prstGeom prst="roundRect">
            <a:avLst>
              <a:gd name="adj" fmla="val 6522"/>
            </a:avLst>
          </a:prstGeom>
          <a:solidFill>
            <a:srgbClr val="FFFFFF"/>
          </a:solidFill>
          <a:ln w="12700">
            <a:solidFill>
              <a:srgbClr val="008C95"/>
            </a:solidFill>
            <a:prstDash val="solid"/>
          </a:ln>
        </p:spPr>
      </p:sp>
      <p:sp>
        <p:nvSpPr>
          <p:cNvPr id="33" name="Text 31"/>
          <p:cNvSpPr/>
          <p:nvPr/>
        </p:nvSpPr>
        <p:spPr>
          <a:xfrm>
            <a:off x="713232" y="4681728"/>
            <a:ext cx="3200400" cy="155448"/>
          </a:xfrm>
          <a:prstGeom prst="rect">
            <a:avLst/>
          </a:prstGeom>
          <a:noFill/>
          <a:ln/>
        </p:spPr>
        <p:txBody>
          <a:bodyPr wrap="square" lIns="0" tIns="0" rIns="0" bIns="0" rtlCol="0" anchor="ctr">
            <a:normAutofit/>
          </a:bodyPr>
          <a:lstStyle/>
          <a:p>
            <a:pPr indent="0" marL="0">
              <a:buNone/>
            </a:pPr>
            <a:r>
              <a:rPr lang="en-US" sz="1080" b="1" dirty="0">
                <a:solidFill>
                  <a:srgbClr val="0B1F3A"/>
                </a:solidFill>
              </a:rPr>
              <a:t>Offline + production</a:t>
            </a:r>
            <a:endParaRPr lang="en-US" sz="1080" dirty="0"/>
          </a:p>
        </p:txBody>
      </p:sp>
      <p:sp>
        <p:nvSpPr>
          <p:cNvPr id="34" name="Shape 32"/>
          <p:cNvSpPr/>
          <p:nvPr/>
        </p:nvSpPr>
        <p:spPr>
          <a:xfrm>
            <a:off x="4251960" y="4773168"/>
            <a:ext cx="429768" cy="0"/>
          </a:xfrm>
          <a:prstGeom prst="line">
            <a:avLst/>
          </a:prstGeom>
          <a:noFill/>
          <a:ln w="17780">
            <a:solidFill>
              <a:srgbClr val="008C95"/>
            </a:solidFill>
            <a:prstDash val="solid"/>
            <a:headEnd type="none"/>
            <a:tailEnd type="triangle"/>
          </a:ln>
        </p:spPr>
      </p:sp>
      <p:sp>
        <p:nvSpPr>
          <p:cNvPr id="35" name="Shape 33"/>
          <p:cNvSpPr/>
          <p:nvPr/>
        </p:nvSpPr>
        <p:spPr>
          <a:xfrm>
            <a:off x="4892040" y="4581144"/>
            <a:ext cx="6309360" cy="420624"/>
          </a:xfrm>
          <a:prstGeom prst="roundRect">
            <a:avLst>
              <a:gd name="adj" fmla="val 6522"/>
            </a:avLst>
          </a:prstGeom>
          <a:solidFill>
            <a:srgbClr val="FFFFFF"/>
          </a:solidFill>
          <a:ln w="12700">
            <a:solidFill>
              <a:srgbClr val="008C95"/>
            </a:solidFill>
            <a:prstDash val="solid"/>
          </a:ln>
        </p:spPr>
      </p:sp>
      <p:sp>
        <p:nvSpPr>
          <p:cNvPr id="36" name="Text 34"/>
          <p:cNvSpPr/>
          <p:nvPr/>
        </p:nvSpPr>
        <p:spPr>
          <a:xfrm>
            <a:off x="5056632" y="4668012"/>
            <a:ext cx="5897880" cy="182880"/>
          </a:xfrm>
          <a:prstGeom prst="rect">
            <a:avLst/>
          </a:prstGeom>
          <a:noFill/>
          <a:ln/>
        </p:spPr>
        <p:txBody>
          <a:bodyPr wrap="square" lIns="0" tIns="0" rIns="0" bIns="0" rtlCol="0" anchor="ctr">
            <a:normAutofit/>
          </a:bodyPr>
          <a:lstStyle/>
          <a:p>
            <a:pPr indent="0" marL="0">
              <a:buNone/>
            </a:pPr>
            <a:r>
              <a:rPr lang="en-US" sz="1050" dirty="0">
                <a:solidFill>
                  <a:srgbClr val="24364B"/>
                </a:solidFill>
              </a:rPr>
              <a:t>KnowledgeRepository with SQLite and PostgreSQL/pgvector adapters</a:t>
            </a:r>
            <a:endParaRPr lang="en-US" sz="1050" dirty="0"/>
          </a:p>
        </p:txBody>
      </p:sp>
      <p:sp>
        <p:nvSpPr>
          <p:cNvPr id="37" name="Shape 35"/>
          <p:cNvSpPr/>
          <p:nvPr/>
        </p:nvSpPr>
        <p:spPr>
          <a:xfrm>
            <a:off x="548640" y="5166360"/>
            <a:ext cx="3566160" cy="420624"/>
          </a:xfrm>
          <a:prstGeom prst="roundRect">
            <a:avLst>
              <a:gd name="adj" fmla="val 6522"/>
            </a:avLst>
          </a:prstGeom>
          <a:solidFill>
            <a:srgbClr val="FFFFFF"/>
          </a:solidFill>
          <a:ln w="12700">
            <a:solidFill>
              <a:srgbClr val="58708E"/>
            </a:solidFill>
            <a:prstDash val="solid"/>
          </a:ln>
        </p:spPr>
      </p:sp>
      <p:sp>
        <p:nvSpPr>
          <p:cNvPr id="38" name="Text 36"/>
          <p:cNvSpPr/>
          <p:nvPr/>
        </p:nvSpPr>
        <p:spPr>
          <a:xfrm>
            <a:off x="713232" y="5266944"/>
            <a:ext cx="3200400" cy="155448"/>
          </a:xfrm>
          <a:prstGeom prst="rect">
            <a:avLst/>
          </a:prstGeom>
          <a:noFill/>
          <a:ln/>
        </p:spPr>
        <p:txBody>
          <a:bodyPr wrap="square" lIns="0" tIns="0" rIns="0" bIns="0" rtlCol="0" anchor="ctr">
            <a:normAutofit/>
          </a:bodyPr>
          <a:lstStyle/>
          <a:p>
            <a:pPr indent="0" marL="0">
              <a:buNone/>
            </a:pPr>
            <a:r>
              <a:rPr lang="en-US" sz="1080" b="1" dirty="0">
                <a:solidFill>
                  <a:srgbClr val="0B1F3A"/>
                </a:solidFill>
              </a:rPr>
              <a:t>Future image support</a:t>
            </a:r>
            <a:endParaRPr lang="en-US" sz="1080" dirty="0"/>
          </a:p>
        </p:txBody>
      </p:sp>
      <p:sp>
        <p:nvSpPr>
          <p:cNvPr id="39" name="Shape 37"/>
          <p:cNvSpPr/>
          <p:nvPr/>
        </p:nvSpPr>
        <p:spPr>
          <a:xfrm>
            <a:off x="4251960" y="5358384"/>
            <a:ext cx="429768" cy="0"/>
          </a:xfrm>
          <a:prstGeom prst="line">
            <a:avLst/>
          </a:prstGeom>
          <a:noFill/>
          <a:ln w="17780">
            <a:solidFill>
              <a:srgbClr val="58708E"/>
            </a:solidFill>
            <a:prstDash val="solid"/>
            <a:headEnd type="none"/>
            <a:tailEnd type="triangle"/>
          </a:ln>
        </p:spPr>
      </p:sp>
      <p:sp>
        <p:nvSpPr>
          <p:cNvPr id="40" name="Shape 38"/>
          <p:cNvSpPr/>
          <p:nvPr/>
        </p:nvSpPr>
        <p:spPr>
          <a:xfrm>
            <a:off x="4892040" y="5166360"/>
            <a:ext cx="6309360" cy="420624"/>
          </a:xfrm>
          <a:prstGeom prst="roundRect">
            <a:avLst>
              <a:gd name="adj" fmla="val 6522"/>
            </a:avLst>
          </a:prstGeom>
          <a:solidFill>
            <a:srgbClr val="FFFFFF"/>
          </a:solidFill>
          <a:ln w="12700">
            <a:solidFill>
              <a:srgbClr val="58708E"/>
            </a:solidFill>
            <a:prstDash val="solid"/>
          </a:ln>
        </p:spPr>
      </p:sp>
      <p:sp>
        <p:nvSpPr>
          <p:cNvPr id="41" name="Text 39"/>
          <p:cNvSpPr/>
          <p:nvPr/>
        </p:nvSpPr>
        <p:spPr>
          <a:xfrm>
            <a:off x="5056632" y="5253228"/>
            <a:ext cx="5897880" cy="182880"/>
          </a:xfrm>
          <a:prstGeom prst="rect">
            <a:avLst/>
          </a:prstGeom>
          <a:noFill/>
          <a:ln/>
        </p:spPr>
        <p:txBody>
          <a:bodyPr wrap="square" lIns="0" tIns="0" rIns="0" bIns="0" rtlCol="0" anchor="ctr">
            <a:normAutofit/>
          </a:bodyPr>
          <a:lstStyle/>
          <a:p>
            <a:pPr indent="0" marL="0">
              <a:buNone/>
            </a:pPr>
            <a:r>
              <a:rPr lang="en-US" sz="1050" dirty="0">
                <a:solidFill>
                  <a:srgbClr val="24364B"/>
                </a:solidFill>
              </a:rPr>
              <a:t>Vision extracts observations; product choice stays in pipeline</a:t>
            </a:r>
            <a:endParaRPr lang="en-US" sz="1050" dirty="0"/>
          </a:p>
        </p:txBody>
      </p:sp>
      <p:sp>
        <p:nvSpPr>
          <p:cNvPr id="42" name="Shape 40"/>
          <p:cNvSpPr/>
          <p:nvPr/>
        </p:nvSpPr>
        <p:spPr>
          <a:xfrm>
            <a:off x="914400" y="5806440"/>
            <a:ext cx="10241280" cy="475488"/>
          </a:xfrm>
          <a:prstGeom prst="roundRect">
            <a:avLst>
              <a:gd name="adj" fmla="val 15385"/>
            </a:avLst>
          </a:prstGeom>
          <a:solidFill>
            <a:srgbClr val="DCEBFA"/>
          </a:solidFill>
          <a:ln w="15240">
            <a:solidFill>
              <a:srgbClr val="1F4E79"/>
            </a:solidFill>
            <a:prstDash val="solid"/>
          </a:ln>
        </p:spPr>
      </p:sp>
      <p:sp>
        <p:nvSpPr>
          <p:cNvPr id="43" name="Text 41"/>
          <p:cNvSpPr/>
          <p:nvPr/>
        </p:nvSpPr>
        <p:spPr>
          <a:xfrm>
            <a:off x="1060704" y="5934456"/>
            <a:ext cx="9948672" cy="237744"/>
          </a:xfrm>
          <a:prstGeom prst="rect">
            <a:avLst/>
          </a:prstGeom>
          <a:noFill/>
          <a:ln/>
        </p:spPr>
        <p:txBody>
          <a:bodyPr wrap="square" lIns="0" tIns="0" rIns="0" bIns="0" rtlCol="0" anchor="ctr"/>
          <a:lstStyle/>
          <a:p>
            <a:pPr indent="0" marL="0">
              <a:buNone/>
            </a:pPr>
            <a:r>
              <a:rPr lang="en-US" sz="1400" b="1" dirty="0">
                <a:solidFill>
                  <a:srgbClr val="1F4E79"/>
                </a:solidFill>
              </a:rPr>
              <a:t>Takeaway</a:t>
            </a:r>
            <a:endParaRPr lang="en-US" sz="1400" dirty="0"/>
          </a:p>
        </p:txBody>
      </p:sp>
      <p:sp>
        <p:nvSpPr>
          <p:cNvPr id="44" name="Text 42"/>
          <p:cNvSpPr/>
          <p:nvPr/>
        </p:nvSpPr>
        <p:spPr>
          <a:xfrm>
            <a:off x="1060704" y="6281928"/>
            <a:ext cx="9948672" cy="-54864"/>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The architecture is the consequence of the requirements, not a diagram drawn after the code.</a:t>
            </a:r>
            <a:endParaRPr lang="en-US" sz="1060" dirty="0"/>
          </a:p>
        </p:txBody>
      </p:sp>
      <p:sp>
        <p:nvSpPr>
          <p:cNvPr id="45" name="Shape 43"/>
          <p:cNvSpPr/>
          <p:nvPr/>
        </p:nvSpPr>
        <p:spPr>
          <a:xfrm>
            <a:off x="411480" y="6565392"/>
            <a:ext cx="11338560" cy="0"/>
          </a:xfrm>
          <a:prstGeom prst="line">
            <a:avLst/>
          </a:prstGeom>
          <a:noFill/>
          <a:ln w="8890">
            <a:solidFill>
              <a:srgbClr val="CBD5E1"/>
            </a:solidFill>
            <a:prstDash val="solid"/>
          </a:ln>
        </p:spPr>
      </p:sp>
      <p:sp>
        <p:nvSpPr>
          <p:cNvPr id="46" name="Text 44"/>
          <p:cNvSpPr/>
          <p:nvPr/>
        </p:nvSpPr>
        <p:spPr>
          <a:xfrm>
            <a:off x="457200" y="6611112"/>
            <a:ext cx="6858000" cy="164592"/>
          </a:xfrm>
          <a:prstGeom prst="rect">
            <a:avLst/>
          </a:prstGeom>
          <a:noFill/>
          <a:ln/>
        </p:spPr>
        <p:txBody>
          <a:bodyPr wrap="square" lIns="0" tIns="0" rIns="0" bIns="0" rtlCol="0" anchor="ctr"/>
          <a:lstStyle/>
          <a:p>
            <a:pPr indent="0" marL="0">
              <a:buNone/>
            </a:pPr>
            <a:r>
              <a:rPr lang="en-US" sz="750" dirty="0">
                <a:solidFill>
                  <a:srgbClr val="58708E"/>
                </a:solidFill>
              </a:rPr>
              <a:t>Lime Green Technical Knowledge Assistant · user jobs → risks → architecture</a:t>
            </a:r>
            <a:endParaRPr lang="en-US" sz="750" dirty="0"/>
          </a:p>
        </p:txBody>
      </p:sp>
      <p:sp>
        <p:nvSpPr>
          <p:cNvPr id="47" name="Text 45"/>
          <p:cNvSpPr/>
          <p:nvPr/>
        </p:nvSpPr>
        <p:spPr>
          <a:xfrm>
            <a:off x="11430000" y="6601968"/>
            <a:ext cx="274320" cy="164592"/>
          </a:xfrm>
          <a:prstGeom prst="rect">
            <a:avLst/>
          </a:prstGeom>
          <a:noFill/>
          <a:ln/>
        </p:spPr>
        <p:txBody>
          <a:bodyPr wrap="square" lIns="0" tIns="0" rIns="0" bIns="0" rtlCol="0" anchor="ctr"/>
          <a:lstStyle/>
          <a:p>
            <a:pPr algn="r" indent="0" marL="0">
              <a:buNone/>
            </a:pPr>
            <a:r>
              <a:rPr lang="en-US" sz="800" dirty="0">
                <a:solidFill>
                  <a:srgbClr val="58708E"/>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292608"/>
            <a:ext cx="11338560" cy="502920"/>
          </a:xfrm>
          <a:prstGeom prst="rect">
            <a:avLst/>
          </a:prstGeom>
          <a:noFill/>
          <a:ln/>
        </p:spPr>
        <p:txBody>
          <a:bodyPr wrap="square" lIns="0" tIns="0" rIns="0" bIns="0" rtlCol="0" anchor="ctr"/>
          <a:lstStyle/>
          <a:p>
            <a:pPr indent="0" marL="0">
              <a:buNone/>
            </a:pPr>
            <a:r>
              <a:rPr lang="en-US" sz="3000" b="1" dirty="0">
                <a:solidFill>
                  <a:srgbClr val="0B1F3A"/>
                </a:solidFill>
                <a:latin typeface="Aptos Display" pitchFamily="34" charset="0"/>
                <a:ea typeface="Aptos Display" pitchFamily="34" charset="-122"/>
                <a:cs typeface="Aptos Display" pitchFamily="34" charset="-120"/>
              </a:rPr>
              <a:t>5 · Knowledge pipeline: controlled, current, auditable</a:t>
            </a:r>
            <a:endParaRPr lang="en-US" sz="3000" dirty="0"/>
          </a:p>
        </p:txBody>
      </p:sp>
      <p:sp>
        <p:nvSpPr>
          <p:cNvPr id="3" name="Text 1"/>
          <p:cNvSpPr/>
          <p:nvPr/>
        </p:nvSpPr>
        <p:spPr>
          <a:xfrm>
            <a:off x="438912" y="822960"/>
            <a:ext cx="11155680" cy="301752"/>
          </a:xfrm>
          <a:prstGeom prst="rect">
            <a:avLst/>
          </a:prstGeom>
          <a:noFill/>
          <a:ln/>
        </p:spPr>
        <p:txBody>
          <a:bodyPr wrap="square" lIns="0" tIns="0" rIns="0" bIns="0" rtlCol="0" anchor="ctr"/>
          <a:lstStyle/>
          <a:p>
            <a:pPr indent="0" marL="0">
              <a:buNone/>
            </a:pPr>
            <a:r>
              <a:rPr lang="en-US" sz="1350" dirty="0">
                <a:solidFill>
                  <a:srgbClr val="58708E"/>
                </a:solidFill>
              </a:rPr>
              <a:t>How Lime Green content becomes a safe searchable knowledge base.</a:t>
            </a:r>
            <a:endParaRPr lang="en-US" sz="1350" dirty="0"/>
          </a:p>
        </p:txBody>
      </p:sp>
      <p:sp>
        <p:nvSpPr>
          <p:cNvPr id="4" name="Shape 2"/>
          <p:cNvSpPr/>
          <p:nvPr/>
        </p:nvSpPr>
        <p:spPr>
          <a:xfrm>
            <a:off x="411480" y="1143000"/>
            <a:ext cx="11338560" cy="0"/>
          </a:xfrm>
          <a:prstGeom prst="line">
            <a:avLst/>
          </a:prstGeom>
          <a:noFill/>
          <a:ln w="12700">
            <a:solidFill>
              <a:srgbClr val="CBD5E1"/>
            </a:solidFill>
            <a:prstDash val="solid"/>
          </a:ln>
        </p:spPr>
      </p:sp>
      <p:sp>
        <p:nvSpPr>
          <p:cNvPr id="5" name="Shape 3"/>
          <p:cNvSpPr/>
          <p:nvPr/>
        </p:nvSpPr>
        <p:spPr>
          <a:xfrm>
            <a:off x="502920" y="1600200"/>
            <a:ext cx="1874520" cy="804672"/>
          </a:xfrm>
          <a:prstGeom prst="roundRect">
            <a:avLst>
              <a:gd name="adj" fmla="val 9091"/>
            </a:avLst>
          </a:prstGeom>
          <a:solidFill>
            <a:srgbClr val="DCEBFA"/>
          </a:solidFill>
          <a:ln w="15240">
            <a:solidFill>
              <a:srgbClr val="1F4E79"/>
            </a:solidFill>
            <a:prstDash val="solid"/>
          </a:ln>
        </p:spPr>
      </p:sp>
      <p:sp>
        <p:nvSpPr>
          <p:cNvPr id="6" name="Text 4"/>
          <p:cNvSpPr/>
          <p:nvPr/>
        </p:nvSpPr>
        <p:spPr>
          <a:xfrm>
            <a:off x="649224" y="1728216"/>
            <a:ext cx="1581912" cy="237744"/>
          </a:xfrm>
          <a:prstGeom prst="rect">
            <a:avLst/>
          </a:prstGeom>
          <a:noFill/>
          <a:ln/>
        </p:spPr>
        <p:txBody>
          <a:bodyPr wrap="square" lIns="0" tIns="0" rIns="0" bIns="0" rtlCol="0" anchor="ctr"/>
          <a:lstStyle/>
          <a:p>
            <a:pPr indent="0" marL="0">
              <a:buNone/>
            </a:pPr>
            <a:r>
              <a:rPr lang="en-US" sz="1400" b="1" dirty="0">
                <a:solidFill>
                  <a:srgbClr val="0B1F3A"/>
                </a:solidFill>
              </a:rPr>
              <a:t>Sources</a:t>
            </a:r>
            <a:endParaRPr lang="en-US" sz="1400" dirty="0"/>
          </a:p>
        </p:txBody>
      </p:sp>
      <p:sp>
        <p:nvSpPr>
          <p:cNvPr id="7" name="Text 5"/>
          <p:cNvSpPr/>
          <p:nvPr/>
        </p:nvSpPr>
        <p:spPr>
          <a:xfrm>
            <a:off x="649224" y="2075688"/>
            <a:ext cx="1581912" cy="274320"/>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website + staff</a:t>
            </a:r>
            <a:endParaRPr lang="en-US" sz="1060" dirty="0"/>
          </a:p>
        </p:txBody>
      </p:sp>
      <p:sp>
        <p:nvSpPr>
          <p:cNvPr id="8" name="Shape 6"/>
          <p:cNvSpPr/>
          <p:nvPr/>
        </p:nvSpPr>
        <p:spPr>
          <a:xfrm>
            <a:off x="2487168" y="1993392"/>
            <a:ext cx="438912" cy="0"/>
          </a:xfrm>
          <a:prstGeom prst="line">
            <a:avLst/>
          </a:prstGeom>
          <a:noFill/>
          <a:ln w="17780">
            <a:solidFill>
              <a:srgbClr val="58708E"/>
            </a:solidFill>
            <a:prstDash val="solid"/>
            <a:headEnd type="none"/>
            <a:tailEnd type="triangle"/>
          </a:ln>
        </p:spPr>
      </p:sp>
      <p:sp>
        <p:nvSpPr>
          <p:cNvPr id="9" name="Shape 7"/>
          <p:cNvSpPr/>
          <p:nvPr/>
        </p:nvSpPr>
        <p:spPr>
          <a:xfrm>
            <a:off x="2834640" y="1600200"/>
            <a:ext cx="1874520" cy="804672"/>
          </a:xfrm>
          <a:prstGeom prst="roundRect">
            <a:avLst>
              <a:gd name="adj" fmla="val 9091"/>
            </a:avLst>
          </a:prstGeom>
          <a:solidFill>
            <a:srgbClr val="FFF2CC"/>
          </a:solidFill>
          <a:ln w="15240">
            <a:solidFill>
              <a:srgbClr val="B7791F"/>
            </a:solidFill>
            <a:prstDash val="solid"/>
          </a:ln>
        </p:spPr>
      </p:sp>
      <p:sp>
        <p:nvSpPr>
          <p:cNvPr id="10" name="Text 8"/>
          <p:cNvSpPr/>
          <p:nvPr/>
        </p:nvSpPr>
        <p:spPr>
          <a:xfrm>
            <a:off x="2980944" y="1728216"/>
            <a:ext cx="1581912" cy="237744"/>
          </a:xfrm>
          <a:prstGeom prst="rect">
            <a:avLst/>
          </a:prstGeom>
          <a:noFill/>
          <a:ln/>
        </p:spPr>
        <p:txBody>
          <a:bodyPr wrap="square" lIns="0" tIns="0" rIns="0" bIns="0" rtlCol="0" anchor="ctr"/>
          <a:lstStyle/>
          <a:p>
            <a:pPr indent="0" marL="0">
              <a:buNone/>
            </a:pPr>
            <a:r>
              <a:rPr lang="en-US" sz="1400" b="1" dirty="0">
                <a:solidFill>
                  <a:srgbClr val="0B1F3A"/>
                </a:solidFill>
              </a:rPr>
              <a:t>Change</a:t>
            </a:r>
            <a:endParaRPr lang="en-US" sz="1400" dirty="0"/>
          </a:p>
        </p:txBody>
      </p:sp>
      <p:sp>
        <p:nvSpPr>
          <p:cNvPr id="11" name="Text 9"/>
          <p:cNvSpPr/>
          <p:nvPr/>
        </p:nvSpPr>
        <p:spPr>
          <a:xfrm>
            <a:off x="2980944" y="2075688"/>
            <a:ext cx="1581912" cy="274320"/>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lastmod + hash</a:t>
            </a:r>
            <a:endParaRPr lang="en-US" sz="1060" dirty="0"/>
          </a:p>
        </p:txBody>
      </p:sp>
      <p:sp>
        <p:nvSpPr>
          <p:cNvPr id="12" name="Shape 10"/>
          <p:cNvSpPr/>
          <p:nvPr/>
        </p:nvSpPr>
        <p:spPr>
          <a:xfrm>
            <a:off x="4818888" y="1993392"/>
            <a:ext cx="438912" cy="0"/>
          </a:xfrm>
          <a:prstGeom prst="line">
            <a:avLst/>
          </a:prstGeom>
          <a:noFill/>
          <a:ln w="17780">
            <a:solidFill>
              <a:srgbClr val="58708E"/>
            </a:solidFill>
            <a:prstDash val="solid"/>
            <a:headEnd type="none"/>
            <a:tailEnd type="triangle"/>
          </a:ln>
        </p:spPr>
      </p:sp>
      <p:sp>
        <p:nvSpPr>
          <p:cNvPr id="13" name="Shape 11"/>
          <p:cNvSpPr/>
          <p:nvPr/>
        </p:nvSpPr>
        <p:spPr>
          <a:xfrm>
            <a:off x="5166360" y="1600200"/>
            <a:ext cx="1874520" cy="804672"/>
          </a:xfrm>
          <a:prstGeom prst="roundRect">
            <a:avLst>
              <a:gd name="adj" fmla="val 9091"/>
            </a:avLst>
          </a:prstGeom>
          <a:solidFill>
            <a:srgbClr val="DCF5E2"/>
          </a:solidFill>
          <a:ln w="15240">
            <a:solidFill>
              <a:srgbClr val="2E7D32"/>
            </a:solidFill>
            <a:prstDash val="solid"/>
          </a:ln>
        </p:spPr>
      </p:sp>
      <p:sp>
        <p:nvSpPr>
          <p:cNvPr id="14" name="Text 12"/>
          <p:cNvSpPr/>
          <p:nvPr/>
        </p:nvSpPr>
        <p:spPr>
          <a:xfrm>
            <a:off x="5312664" y="1728216"/>
            <a:ext cx="1581912" cy="237744"/>
          </a:xfrm>
          <a:prstGeom prst="rect">
            <a:avLst/>
          </a:prstGeom>
          <a:noFill/>
          <a:ln/>
        </p:spPr>
        <p:txBody>
          <a:bodyPr wrap="square" lIns="0" tIns="0" rIns="0" bIns="0" rtlCol="0" anchor="ctr"/>
          <a:lstStyle/>
          <a:p>
            <a:pPr indent="0" marL="0">
              <a:buNone/>
            </a:pPr>
            <a:r>
              <a:rPr lang="en-US" sz="1400" b="1" dirty="0">
                <a:solidFill>
                  <a:srgbClr val="0B1F3A"/>
                </a:solidFill>
              </a:rPr>
              <a:t>Index</a:t>
            </a:r>
            <a:endParaRPr lang="en-US" sz="1400" dirty="0"/>
          </a:p>
        </p:txBody>
      </p:sp>
      <p:sp>
        <p:nvSpPr>
          <p:cNvPr id="15" name="Text 13"/>
          <p:cNvSpPr/>
          <p:nvPr/>
        </p:nvSpPr>
        <p:spPr>
          <a:xfrm>
            <a:off x="5312664" y="2075688"/>
            <a:ext cx="1581912" cy="274320"/>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extract + chunk</a:t>
            </a:r>
            <a:endParaRPr lang="en-US" sz="1060" dirty="0"/>
          </a:p>
        </p:txBody>
      </p:sp>
      <p:sp>
        <p:nvSpPr>
          <p:cNvPr id="16" name="Shape 14"/>
          <p:cNvSpPr/>
          <p:nvPr/>
        </p:nvSpPr>
        <p:spPr>
          <a:xfrm>
            <a:off x="7150608" y="1993392"/>
            <a:ext cx="438912" cy="0"/>
          </a:xfrm>
          <a:prstGeom prst="line">
            <a:avLst/>
          </a:prstGeom>
          <a:noFill/>
          <a:ln w="17780">
            <a:solidFill>
              <a:srgbClr val="58708E"/>
            </a:solidFill>
            <a:prstDash val="solid"/>
            <a:headEnd type="none"/>
            <a:tailEnd type="triangle"/>
          </a:ln>
        </p:spPr>
      </p:sp>
      <p:sp>
        <p:nvSpPr>
          <p:cNvPr id="17" name="Shape 15"/>
          <p:cNvSpPr/>
          <p:nvPr/>
        </p:nvSpPr>
        <p:spPr>
          <a:xfrm>
            <a:off x="7498080" y="1600200"/>
            <a:ext cx="1874520" cy="804672"/>
          </a:xfrm>
          <a:prstGeom prst="roundRect">
            <a:avLst>
              <a:gd name="adj" fmla="val 9091"/>
            </a:avLst>
          </a:prstGeom>
          <a:solidFill>
            <a:srgbClr val="EAE2F8"/>
          </a:solidFill>
          <a:ln w="15240">
            <a:solidFill>
              <a:srgbClr val="5E35B1"/>
            </a:solidFill>
            <a:prstDash val="solid"/>
          </a:ln>
        </p:spPr>
      </p:sp>
      <p:sp>
        <p:nvSpPr>
          <p:cNvPr id="18" name="Text 16"/>
          <p:cNvSpPr/>
          <p:nvPr/>
        </p:nvSpPr>
        <p:spPr>
          <a:xfrm>
            <a:off x="7644384" y="1728216"/>
            <a:ext cx="1581912" cy="237744"/>
          </a:xfrm>
          <a:prstGeom prst="rect">
            <a:avLst/>
          </a:prstGeom>
          <a:noFill/>
          <a:ln/>
        </p:spPr>
        <p:txBody>
          <a:bodyPr wrap="square" lIns="0" tIns="0" rIns="0" bIns="0" rtlCol="0" anchor="ctr"/>
          <a:lstStyle/>
          <a:p>
            <a:pPr indent="0" marL="0">
              <a:buNone/>
            </a:pPr>
            <a:r>
              <a:rPr lang="en-US" sz="1400" b="1" dirty="0">
                <a:solidFill>
                  <a:srgbClr val="0B1F3A"/>
                </a:solidFill>
              </a:rPr>
              <a:t>Embeddings</a:t>
            </a:r>
            <a:endParaRPr lang="en-US" sz="1400" dirty="0"/>
          </a:p>
        </p:txBody>
      </p:sp>
      <p:sp>
        <p:nvSpPr>
          <p:cNvPr id="19" name="Text 17"/>
          <p:cNvSpPr/>
          <p:nvPr/>
        </p:nvSpPr>
        <p:spPr>
          <a:xfrm>
            <a:off x="7644384" y="2075688"/>
            <a:ext cx="1581912" cy="274320"/>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local model</a:t>
            </a:r>
            <a:endParaRPr lang="en-US" sz="1060" dirty="0"/>
          </a:p>
        </p:txBody>
      </p:sp>
      <p:sp>
        <p:nvSpPr>
          <p:cNvPr id="20" name="Shape 18"/>
          <p:cNvSpPr/>
          <p:nvPr/>
        </p:nvSpPr>
        <p:spPr>
          <a:xfrm>
            <a:off x="9482328" y="1993392"/>
            <a:ext cx="438912" cy="0"/>
          </a:xfrm>
          <a:prstGeom prst="line">
            <a:avLst/>
          </a:prstGeom>
          <a:noFill/>
          <a:ln w="17780">
            <a:solidFill>
              <a:srgbClr val="58708E"/>
            </a:solidFill>
            <a:prstDash val="solid"/>
            <a:headEnd type="none"/>
            <a:tailEnd type="triangle"/>
          </a:ln>
        </p:spPr>
      </p:sp>
      <p:sp>
        <p:nvSpPr>
          <p:cNvPr id="21" name="Shape 19"/>
          <p:cNvSpPr/>
          <p:nvPr/>
        </p:nvSpPr>
        <p:spPr>
          <a:xfrm>
            <a:off x="9829800" y="1600200"/>
            <a:ext cx="1874520" cy="804672"/>
          </a:xfrm>
          <a:prstGeom prst="roundRect">
            <a:avLst>
              <a:gd name="adj" fmla="val 9091"/>
            </a:avLst>
          </a:prstGeom>
          <a:solidFill>
            <a:srgbClr val="DCF7F7"/>
          </a:solidFill>
          <a:ln w="15240">
            <a:solidFill>
              <a:srgbClr val="008C95"/>
            </a:solidFill>
            <a:prstDash val="solid"/>
          </a:ln>
        </p:spPr>
      </p:sp>
      <p:sp>
        <p:nvSpPr>
          <p:cNvPr id="22" name="Text 20"/>
          <p:cNvSpPr/>
          <p:nvPr/>
        </p:nvSpPr>
        <p:spPr>
          <a:xfrm>
            <a:off x="9976104" y="1728216"/>
            <a:ext cx="1581912" cy="237744"/>
          </a:xfrm>
          <a:prstGeom prst="rect">
            <a:avLst/>
          </a:prstGeom>
          <a:noFill/>
          <a:ln/>
        </p:spPr>
        <p:txBody>
          <a:bodyPr wrap="square" lIns="0" tIns="0" rIns="0" bIns="0" rtlCol="0" anchor="ctr"/>
          <a:lstStyle/>
          <a:p>
            <a:pPr indent="0" marL="0">
              <a:buNone/>
            </a:pPr>
            <a:r>
              <a:rPr lang="en-US" sz="1400" b="1" dirty="0">
                <a:solidFill>
                  <a:srgbClr val="0B1F3A"/>
                </a:solidFill>
              </a:rPr>
              <a:t>Snapshot</a:t>
            </a:r>
            <a:endParaRPr lang="en-US" sz="1400" dirty="0"/>
          </a:p>
        </p:txBody>
      </p:sp>
      <p:sp>
        <p:nvSpPr>
          <p:cNvPr id="23" name="Text 21"/>
          <p:cNvSpPr/>
          <p:nvPr/>
        </p:nvSpPr>
        <p:spPr>
          <a:xfrm>
            <a:off x="9976104" y="2075688"/>
            <a:ext cx="1581912" cy="274320"/>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atomic publish</a:t>
            </a:r>
            <a:endParaRPr lang="en-US" sz="1060" dirty="0"/>
          </a:p>
        </p:txBody>
      </p:sp>
      <p:sp>
        <p:nvSpPr>
          <p:cNvPr id="24" name="Shape 22"/>
          <p:cNvSpPr/>
          <p:nvPr/>
        </p:nvSpPr>
        <p:spPr>
          <a:xfrm>
            <a:off x="777240" y="3291840"/>
            <a:ext cx="3429000" cy="1234440"/>
          </a:xfrm>
          <a:prstGeom prst="roundRect">
            <a:avLst>
              <a:gd name="adj" fmla="val 5926"/>
            </a:avLst>
          </a:prstGeom>
          <a:solidFill>
            <a:srgbClr val="FFFFFF"/>
          </a:solidFill>
          <a:ln w="15240">
            <a:solidFill>
              <a:srgbClr val="1F4E79"/>
            </a:solidFill>
            <a:prstDash val="solid"/>
          </a:ln>
        </p:spPr>
      </p:sp>
      <p:sp>
        <p:nvSpPr>
          <p:cNvPr id="25" name="Text 23"/>
          <p:cNvSpPr/>
          <p:nvPr/>
        </p:nvSpPr>
        <p:spPr>
          <a:xfrm>
            <a:off x="923544" y="3419856"/>
            <a:ext cx="3136392" cy="237744"/>
          </a:xfrm>
          <a:prstGeom prst="rect">
            <a:avLst/>
          </a:prstGeom>
          <a:noFill/>
          <a:ln/>
        </p:spPr>
        <p:txBody>
          <a:bodyPr wrap="square" lIns="0" tIns="0" rIns="0" bIns="0" rtlCol="0" anchor="ctr"/>
          <a:lstStyle/>
          <a:p>
            <a:pPr indent="0" marL="0">
              <a:buNone/>
            </a:pPr>
            <a:r>
              <a:rPr lang="en-US" sz="1400" b="1" dirty="0">
                <a:solidFill>
                  <a:srgbClr val="0B1F3A"/>
                </a:solidFill>
              </a:rPr>
              <a:t>Versioning control</a:t>
            </a:r>
            <a:endParaRPr lang="en-US" sz="1400" dirty="0"/>
          </a:p>
        </p:txBody>
      </p:sp>
      <p:sp>
        <p:nvSpPr>
          <p:cNvPr id="26" name="Text 24"/>
          <p:cNvSpPr/>
          <p:nvPr/>
        </p:nvSpPr>
        <p:spPr>
          <a:xfrm>
            <a:off x="923544" y="3767328"/>
            <a:ext cx="3136392" cy="70408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Old document versions remain auditable, but normal retrieval sees only the current active version.</a:t>
            </a:r>
            <a:endParaRPr lang="en-US" sz="1060" dirty="0"/>
          </a:p>
        </p:txBody>
      </p:sp>
      <p:sp>
        <p:nvSpPr>
          <p:cNvPr id="27" name="Shape 25"/>
          <p:cNvSpPr/>
          <p:nvPr/>
        </p:nvSpPr>
        <p:spPr>
          <a:xfrm>
            <a:off x="4480560" y="3291840"/>
            <a:ext cx="3429000" cy="1234440"/>
          </a:xfrm>
          <a:prstGeom prst="roundRect">
            <a:avLst>
              <a:gd name="adj" fmla="val 5926"/>
            </a:avLst>
          </a:prstGeom>
          <a:solidFill>
            <a:srgbClr val="FFFFFF"/>
          </a:solidFill>
          <a:ln w="15240">
            <a:solidFill>
              <a:srgbClr val="2E7D32"/>
            </a:solidFill>
            <a:prstDash val="solid"/>
          </a:ln>
        </p:spPr>
      </p:sp>
      <p:sp>
        <p:nvSpPr>
          <p:cNvPr id="28" name="Text 26"/>
          <p:cNvSpPr/>
          <p:nvPr/>
        </p:nvSpPr>
        <p:spPr>
          <a:xfrm>
            <a:off x="4626864" y="3419856"/>
            <a:ext cx="3136392" cy="237744"/>
          </a:xfrm>
          <a:prstGeom prst="rect">
            <a:avLst/>
          </a:prstGeom>
          <a:noFill/>
          <a:ln/>
        </p:spPr>
        <p:txBody>
          <a:bodyPr wrap="square" lIns="0" tIns="0" rIns="0" bIns="0" rtlCol="0" anchor="ctr"/>
          <a:lstStyle/>
          <a:p>
            <a:pPr indent="0" marL="0">
              <a:buNone/>
            </a:pPr>
            <a:r>
              <a:rPr lang="en-US" sz="1400" b="1" dirty="0">
                <a:solidFill>
                  <a:srgbClr val="0B1F3A"/>
                </a:solidFill>
              </a:rPr>
              <a:t>Delta mechanism</a:t>
            </a:r>
            <a:endParaRPr lang="en-US" sz="1400" dirty="0"/>
          </a:p>
        </p:txBody>
      </p:sp>
      <p:sp>
        <p:nvSpPr>
          <p:cNvPr id="29" name="Text 27"/>
          <p:cNvSpPr/>
          <p:nvPr/>
        </p:nvSpPr>
        <p:spPr>
          <a:xfrm>
            <a:off x="4626864" y="3767328"/>
            <a:ext cx="3136392" cy="70408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Unchanged documents are not re-extracted, re-chunked or re-embedded. Only changed content is reprocessed.</a:t>
            </a:r>
            <a:endParaRPr lang="en-US" sz="1060" dirty="0"/>
          </a:p>
        </p:txBody>
      </p:sp>
      <p:sp>
        <p:nvSpPr>
          <p:cNvPr id="30" name="Shape 28"/>
          <p:cNvSpPr/>
          <p:nvPr/>
        </p:nvSpPr>
        <p:spPr>
          <a:xfrm>
            <a:off x="8183880" y="3291840"/>
            <a:ext cx="3154680" cy="1234440"/>
          </a:xfrm>
          <a:prstGeom prst="roundRect">
            <a:avLst>
              <a:gd name="adj" fmla="val 5926"/>
            </a:avLst>
          </a:prstGeom>
          <a:solidFill>
            <a:srgbClr val="FFFFFF"/>
          </a:solidFill>
          <a:ln w="15240">
            <a:solidFill>
              <a:srgbClr val="B91C1C"/>
            </a:solidFill>
            <a:prstDash val="solid"/>
          </a:ln>
        </p:spPr>
      </p:sp>
      <p:sp>
        <p:nvSpPr>
          <p:cNvPr id="31" name="Text 29"/>
          <p:cNvSpPr/>
          <p:nvPr/>
        </p:nvSpPr>
        <p:spPr>
          <a:xfrm>
            <a:off x="8330184" y="3419856"/>
            <a:ext cx="2862072" cy="237744"/>
          </a:xfrm>
          <a:prstGeom prst="rect">
            <a:avLst/>
          </a:prstGeom>
          <a:noFill/>
          <a:ln/>
        </p:spPr>
        <p:txBody>
          <a:bodyPr wrap="square" lIns="0" tIns="0" rIns="0" bIns="0" rtlCol="0" anchor="ctr"/>
          <a:lstStyle/>
          <a:p>
            <a:pPr indent="0" marL="0">
              <a:buNone/>
            </a:pPr>
            <a:r>
              <a:rPr lang="en-US" sz="1400" b="1" dirty="0">
                <a:solidFill>
                  <a:srgbClr val="0B1F3A"/>
                </a:solidFill>
              </a:rPr>
              <a:t>Why it matters</a:t>
            </a:r>
            <a:endParaRPr lang="en-US" sz="1400" dirty="0"/>
          </a:p>
        </p:txBody>
      </p:sp>
      <p:sp>
        <p:nvSpPr>
          <p:cNvPr id="32" name="Text 30"/>
          <p:cNvSpPr/>
          <p:nvPr/>
        </p:nvSpPr>
        <p:spPr>
          <a:xfrm>
            <a:off x="8330184" y="3767328"/>
            <a:ext cx="2862072" cy="70408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Prevents a RAG system from mixing stale and current specifications in one answer.</a:t>
            </a:r>
            <a:endParaRPr lang="en-US" sz="1060" dirty="0"/>
          </a:p>
        </p:txBody>
      </p:sp>
      <p:sp>
        <p:nvSpPr>
          <p:cNvPr id="33" name="Shape 31"/>
          <p:cNvSpPr/>
          <p:nvPr/>
        </p:nvSpPr>
        <p:spPr>
          <a:xfrm>
            <a:off x="1097280" y="5166360"/>
            <a:ext cx="9875520" cy="566928"/>
          </a:xfrm>
          <a:prstGeom prst="roundRect">
            <a:avLst>
              <a:gd name="adj" fmla="val 12903"/>
            </a:avLst>
          </a:prstGeom>
          <a:solidFill>
            <a:srgbClr val="EFF3F7"/>
          </a:solidFill>
          <a:ln w="15240">
            <a:solidFill>
              <a:srgbClr val="58708E"/>
            </a:solidFill>
            <a:prstDash val="solid"/>
          </a:ln>
        </p:spPr>
      </p:sp>
      <p:sp>
        <p:nvSpPr>
          <p:cNvPr id="34" name="Text 32"/>
          <p:cNvSpPr/>
          <p:nvPr/>
        </p:nvSpPr>
        <p:spPr>
          <a:xfrm>
            <a:off x="1243584" y="5294376"/>
            <a:ext cx="9582912" cy="237744"/>
          </a:xfrm>
          <a:prstGeom prst="rect">
            <a:avLst/>
          </a:prstGeom>
          <a:noFill/>
          <a:ln/>
        </p:spPr>
        <p:txBody>
          <a:bodyPr wrap="square" lIns="0" tIns="0" rIns="0" bIns="0" rtlCol="0" anchor="ctr"/>
          <a:lstStyle/>
          <a:p>
            <a:pPr indent="0" marL="0">
              <a:buNone/>
            </a:pPr>
            <a:r>
              <a:rPr lang="en-US" sz="1400" b="1" dirty="0">
                <a:solidFill>
                  <a:srgbClr val="0B1F3A"/>
                </a:solidFill>
              </a:rPr>
              <a:t>Simple explanation</a:t>
            </a:r>
            <a:endParaRPr lang="en-US" sz="1400" dirty="0"/>
          </a:p>
        </p:txBody>
      </p:sp>
      <p:sp>
        <p:nvSpPr>
          <p:cNvPr id="35" name="Text 33"/>
          <p:cNvSpPr/>
          <p:nvPr/>
        </p:nvSpPr>
        <p:spPr>
          <a:xfrm>
            <a:off x="1243584" y="5641848"/>
            <a:ext cx="9582912" cy="36576"/>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Treat the knowledge base like a controlled release: build, validate, publish, then serve.</a:t>
            </a:r>
            <a:endParaRPr lang="en-US" sz="1060" dirty="0"/>
          </a:p>
        </p:txBody>
      </p:sp>
      <p:sp>
        <p:nvSpPr>
          <p:cNvPr id="36" name="Shape 34"/>
          <p:cNvSpPr/>
          <p:nvPr/>
        </p:nvSpPr>
        <p:spPr>
          <a:xfrm>
            <a:off x="411480" y="6565392"/>
            <a:ext cx="11338560" cy="0"/>
          </a:xfrm>
          <a:prstGeom prst="line">
            <a:avLst/>
          </a:prstGeom>
          <a:noFill/>
          <a:ln w="8890">
            <a:solidFill>
              <a:srgbClr val="CBD5E1"/>
            </a:solidFill>
            <a:prstDash val="solid"/>
          </a:ln>
        </p:spPr>
      </p:sp>
      <p:sp>
        <p:nvSpPr>
          <p:cNvPr id="37" name="Text 35"/>
          <p:cNvSpPr/>
          <p:nvPr/>
        </p:nvSpPr>
        <p:spPr>
          <a:xfrm>
            <a:off x="457200" y="6611112"/>
            <a:ext cx="6858000" cy="164592"/>
          </a:xfrm>
          <a:prstGeom prst="rect">
            <a:avLst/>
          </a:prstGeom>
          <a:noFill/>
          <a:ln/>
        </p:spPr>
        <p:txBody>
          <a:bodyPr wrap="square" lIns="0" tIns="0" rIns="0" bIns="0" rtlCol="0" anchor="ctr"/>
          <a:lstStyle/>
          <a:p>
            <a:pPr indent="0" marL="0">
              <a:buNone/>
            </a:pPr>
            <a:r>
              <a:rPr lang="en-US" sz="750" dirty="0">
                <a:solidFill>
                  <a:srgbClr val="58708E"/>
                </a:solidFill>
              </a:rPr>
              <a:t>Lime Green Technical Knowledge Assistant · user jobs → risks → architecture</a:t>
            </a:r>
            <a:endParaRPr lang="en-US" sz="750" dirty="0"/>
          </a:p>
        </p:txBody>
      </p:sp>
      <p:sp>
        <p:nvSpPr>
          <p:cNvPr id="38" name="Text 36"/>
          <p:cNvSpPr/>
          <p:nvPr/>
        </p:nvSpPr>
        <p:spPr>
          <a:xfrm>
            <a:off x="11430000" y="6601968"/>
            <a:ext cx="274320" cy="164592"/>
          </a:xfrm>
          <a:prstGeom prst="rect">
            <a:avLst/>
          </a:prstGeom>
          <a:noFill/>
          <a:ln/>
        </p:spPr>
        <p:txBody>
          <a:bodyPr wrap="square" lIns="0" tIns="0" rIns="0" bIns="0" rtlCol="0" anchor="ctr"/>
          <a:lstStyle/>
          <a:p>
            <a:pPr algn="r" indent="0" marL="0">
              <a:buNone/>
            </a:pPr>
            <a:r>
              <a:rPr lang="en-US" sz="800" dirty="0">
                <a:solidFill>
                  <a:srgbClr val="58708E"/>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292608"/>
            <a:ext cx="11338560" cy="502920"/>
          </a:xfrm>
          <a:prstGeom prst="rect">
            <a:avLst/>
          </a:prstGeom>
          <a:noFill/>
          <a:ln/>
        </p:spPr>
        <p:txBody>
          <a:bodyPr wrap="square" lIns="0" tIns="0" rIns="0" bIns="0" rtlCol="0" anchor="ctr"/>
          <a:lstStyle/>
          <a:p>
            <a:pPr indent="0" marL="0">
              <a:buNone/>
            </a:pPr>
            <a:r>
              <a:rPr lang="en-US" sz="3000" b="1" dirty="0">
                <a:solidFill>
                  <a:srgbClr val="0B1F3A"/>
                </a:solidFill>
                <a:latin typeface="Aptos Display" pitchFamily="34" charset="0"/>
                <a:ea typeface="Aptos Display" pitchFamily="34" charset="-122"/>
                <a:cs typeface="Aptos Display" pitchFamily="34" charset="-120"/>
              </a:rPr>
              <a:t>6 · Answer pipeline: code controls the safety envelope</a:t>
            </a:r>
            <a:endParaRPr lang="en-US" sz="3000" dirty="0"/>
          </a:p>
        </p:txBody>
      </p:sp>
      <p:sp>
        <p:nvSpPr>
          <p:cNvPr id="3" name="Text 1"/>
          <p:cNvSpPr/>
          <p:nvPr/>
        </p:nvSpPr>
        <p:spPr>
          <a:xfrm>
            <a:off x="438912" y="822960"/>
            <a:ext cx="11155680" cy="301752"/>
          </a:xfrm>
          <a:prstGeom prst="rect">
            <a:avLst/>
          </a:prstGeom>
          <a:noFill/>
          <a:ln/>
        </p:spPr>
        <p:txBody>
          <a:bodyPr wrap="square" lIns="0" tIns="0" rIns="0" bIns="0" rtlCol="0" anchor="ctr"/>
          <a:lstStyle/>
          <a:p>
            <a:pPr indent="0" marL="0">
              <a:buNone/>
            </a:pPr>
            <a:r>
              <a:rPr lang="en-US" sz="1350" dirty="0">
                <a:solidFill>
                  <a:srgbClr val="58708E"/>
                </a:solidFill>
              </a:rPr>
              <a:t>A question becomes extract, compose, refusal or hand-off.</a:t>
            </a:r>
            <a:endParaRPr lang="en-US" sz="1350" dirty="0"/>
          </a:p>
        </p:txBody>
      </p:sp>
      <p:sp>
        <p:nvSpPr>
          <p:cNvPr id="4" name="Shape 2"/>
          <p:cNvSpPr/>
          <p:nvPr/>
        </p:nvSpPr>
        <p:spPr>
          <a:xfrm>
            <a:off x="411480" y="1143000"/>
            <a:ext cx="11338560" cy="0"/>
          </a:xfrm>
          <a:prstGeom prst="line">
            <a:avLst/>
          </a:prstGeom>
          <a:noFill/>
          <a:ln w="12700">
            <a:solidFill>
              <a:srgbClr val="CBD5E1"/>
            </a:solidFill>
            <a:prstDash val="solid"/>
          </a:ln>
        </p:spPr>
      </p:sp>
      <p:sp>
        <p:nvSpPr>
          <p:cNvPr id="5" name="Shape 3"/>
          <p:cNvSpPr/>
          <p:nvPr/>
        </p:nvSpPr>
        <p:spPr>
          <a:xfrm>
            <a:off x="502920" y="1417320"/>
            <a:ext cx="1920240" cy="731520"/>
          </a:xfrm>
          <a:prstGeom prst="roundRect">
            <a:avLst>
              <a:gd name="adj" fmla="val 10000"/>
            </a:avLst>
          </a:prstGeom>
          <a:solidFill>
            <a:srgbClr val="DCEBFA"/>
          </a:solidFill>
          <a:ln w="15240">
            <a:solidFill>
              <a:srgbClr val="1F4E79"/>
            </a:solidFill>
            <a:prstDash val="solid"/>
          </a:ln>
        </p:spPr>
      </p:sp>
      <p:sp>
        <p:nvSpPr>
          <p:cNvPr id="6" name="Text 4"/>
          <p:cNvSpPr/>
          <p:nvPr/>
        </p:nvSpPr>
        <p:spPr>
          <a:xfrm>
            <a:off x="649224" y="1545336"/>
            <a:ext cx="1627632" cy="237744"/>
          </a:xfrm>
          <a:prstGeom prst="rect">
            <a:avLst/>
          </a:prstGeom>
          <a:noFill/>
          <a:ln/>
        </p:spPr>
        <p:txBody>
          <a:bodyPr wrap="square" lIns="0" tIns="0" rIns="0" bIns="0" rtlCol="0" anchor="ctr"/>
          <a:lstStyle/>
          <a:p>
            <a:pPr indent="0" marL="0">
              <a:buNone/>
            </a:pPr>
            <a:r>
              <a:rPr lang="en-US" sz="1400" b="1" dirty="0">
                <a:solidFill>
                  <a:srgbClr val="0B1F3A"/>
                </a:solidFill>
              </a:rPr>
              <a:t>Question</a:t>
            </a:r>
            <a:endParaRPr lang="en-US" sz="1400" dirty="0"/>
          </a:p>
        </p:txBody>
      </p:sp>
      <p:sp>
        <p:nvSpPr>
          <p:cNvPr id="7" name="Text 5"/>
          <p:cNvSpPr/>
          <p:nvPr/>
        </p:nvSpPr>
        <p:spPr>
          <a:xfrm>
            <a:off x="649224" y="1892808"/>
            <a:ext cx="1627632" cy="20116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CLI / UI / web</a:t>
            </a:r>
            <a:endParaRPr lang="en-US" sz="1060" dirty="0"/>
          </a:p>
        </p:txBody>
      </p:sp>
      <p:sp>
        <p:nvSpPr>
          <p:cNvPr id="8" name="Shape 6"/>
          <p:cNvSpPr/>
          <p:nvPr/>
        </p:nvSpPr>
        <p:spPr>
          <a:xfrm>
            <a:off x="2514600" y="1773936"/>
            <a:ext cx="347472" cy="0"/>
          </a:xfrm>
          <a:prstGeom prst="line">
            <a:avLst/>
          </a:prstGeom>
          <a:noFill/>
          <a:ln w="17780">
            <a:solidFill>
              <a:srgbClr val="58708E"/>
            </a:solidFill>
            <a:prstDash val="solid"/>
            <a:headEnd type="none"/>
            <a:tailEnd type="triangle"/>
          </a:ln>
        </p:spPr>
      </p:sp>
      <p:sp>
        <p:nvSpPr>
          <p:cNvPr id="9" name="Shape 7"/>
          <p:cNvSpPr/>
          <p:nvPr/>
        </p:nvSpPr>
        <p:spPr>
          <a:xfrm>
            <a:off x="2834640" y="1417320"/>
            <a:ext cx="1920240" cy="731520"/>
          </a:xfrm>
          <a:prstGeom prst="roundRect">
            <a:avLst>
              <a:gd name="adj" fmla="val 10000"/>
            </a:avLst>
          </a:prstGeom>
          <a:solidFill>
            <a:srgbClr val="DCF5E2"/>
          </a:solidFill>
          <a:ln w="15240">
            <a:solidFill>
              <a:srgbClr val="2E7D32"/>
            </a:solidFill>
            <a:prstDash val="solid"/>
          </a:ln>
        </p:spPr>
      </p:sp>
      <p:sp>
        <p:nvSpPr>
          <p:cNvPr id="10" name="Text 8"/>
          <p:cNvSpPr/>
          <p:nvPr/>
        </p:nvSpPr>
        <p:spPr>
          <a:xfrm>
            <a:off x="2980944" y="1545336"/>
            <a:ext cx="1627632" cy="237744"/>
          </a:xfrm>
          <a:prstGeom prst="rect">
            <a:avLst/>
          </a:prstGeom>
          <a:noFill/>
          <a:ln/>
        </p:spPr>
        <p:txBody>
          <a:bodyPr wrap="square" lIns="0" tIns="0" rIns="0" bIns="0" rtlCol="0" anchor="ctr"/>
          <a:lstStyle/>
          <a:p>
            <a:pPr indent="0" marL="0">
              <a:buNone/>
            </a:pPr>
            <a:r>
              <a:rPr lang="en-US" sz="1400" b="1" dirty="0">
                <a:solidFill>
                  <a:srgbClr val="0B1F3A"/>
                </a:solidFill>
              </a:rPr>
              <a:t>Audience</a:t>
            </a:r>
            <a:endParaRPr lang="en-US" sz="1400" dirty="0"/>
          </a:p>
        </p:txBody>
      </p:sp>
      <p:sp>
        <p:nvSpPr>
          <p:cNvPr id="11" name="Text 9"/>
          <p:cNvSpPr/>
          <p:nvPr/>
        </p:nvSpPr>
        <p:spPr>
          <a:xfrm>
            <a:off x="2980944" y="1892808"/>
            <a:ext cx="1627632" cy="20116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public / trade / staff</a:t>
            </a:r>
            <a:endParaRPr lang="en-US" sz="1060" dirty="0"/>
          </a:p>
        </p:txBody>
      </p:sp>
      <p:sp>
        <p:nvSpPr>
          <p:cNvPr id="12" name="Shape 10"/>
          <p:cNvSpPr/>
          <p:nvPr/>
        </p:nvSpPr>
        <p:spPr>
          <a:xfrm>
            <a:off x="4846320" y="1773936"/>
            <a:ext cx="347472" cy="0"/>
          </a:xfrm>
          <a:prstGeom prst="line">
            <a:avLst/>
          </a:prstGeom>
          <a:noFill/>
          <a:ln w="17780">
            <a:solidFill>
              <a:srgbClr val="58708E"/>
            </a:solidFill>
            <a:prstDash val="solid"/>
            <a:headEnd type="none"/>
            <a:tailEnd type="triangle"/>
          </a:ln>
        </p:spPr>
      </p:sp>
      <p:sp>
        <p:nvSpPr>
          <p:cNvPr id="13" name="Shape 11"/>
          <p:cNvSpPr/>
          <p:nvPr/>
        </p:nvSpPr>
        <p:spPr>
          <a:xfrm>
            <a:off x="5166360" y="1417320"/>
            <a:ext cx="1920240" cy="731520"/>
          </a:xfrm>
          <a:prstGeom prst="roundRect">
            <a:avLst>
              <a:gd name="adj" fmla="val 10000"/>
            </a:avLst>
          </a:prstGeom>
          <a:solidFill>
            <a:srgbClr val="DCF7F7"/>
          </a:solidFill>
          <a:ln w="15240">
            <a:solidFill>
              <a:srgbClr val="008C95"/>
            </a:solidFill>
            <a:prstDash val="solid"/>
          </a:ln>
        </p:spPr>
      </p:sp>
      <p:sp>
        <p:nvSpPr>
          <p:cNvPr id="14" name="Text 12"/>
          <p:cNvSpPr/>
          <p:nvPr/>
        </p:nvSpPr>
        <p:spPr>
          <a:xfrm>
            <a:off x="5312664" y="1545336"/>
            <a:ext cx="1627632" cy="237744"/>
          </a:xfrm>
          <a:prstGeom prst="rect">
            <a:avLst/>
          </a:prstGeom>
          <a:noFill/>
          <a:ln/>
        </p:spPr>
        <p:txBody>
          <a:bodyPr wrap="square" lIns="0" tIns="0" rIns="0" bIns="0" rtlCol="0" anchor="ctr"/>
          <a:lstStyle/>
          <a:p>
            <a:pPr indent="0" marL="0">
              <a:buNone/>
            </a:pPr>
            <a:r>
              <a:rPr lang="en-US" sz="1400" b="1" dirty="0">
                <a:solidFill>
                  <a:srgbClr val="0B1F3A"/>
                </a:solidFill>
              </a:rPr>
              <a:t>Retrieve</a:t>
            </a:r>
            <a:endParaRPr lang="en-US" sz="1400" dirty="0"/>
          </a:p>
        </p:txBody>
      </p:sp>
      <p:sp>
        <p:nvSpPr>
          <p:cNvPr id="15" name="Text 13"/>
          <p:cNvSpPr/>
          <p:nvPr/>
        </p:nvSpPr>
        <p:spPr>
          <a:xfrm>
            <a:off x="5312664" y="1892808"/>
            <a:ext cx="1627632" cy="20116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current allowed evidence</a:t>
            </a:r>
            <a:endParaRPr lang="en-US" sz="1060" dirty="0"/>
          </a:p>
        </p:txBody>
      </p:sp>
      <p:sp>
        <p:nvSpPr>
          <p:cNvPr id="16" name="Shape 14"/>
          <p:cNvSpPr/>
          <p:nvPr/>
        </p:nvSpPr>
        <p:spPr>
          <a:xfrm>
            <a:off x="7178040" y="1773936"/>
            <a:ext cx="347472" cy="0"/>
          </a:xfrm>
          <a:prstGeom prst="line">
            <a:avLst/>
          </a:prstGeom>
          <a:noFill/>
          <a:ln w="17780">
            <a:solidFill>
              <a:srgbClr val="58708E"/>
            </a:solidFill>
            <a:prstDash val="solid"/>
            <a:headEnd type="none"/>
            <a:tailEnd type="triangle"/>
          </a:ln>
        </p:spPr>
      </p:sp>
      <p:sp>
        <p:nvSpPr>
          <p:cNvPr id="17" name="Shape 15"/>
          <p:cNvSpPr/>
          <p:nvPr/>
        </p:nvSpPr>
        <p:spPr>
          <a:xfrm>
            <a:off x="7498080" y="1417320"/>
            <a:ext cx="1920240" cy="731520"/>
          </a:xfrm>
          <a:prstGeom prst="roundRect">
            <a:avLst>
              <a:gd name="adj" fmla="val 10000"/>
            </a:avLst>
          </a:prstGeom>
          <a:solidFill>
            <a:srgbClr val="FFF2CC"/>
          </a:solidFill>
          <a:ln w="15240">
            <a:solidFill>
              <a:srgbClr val="B7791F"/>
            </a:solidFill>
            <a:prstDash val="solid"/>
          </a:ln>
        </p:spPr>
      </p:sp>
      <p:sp>
        <p:nvSpPr>
          <p:cNvPr id="18" name="Text 16"/>
          <p:cNvSpPr/>
          <p:nvPr/>
        </p:nvSpPr>
        <p:spPr>
          <a:xfrm>
            <a:off x="7644384" y="1545336"/>
            <a:ext cx="1627632" cy="237744"/>
          </a:xfrm>
          <a:prstGeom prst="rect">
            <a:avLst/>
          </a:prstGeom>
          <a:noFill/>
          <a:ln/>
        </p:spPr>
        <p:txBody>
          <a:bodyPr wrap="square" lIns="0" tIns="0" rIns="0" bIns="0" rtlCol="0" anchor="ctr"/>
          <a:lstStyle/>
          <a:p>
            <a:pPr indent="0" marL="0">
              <a:buNone/>
            </a:pPr>
            <a:r>
              <a:rPr lang="en-US" sz="1400" b="1" dirty="0">
                <a:solidFill>
                  <a:srgbClr val="0B1F3A"/>
                </a:solidFill>
              </a:rPr>
              <a:t>Router</a:t>
            </a:r>
            <a:endParaRPr lang="en-US" sz="1400" dirty="0"/>
          </a:p>
        </p:txBody>
      </p:sp>
      <p:sp>
        <p:nvSpPr>
          <p:cNvPr id="19" name="Text 17"/>
          <p:cNvSpPr/>
          <p:nvPr/>
        </p:nvSpPr>
        <p:spPr>
          <a:xfrm>
            <a:off x="7644384" y="1892808"/>
            <a:ext cx="1627632" cy="20116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deterministic path</a:t>
            </a:r>
            <a:endParaRPr lang="en-US" sz="1060" dirty="0"/>
          </a:p>
        </p:txBody>
      </p:sp>
      <p:sp>
        <p:nvSpPr>
          <p:cNvPr id="20" name="Shape 18"/>
          <p:cNvSpPr/>
          <p:nvPr/>
        </p:nvSpPr>
        <p:spPr>
          <a:xfrm>
            <a:off x="9509760" y="1773936"/>
            <a:ext cx="347472" cy="0"/>
          </a:xfrm>
          <a:prstGeom prst="line">
            <a:avLst/>
          </a:prstGeom>
          <a:noFill/>
          <a:ln w="17780">
            <a:solidFill>
              <a:srgbClr val="58708E"/>
            </a:solidFill>
            <a:prstDash val="solid"/>
            <a:headEnd type="none"/>
            <a:tailEnd type="triangle"/>
          </a:ln>
        </p:spPr>
      </p:sp>
      <p:sp>
        <p:nvSpPr>
          <p:cNvPr id="21" name="Shape 19"/>
          <p:cNvSpPr/>
          <p:nvPr/>
        </p:nvSpPr>
        <p:spPr>
          <a:xfrm>
            <a:off x="9829800" y="1417320"/>
            <a:ext cx="1920240" cy="731520"/>
          </a:xfrm>
          <a:prstGeom prst="roundRect">
            <a:avLst>
              <a:gd name="adj" fmla="val 10000"/>
            </a:avLst>
          </a:prstGeom>
          <a:solidFill>
            <a:srgbClr val="EAE2F8"/>
          </a:solidFill>
          <a:ln w="15240">
            <a:solidFill>
              <a:srgbClr val="5E35B1"/>
            </a:solidFill>
            <a:prstDash val="solid"/>
          </a:ln>
        </p:spPr>
      </p:sp>
      <p:sp>
        <p:nvSpPr>
          <p:cNvPr id="22" name="Text 20"/>
          <p:cNvSpPr/>
          <p:nvPr/>
        </p:nvSpPr>
        <p:spPr>
          <a:xfrm>
            <a:off x="9976104" y="1545336"/>
            <a:ext cx="1627632" cy="237744"/>
          </a:xfrm>
          <a:prstGeom prst="rect">
            <a:avLst/>
          </a:prstGeom>
          <a:noFill/>
          <a:ln/>
        </p:spPr>
        <p:txBody>
          <a:bodyPr wrap="square" lIns="0" tIns="0" rIns="0" bIns="0" rtlCol="0" anchor="ctr"/>
          <a:lstStyle/>
          <a:p>
            <a:pPr indent="0" marL="0">
              <a:buNone/>
            </a:pPr>
            <a:r>
              <a:rPr lang="en-US" sz="1400" b="1" dirty="0">
                <a:solidFill>
                  <a:srgbClr val="0B1F3A"/>
                </a:solidFill>
              </a:rPr>
              <a:t>Reply</a:t>
            </a:r>
            <a:endParaRPr lang="en-US" sz="1400" dirty="0"/>
          </a:p>
        </p:txBody>
      </p:sp>
      <p:sp>
        <p:nvSpPr>
          <p:cNvPr id="23" name="Text 21"/>
          <p:cNvSpPr/>
          <p:nvPr/>
        </p:nvSpPr>
        <p:spPr>
          <a:xfrm>
            <a:off x="9976104" y="1892808"/>
            <a:ext cx="1627632" cy="20116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cited output</a:t>
            </a:r>
            <a:endParaRPr lang="en-US" sz="1060" dirty="0"/>
          </a:p>
        </p:txBody>
      </p:sp>
      <p:sp>
        <p:nvSpPr>
          <p:cNvPr id="24" name="Shape 22"/>
          <p:cNvSpPr/>
          <p:nvPr/>
        </p:nvSpPr>
        <p:spPr>
          <a:xfrm>
            <a:off x="685800" y="2788920"/>
            <a:ext cx="2514600" cy="960120"/>
          </a:xfrm>
          <a:prstGeom prst="roundRect">
            <a:avLst>
              <a:gd name="adj" fmla="val 7619"/>
            </a:avLst>
          </a:prstGeom>
          <a:solidFill>
            <a:srgbClr val="DCF5E2"/>
          </a:solidFill>
          <a:ln w="15240">
            <a:solidFill>
              <a:srgbClr val="2E7D32"/>
            </a:solidFill>
            <a:prstDash val="solid"/>
          </a:ln>
        </p:spPr>
      </p:sp>
      <p:sp>
        <p:nvSpPr>
          <p:cNvPr id="25" name="Text 23"/>
          <p:cNvSpPr/>
          <p:nvPr/>
        </p:nvSpPr>
        <p:spPr>
          <a:xfrm>
            <a:off x="832104" y="2916936"/>
            <a:ext cx="2221992" cy="237744"/>
          </a:xfrm>
          <a:prstGeom prst="rect">
            <a:avLst/>
          </a:prstGeom>
          <a:noFill/>
          <a:ln/>
        </p:spPr>
        <p:txBody>
          <a:bodyPr wrap="square" lIns="0" tIns="0" rIns="0" bIns="0" rtlCol="0" anchor="ctr"/>
          <a:lstStyle/>
          <a:p>
            <a:pPr indent="0" marL="0">
              <a:buNone/>
            </a:pPr>
            <a:r>
              <a:rPr lang="en-US" sz="1400" b="1" dirty="0">
                <a:solidFill>
                  <a:srgbClr val="2E7D32"/>
                </a:solidFill>
              </a:rPr>
              <a:t>Extract</a:t>
            </a:r>
            <a:endParaRPr lang="en-US" sz="1400" dirty="0"/>
          </a:p>
        </p:txBody>
      </p:sp>
      <p:sp>
        <p:nvSpPr>
          <p:cNvPr id="26" name="Text 24"/>
          <p:cNvSpPr/>
          <p:nvPr/>
        </p:nvSpPr>
        <p:spPr>
          <a:xfrm>
            <a:off x="832104" y="3264408"/>
            <a:ext cx="2221992" cy="42976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Exact factual answer copied by code</a:t>
            </a:r>
            <a:endParaRPr lang="en-US" sz="1060" dirty="0"/>
          </a:p>
        </p:txBody>
      </p:sp>
      <p:sp>
        <p:nvSpPr>
          <p:cNvPr id="27" name="Shape 25"/>
          <p:cNvSpPr/>
          <p:nvPr/>
        </p:nvSpPr>
        <p:spPr>
          <a:xfrm>
            <a:off x="3520440" y="2788920"/>
            <a:ext cx="2514600" cy="960120"/>
          </a:xfrm>
          <a:prstGeom prst="roundRect">
            <a:avLst>
              <a:gd name="adj" fmla="val 7619"/>
            </a:avLst>
          </a:prstGeom>
          <a:solidFill>
            <a:srgbClr val="EAE2F8"/>
          </a:solidFill>
          <a:ln w="15240">
            <a:solidFill>
              <a:srgbClr val="5E35B1"/>
            </a:solidFill>
            <a:prstDash val="solid"/>
          </a:ln>
        </p:spPr>
      </p:sp>
      <p:sp>
        <p:nvSpPr>
          <p:cNvPr id="28" name="Text 26"/>
          <p:cNvSpPr/>
          <p:nvPr/>
        </p:nvSpPr>
        <p:spPr>
          <a:xfrm>
            <a:off x="3666744" y="2916936"/>
            <a:ext cx="2221992" cy="237744"/>
          </a:xfrm>
          <a:prstGeom prst="rect">
            <a:avLst/>
          </a:prstGeom>
          <a:noFill/>
          <a:ln/>
        </p:spPr>
        <p:txBody>
          <a:bodyPr wrap="square" lIns="0" tIns="0" rIns="0" bIns="0" rtlCol="0" anchor="ctr"/>
          <a:lstStyle/>
          <a:p>
            <a:pPr indent="0" marL="0">
              <a:buNone/>
            </a:pPr>
            <a:r>
              <a:rPr lang="en-US" sz="1400" b="1" dirty="0">
                <a:solidFill>
                  <a:srgbClr val="5E35B1"/>
                </a:solidFill>
              </a:rPr>
              <a:t>Compose</a:t>
            </a:r>
            <a:endParaRPr lang="en-US" sz="1400" dirty="0"/>
          </a:p>
        </p:txBody>
      </p:sp>
      <p:sp>
        <p:nvSpPr>
          <p:cNvPr id="29" name="Text 27"/>
          <p:cNvSpPr/>
          <p:nvPr/>
        </p:nvSpPr>
        <p:spPr>
          <a:xfrm>
            <a:off x="3666744" y="3264408"/>
            <a:ext cx="2221992" cy="42976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Local LLM synthesises retrieved passages only</a:t>
            </a:r>
            <a:endParaRPr lang="en-US" sz="1060" dirty="0"/>
          </a:p>
        </p:txBody>
      </p:sp>
      <p:sp>
        <p:nvSpPr>
          <p:cNvPr id="30" name="Shape 28"/>
          <p:cNvSpPr/>
          <p:nvPr/>
        </p:nvSpPr>
        <p:spPr>
          <a:xfrm>
            <a:off x="6355080" y="2788920"/>
            <a:ext cx="2514600" cy="960120"/>
          </a:xfrm>
          <a:prstGeom prst="roundRect">
            <a:avLst>
              <a:gd name="adj" fmla="val 7619"/>
            </a:avLst>
          </a:prstGeom>
          <a:solidFill>
            <a:srgbClr val="FEE2E2"/>
          </a:solidFill>
          <a:ln w="15240">
            <a:solidFill>
              <a:srgbClr val="B91C1C"/>
            </a:solidFill>
            <a:prstDash val="solid"/>
          </a:ln>
        </p:spPr>
      </p:sp>
      <p:sp>
        <p:nvSpPr>
          <p:cNvPr id="31" name="Text 29"/>
          <p:cNvSpPr/>
          <p:nvPr/>
        </p:nvSpPr>
        <p:spPr>
          <a:xfrm>
            <a:off x="6501384" y="2916936"/>
            <a:ext cx="2221992" cy="237744"/>
          </a:xfrm>
          <a:prstGeom prst="rect">
            <a:avLst/>
          </a:prstGeom>
          <a:noFill/>
          <a:ln/>
        </p:spPr>
        <p:txBody>
          <a:bodyPr wrap="square" lIns="0" tIns="0" rIns="0" bIns="0" rtlCol="0" anchor="ctr"/>
          <a:lstStyle/>
          <a:p>
            <a:pPr indent="0" marL="0">
              <a:buNone/>
            </a:pPr>
            <a:r>
              <a:rPr lang="en-US" sz="1400" b="1" dirty="0">
                <a:solidFill>
                  <a:srgbClr val="B91C1C"/>
                </a:solidFill>
              </a:rPr>
              <a:t>Refuse</a:t>
            </a:r>
            <a:endParaRPr lang="en-US" sz="1400" dirty="0"/>
          </a:p>
        </p:txBody>
      </p:sp>
      <p:sp>
        <p:nvSpPr>
          <p:cNvPr id="32" name="Text 30"/>
          <p:cNvSpPr/>
          <p:nvPr/>
        </p:nvSpPr>
        <p:spPr>
          <a:xfrm>
            <a:off x="6501384" y="3264408"/>
            <a:ext cx="2221992" cy="42976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Evidence missing, unsafe or out of scope</a:t>
            </a:r>
            <a:endParaRPr lang="en-US" sz="1060" dirty="0"/>
          </a:p>
        </p:txBody>
      </p:sp>
      <p:sp>
        <p:nvSpPr>
          <p:cNvPr id="33" name="Shape 31"/>
          <p:cNvSpPr/>
          <p:nvPr/>
        </p:nvSpPr>
        <p:spPr>
          <a:xfrm>
            <a:off x="9189720" y="2788920"/>
            <a:ext cx="2514600" cy="960120"/>
          </a:xfrm>
          <a:prstGeom prst="roundRect">
            <a:avLst>
              <a:gd name="adj" fmla="val 7619"/>
            </a:avLst>
          </a:prstGeom>
          <a:solidFill>
            <a:srgbClr val="DCEBFA"/>
          </a:solidFill>
          <a:ln w="15240">
            <a:solidFill>
              <a:srgbClr val="1F4E79"/>
            </a:solidFill>
            <a:prstDash val="solid"/>
          </a:ln>
        </p:spPr>
      </p:sp>
      <p:sp>
        <p:nvSpPr>
          <p:cNvPr id="34" name="Text 32"/>
          <p:cNvSpPr/>
          <p:nvPr/>
        </p:nvSpPr>
        <p:spPr>
          <a:xfrm>
            <a:off x="9336024" y="2916936"/>
            <a:ext cx="2221992" cy="237744"/>
          </a:xfrm>
          <a:prstGeom prst="rect">
            <a:avLst/>
          </a:prstGeom>
          <a:noFill/>
          <a:ln/>
        </p:spPr>
        <p:txBody>
          <a:bodyPr wrap="square" lIns="0" tIns="0" rIns="0" bIns="0" rtlCol="0" anchor="ctr"/>
          <a:lstStyle/>
          <a:p>
            <a:pPr indent="0" marL="0">
              <a:buNone/>
            </a:pPr>
            <a:r>
              <a:rPr lang="en-US" sz="1400" b="1" dirty="0">
                <a:solidFill>
                  <a:srgbClr val="1F4E79"/>
                </a:solidFill>
              </a:rPr>
              <a:t>Hand-off</a:t>
            </a:r>
            <a:endParaRPr lang="en-US" sz="1400" dirty="0"/>
          </a:p>
        </p:txBody>
      </p:sp>
      <p:sp>
        <p:nvSpPr>
          <p:cNvPr id="35" name="Text 33"/>
          <p:cNvSpPr/>
          <p:nvPr/>
        </p:nvSpPr>
        <p:spPr>
          <a:xfrm>
            <a:off x="9336024" y="3264408"/>
            <a:ext cx="2221992" cy="42976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Published causes + contact route</a:t>
            </a:r>
            <a:endParaRPr lang="en-US" sz="1060" dirty="0"/>
          </a:p>
        </p:txBody>
      </p:sp>
      <p:sp>
        <p:nvSpPr>
          <p:cNvPr id="36" name="Shape 34"/>
          <p:cNvSpPr/>
          <p:nvPr/>
        </p:nvSpPr>
        <p:spPr>
          <a:xfrm>
            <a:off x="777240" y="4315968"/>
            <a:ext cx="5166360" cy="1143000"/>
          </a:xfrm>
          <a:prstGeom prst="roundRect">
            <a:avLst>
              <a:gd name="adj" fmla="val 6400"/>
            </a:avLst>
          </a:prstGeom>
          <a:solidFill>
            <a:srgbClr val="FFFFFF"/>
          </a:solidFill>
          <a:ln w="15240">
            <a:solidFill>
              <a:srgbClr val="5E35B1"/>
            </a:solidFill>
            <a:prstDash val="solid"/>
          </a:ln>
        </p:spPr>
      </p:sp>
      <p:sp>
        <p:nvSpPr>
          <p:cNvPr id="37" name="Text 35"/>
          <p:cNvSpPr/>
          <p:nvPr/>
        </p:nvSpPr>
        <p:spPr>
          <a:xfrm>
            <a:off x="923544" y="4443984"/>
            <a:ext cx="4873752" cy="237744"/>
          </a:xfrm>
          <a:prstGeom prst="rect">
            <a:avLst/>
          </a:prstGeom>
          <a:noFill/>
          <a:ln/>
        </p:spPr>
        <p:txBody>
          <a:bodyPr wrap="square" lIns="0" tIns="0" rIns="0" bIns="0" rtlCol="0" anchor="ctr"/>
          <a:lstStyle/>
          <a:p>
            <a:pPr indent="0" marL="0">
              <a:buNone/>
            </a:pPr>
            <a:r>
              <a:rPr lang="en-US" sz="1400" b="1" dirty="0">
                <a:solidFill>
                  <a:srgbClr val="5E35B1"/>
                </a:solidFill>
              </a:rPr>
              <a:t>Local model choice</a:t>
            </a:r>
            <a:endParaRPr lang="en-US" sz="1400" dirty="0"/>
          </a:p>
        </p:txBody>
      </p:sp>
      <p:sp>
        <p:nvSpPr>
          <p:cNvPr id="38" name="Text 36"/>
          <p:cNvSpPr/>
          <p:nvPr/>
        </p:nvSpPr>
        <p:spPr>
          <a:xfrm>
            <a:off x="923544" y="4791456"/>
            <a:ext cx="4873752" cy="61264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Ollama hosts local models. Embedding candidate is measured, e.g. qwen3-embedding:0.6b or nomic-embed-text. Generation uses a small local model such as qwen3.5:4b, with qwen3:4b-instruct as fallback.</a:t>
            </a:r>
            <a:endParaRPr lang="en-US" sz="1060" dirty="0"/>
          </a:p>
        </p:txBody>
      </p:sp>
      <p:sp>
        <p:nvSpPr>
          <p:cNvPr id="39" name="Shape 37"/>
          <p:cNvSpPr/>
          <p:nvPr/>
        </p:nvSpPr>
        <p:spPr>
          <a:xfrm>
            <a:off x="6309360" y="4315968"/>
            <a:ext cx="5074920" cy="1143000"/>
          </a:xfrm>
          <a:prstGeom prst="roundRect">
            <a:avLst>
              <a:gd name="adj" fmla="val 6400"/>
            </a:avLst>
          </a:prstGeom>
          <a:solidFill>
            <a:srgbClr val="FFFFFF"/>
          </a:solidFill>
          <a:ln w="15240">
            <a:solidFill>
              <a:srgbClr val="B91C1C"/>
            </a:solidFill>
            <a:prstDash val="solid"/>
          </a:ln>
        </p:spPr>
      </p:sp>
      <p:sp>
        <p:nvSpPr>
          <p:cNvPr id="40" name="Text 38"/>
          <p:cNvSpPr/>
          <p:nvPr/>
        </p:nvSpPr>
        <p:spPr>
          <a:xfrm>
            <a:off x="6455664" y="4443984"/>
            <a:ext cx="4782312" cy="237744"/>
          </a:xfrm>
          <a:prstGeom prst="rect">
            <a:avLst/>
          </a:prstGeom>
          <a:noFill/>
          <a:ln/>
        </p:spPr>
        <p:txBody>
          <a:bodyPr wrap="square" lIns="0" tIns="0" rIns="0" bIns="0" rtlCol="0" anchor="ctr"/>
          <a:lstStyle/>
          <a:p>
            <a:pPr indent="0" marL="0">
              <a:buNone/>
            </a:pPr>
            <a:r>
              <a:rPr lang="en-US" sz="1400" b="1" dirty="0">
                <a:solidFill>
                  <a:srgbClr val="B91C1C"/>
                </a:solidFill>
              </a:rPr>
              <a:t>What the LLM does not control</a:t>
            </a:r>
            <a:endParaRPr lang="en-US" sz="1400" dirty="0"/>
          </a:p>
        </p:txBody>
      </p:sp>
      <p:sp>
        <p:nvSpPr>
          <p:cNvPr id="41" name="Text 39"/>
          <p:cNvSpPr/>
          <p:nvPr/>
        </p:nvSpPr>
        <p:spPr>
          <a:xfrm>
            <a:off x="6455664" y="4791456"/>
            <a:ext cx="4782312" cy="61264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It does not decide permissions, active versions, calculations, product compatibility, refusal rules or source authority. Those remain deterministic code.</a:t>
            </a:r>
            <a:endParaRPr lang="en-US" sz="1060" dirty="0"/>
          </a:p>
        </p:txBody>
      </p:sp>
      <p:sp>
        <p:nvSpPr>
          <p:cNvPr id="42" name="Shape 40"/>
          <p:cNvSpPr/>
          <p:nvPr/>
        </p:nvSpPr>
        <p:spPr>
          <a:xfrm>
            <a:off x="411480" y="6565392"/>
            <a:ext cx="11338560" cy="0"/>
          </a:xfrm>
          <a:prstGeom prst="line">
            <a:avLst/>
          </a:prstGeom>
          <a:noFill/>
          <a:ln w="8890">
            <a:solidFill>
              <a:srgbClr val="CBD5E1"/>
            </a:solidFill>
            <a:prstDash val="solid"/>
          </a:ln>
        </p:spPr>
      </p:sp>
      <p:sp>
        <p:nvSpPr>
          <p:cNvPr id="43" name="Text 41"/>
          <p:cNvSpPr/>
          <p:nvPr/>
        </p:nvSpPr>
        <p:spPr>
          <a:xfrm>
            <a:off x="457200" y="6611112"/>
            <a:ext cx="6858000" cy="164592"/>
          </a:xfrm>
          <a:prstGeom prst="rect">
            <a:avLst/>
          </a:prstGeom>
          <a:noFill/>
          <a:ln/>
        </p:spPr>
        <p:txBody>
          <a:bodyPr wrap="square" lIns="0" tIns="0" rIns="0" bIns="0" rtlCol="0" anchor="ctr"/>
          <a:lstStyle/>
          <a:p>
            <a:pPr indent="0" marL="0">
              <a:buNone/>
            </a:pPr>
            <a:r>
              <a:rPr lang="en-US" sz="750" dirty="0">
                <a:solidFill>
                  <a:srgbClr val="58708E"/>
                </a:solidFill>
              </a:rPr>
              <a:t>Lime Green Technical Knowledge Assistant · user jobs → risks → architecture</a:t>
            </a:r>
            <a:endParaRPr lang="en-US" sz="750" dirty="0"/>
          </a:p>
        </p:txBody>
      </p:sp>
      <p:sp>
        <p:nvSpPr>
          <p:cNvPr id="44" name="Text 42"/>
          <p:cNvSpPr/>
          <p:nvPr/>
        </p:nvSpPr>
        <p:spPr>
          <a:xfrm>
            <a:off x="11430000" y="6601968"/>
            <a:ext cx="274320" cy="164592"/>
          </a:xfrm>
          <a:prstGeom prst="rect">
            <a:avLst/>
          </a:prstGeom>
          <a:noFill/>
          <a:ln/>
        </p:spPr>
        <p:txBody>
          <a:bodyPr wrap="square" lIns="0" tIns="0" rIns="0" bIns="0" rtlCol="0" anchor="ctr"/>
          <a:lstStyle/>
          <a:p>
            <a:pPr algn="r" indent="0" marL="0">
              <a:buNone/>
            </a:pPr>
            <a:r>
              <a:rPr lang="en-US" sz="800" dirty="0">
                <a:solidFill>
                  <a:srgbClr val="58708E"/>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292608"/>
            <a:ext cx="11338560" cy="502920"/>
          </a:xfrm>
          <a:prstGeom prst="rect">
            <a:avLst/>
          </a:prstGeom>
          <a:noFill/>
          <a:ln/>
        </p:spPr>
        <p:txBody>
          <a:bodyPr wrap="square" lIns="0" tIns="0" rIns="0" bIns="0" rtlCol="0" anchor="ctr"/>
          <a:lstStyle/>
          <a:p>
            <a:pPr indent="0" marL="0">
              <a:buNone/>
            </a:pPr>
            <a:r>
              <a:rPr lang="en-US" sz="3000" b="1" dirty="0">
                <a:solidFill>
                  <a:srgbClr val="0B1F3A"/>
                </a:solidFill>
                <a:latin typeface="Aptos Display" pitchFamily="34" charset="0"/>
                <a:ea typeface="Aptos Display" pitchFamily="34" charset="-122"/>
                <a:cs typeface="Aptos Display" pitchFamily="34" charset="-120"/>
              </a:rPr>
              <a:t>7 · Evaluation and roadmap close the loop</a:t>
            </a:r>
            <a:endParaRPr lang="en-US" sz="3000" dirty="0"/>
          </a:p>
        </p:txBody>
      </p:sp>
      <p:sp>
        <p:nvSpPr>
          <p:cNvPr id="3" name="Text 1"/>
          <p:cNvSpPr/>
          <p:nvPr/>
        </p:nvSpPr>
        <p:spPr>
          <a:xfrm>
            <a:off x="438912" y="822960"/>
            <a:ext cx="11155680" cy="301752"/>
          </a:xfrm>
          <a:prstGeom prst="rect">
            <a:avLst/>
          </a:prstGeom>
          <a:noFill/>
          <a:ln/>
        </p:spPr>
        <p:txBody>
          <a:bodyPr wrap="square" lIns="0" tIns="0" rIns="0" bIns="0" rtlCol="0" anchor="ctr"/>
          <a:lstStyle/>
          <a:p>
            <a:pPr indent="0" marL="0">
              <a:buNone/>
            </a:pPr>
            <a:r>
              <a:rPr lang="en-US" sz="1350" dirty="0">
                <a:solidFill>
                  <a:srgbClr val="58708E"/>
                </a:solidFill>
              </a:rPr>
              <a:t>The system is tested against the same jobs and risks that shaped the architecture.</a:t>
            </a:r>
            <a:endParaRPr lang="en-US" sz="1350" dirty="0"/>
          </a:p>
        </p:txBody>
      </p:sp>
      <p:sp>
        <p:nvSpPr>
          <p:cNvPr id="4" name="Shape 2"/>
          <p:cNvSpPr/>
          <p:nvPr/>
        </p:nvSpPr>
        <p:spPr>
          <a:xfrm>
            <a:off x="411480" y="1143000"/>
            <a:ext cx="11338560" cy="0"/>
          </a:xfrm>
          <a:prstGeom prst="line">
            <a:avLst/>
          </a:prstGeom>
          <a:noFill/>
          <a:ln w="12700">
            <a:solidFill>
              <a:srgbClr val="CBD5E1"/>
            </a:solidFill>
            <a:prstDash val="solid"/>
          </a:ln>
        </p:spPr>
      </p:sp>
      <p:sp>
        <p:nvSpPr>
          <p:cNvPr id="5" name="Shape 3"/>
          <p:cNvSpPr/>
          <p:nvPr/>
        </p:nvSpPr>
        <p:spPr>
          <a:xfrm>
            <a:off x="594360" y="1463040"/>
            <a:ext cx="3520440" cy="1920240"/>
          </a:xfrm>
          <a:prstGeom prst="roundRect">
            <a:avLst>
              <a:gd name="adj" fmla="val 3810"/>
            </a:avLst>
          </a:prstGeom>
          <a:solidFill>
            <a:srgbClr val="FFFFFF"/>
          </a:solidFill>
          <a:ln w="15240">
            <a:solidFill>
              <a:srgbClr val="2E7D32"/>
            </a:solidFill>
            <a:prstDash val="solid"/>
          </a:ln>
        </p:spPr>
      </p:sp>
      <p:sp>
        <p:nvSpPr>
          <p:cNvPr id="6" name="Text 4"/>
          <p:cNvSpPr/>
          <p:nvPr/>
        </p:nvSpPr>
        <p:spPr>
          <a:xfrm>
            <a:off x="740664" y="1591056"/>
            <a:ext cx="3227832" cy="237744"/>
          </a:xfrm>
          <a:prstGeom prst="rect">
            <a:avLst/>
          </a:prstGeom>
          <a:noFill/>
          <a:ln/>
        </p:spPr>
        <p:txBody>
          <a:bodyPr wrap="square" lIns="0" tIns="0" rIns="0" bIns="0" rtlCol="0" anchor="ctr"/>
          <a:lstStyle/>
          <a:p>
            <a:pPr indent="0" marL="0">
              <a:buNone/>
            </a:pPr>
            <a:r>
              <a:rPr lang="en-US" sz="1400" b="1" dirty="0">
                <a:solidFill>
                  <a:srgbClr val="2E7D32"/>
                </a:solidFill>
              </a:rPr>
              <a:t>Evaluation proves behaviour</a:t>
            </a:r>
            <a:endParaRPr lang="en-US" sz="1400" dirty="0"/>
          </a:p>
        </p:txBody>
      </p:sp>
      <p:sp>
        <p:nvSpPr>
          <p:cNvPr id="7" name="Text 5"/>
          <p:cNvSpPr/>
          <p:nvPr/>
        </p:nvSpPr>
        <p:spPr>
          <a:xfrm>
            <a:off x="740664" y="1938528"/>
            <a:ext cx="3227832" cy="138988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Known scenarios</a:t>
            </a:r>
            <a:endParaRPr lang="en-US" sz="1060" dirty="0"/>
          </a:p>
          <a:p>
            <a:pPr indent="0" marL="0">
              <a:buNone/>
            </a:pPr>
            <a:r>
              <a:rPr lang="en-US" sz="1060" dirty="0">
                <a:solidFill>
                  <a:srgbClr val="24364B"/>
                </a:solidFill>
              </a:rPr>
              <a:t>Probe suite</a:t>
            </a:r>
            <a:endParaRPr lang="en-US" sz="1060" dirty="0"/>
          </a:p>
          <a:p>
            <a:pPr indent="0" marL="0">
              <a:buNone/>
            </a:pPr>
            <a:r>
              <a:rPr lang="en-US" sz="1060" dirty="0">
                <a:solidFill>
                  <a:srgbClr val="24364B"/>
                </a:solidFill>
              </a:rPr>
              <a:t>Threshold sweep</a:t>
            </a:r>
            <a:endParaRPr lang="en-US" sz="1060" dirty="0"/>
          </a:p>
          <a:p>
            <a:pPr indent="0" marL="0">
              <a:buNone/>
            </a:pPr>
            <a:r>
              <a:rPr lang="en-US" sz="1060" dirty="0">
                <a:solidFill>
                  <a:srgbClr val="24364B"/>
                </a:solidFill>
              </a:rPr>
              <a:t>Staff isolation</a:t>
            </a:r>
            <a:endParaRPr lang="en-US" sz="1060" dirty="0"/>
          </a:p>
          <a:p>
            <a:pPr indent="0" marL="0">
              <a:buNone/>
            </a:pPr>
            <a:r>
              <a:rPr lang="en-US" sz="1060" dirty="0">
                <a:solidFill>
                  <a:srgbClr val="24364B"/>
                </a:solidFill>
              </a:rPr>
              <a:t>Superseded document tests</a:t>
            </a:r>
            <a:endParaRPr lang="en-US" sz="1060" dirty="0"/>
          </a:p>
          <a:p>
            <a:pPr indent="0" marL="0">
              <a:buNone/>
            </a:pPr>
            <a:r>
              <a:rPr lang="en-US" sz="1060" dirty="0">
                <a:solidFill>
                  <a:srgbClr val="24364B"/>
                </a:solidFill>
              </a:rPr>
              <a:t>Citation and safety-check failures</a:t>
            </a:r>
            <a:endParaRPr lang="en-US" sz="1060" dirty="0"/>
          </a:p>
        </p:txBody>
      </p:sp>
      <p:sp>
        <p:nvSpPr>
          <p:cNvPr id="8" name="Shape 6"/>
          <p:cNvSpPr/>
          <p:nvPr/>
        </p:nvSpPr>
        <p:spPr>
          <a:xfrm>
            <a:off x="4434840" y="1463040"/>
            <a:ext cx="3520440" cy="1920240"/>
          </a:xfrm>
          <a:prstGeom prst="roundRect">
            <a:avLst>
              <a:gd name="adj" fmla="val 3810"/>
            </a:avLst>
          </a:prstGeom>
          <a:solidFill>
            <a:srgbClr val="FFFFFF"/>
          </a:solidFill>
          <a:ln w="15240">
            <a:solidFill>
              <a:srgbClr val="1F4E79"/>
            </a:solidFill>
            <a:prstDash val="solid"/>
          </a:ln>
        </p:spPr>
      </p:sp>
      <p:sp>
        <p:nvSpPr>
          <p:cNvPr id="9" name="Text 7"/>
          <p:cNvSpPr/>
          <p:nvPr/>
        </p:nvSpPr>
        <p:spPr>
          <a:xfrm>
            <a:off x="4581144" y="1591056"/>
            <a:ext cx="3227832" cy="237744"/>
          </a:xfrm>
          <a:prstGeom prst="rect">
            <a:avLst/>
          </a:prstGeom>
          <a:noFill/>
          <a:ln/>
        </p:spPr>
        <p:txBody>
          <a:bodyPr wrap="square" lIns="0" tIns="0" rIns="0" bIns="0" rtlCol="0" anchor="ctr"/>
          <a:lstStyle/>
          <a:p>
            <a:pPr indent="0" marL="0">
              <a:buNone/>
            </a:pPr>
            <a:r>
              <a:rPr lang="en-US" sz="1400" b="1" dirty="0">
                <a:solidFill>
                  <a:srgbClr val="1F4E79"/>
                </a:solidFill>
              </a:rPr>
              <a:t>Production readiness evidence</a:t>
            </a:r>
            <a:endParaRPr lang="en-US" sz="1400" dirty="0"/>
          </a:p>
        </p:txBody>
      </p:sp>
      <p:sp>
        <p:nvSpPr>
          <p:cNvPr id="10" name="Text 8"/>
          <p:cNvSpPr/>
          <p:nvPr/>
        </p:nvSpPr>
        <p:spPr>
          <a:xfrm>
            <a:off x="4581144" y="1938528"/>
            <a:ext cx="3227832" cy="138988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PostgreSQL + pgvector contract tests</a:t>
            </a:r>
            <a:endParaRPr lang="en-US" sz="1060" dirty="0"/>
          </a:p>
          <a:p>
            <a:pPr indent="0" marL="0">
              <a:buNone/>
            </a:pPr>
            <a:r>
              <a:rPr lang="en-US" sz="1060" dirty="0">
                <a:solidFill>
                  <a:srgbClr val="24364B"/>
                </a:solidFill>
              </a:rPr>
              <a:t>Docker Compose smoke tests</a:t>
            </a:r>
            <a:endParaRPr lang="en-US" sz="1060" dirty="0"/>
          </a:p>
          <a:p>
            <a:pPr indent="0" marL="0">
              <a:buNone/>
            </a:pPr>
            <a:r>
              <a:rPr lang="en-US" sz="1060" dirty="0">
                <a:solidFill>
                  <a:srgbClr val="24364B"/>
                </a:solidFill>
              </a:rPr>
              <a:t>Health/readiness checks</a:t>
            </a:r>
            <a:endParaRPr lang="en-US" sz="1060" dirty="0"/>
          </a:p>
          <a:p>
            <a:pPr indent="0" marL="0">
              <a:buNone/>
            </a:pPr>
            <a:r>
              <a:rPr lang="en-US" sz="1060" dirty="0">
                <a:solidFill>
                  <a:srgbClr val="24364B"/>
                </a:solidFill>
              </a:rPr>
              <a:t>Structured logs and timings</a:t>
            </a:r>
            <a:endParaRPr lang="en-US" sz="1060" dirty="0"/>
          </a:p>
          <a:p>
            <a:pPr indent="0" marL="0">
              <a:buNone/>
            </a:pPr>
            <a:r>
              <a:rPr lang="en-US" sz="1060" dirty="0">
                <a:solidFill>
                  <a:srgbClr val="24364B"/>
                </a:solidFill>
              </a:rPr>
              <a:t>No unsupported production claims</a:t>
            </a:r>
            <a:endParaRPr lang="en-US" sz="1060" dirty="0"/>
          </a:p>
        </p:txBody>
      </p:sp>
      <p:sp>
        <p:nvSpPr>
          <p:cNvPr id="11" name="Shape 9"/>
          <p:cNvSpPr/>
          <p:nvPr/>
        </p:nvSpPr>
        <p:spPr>
          <a:xfrm>
            <a:off x="8275320" y="1463040"/>
            <a:ext cx="3337560" cy="1920240"/>
          </a:xfrm>
          <a:prstGeom prst="roundRect">
            <a:avLst>
              <a:gd name="adj" fmla="val 3810"/>
            </a:avLst>
          </a:prstGeom>
          <a:solidFill>
            <a:srgbClr val="FFFFFF"/>
          </a:solidFill>
          <a:ln w="15240">
            <a:solidFill>
              <a:srgbClr val="5E35B1"/>
            </a:solidFill>
            <a:prstDash val="solid"/>
          </a:ln>
        </p:spPr>
      </p:sp>
      <p:sp>
        <p:nvSpPr>
          <p:cNvPr id="12" name="Text 10"/>
          <p:cNvSpPr/>
          <p:nvPr/>
        </p:nvSpPr>
        <p:spPr>
          <a:xfrm>
            <a:off x="8421624" y="1591056"/>
            <a:ext cx="3044952" cy="237744"/>
          </a:xfrm>
          <a:prstGeom prst="rect">
            <a:avLst/>
          </a:prstGeom>
          <a:noFill/>
          <a:ln/>
        </p:spPr>
        <p:txBody>
          <a:bodyPr wrap="square" lIns="0" tIns="0" rIns="0" bIns="0" rtlCol="0" anchor="ctr"/>
          <a:lstStyle/>
          <a:p>
            <a:pPr indent="0" marL="0">
              <a:buNone/>
            </a:pPr>
            <a:r>
              <a:rPr lang="en-US" sz="1400" b="1" dirty="0">
                <a:solidFill>
                  <a:srgbClr val="5E35B1"/>
                </a:solidFill>
              </a:rPr>
              <a:t>Multimodal roadmap</a:t>
            </a:r>
            <a:endParaRPr lang="en-US" sz="1400" dirty="0"/>
          </a:p>
        </p:txBody>
      </p:sp>
      <p:sp>
        <p:nvSpPr>
          <p:cNvPr id="13" name="Text 11"/>
          <p:cNvSpPr/>
          <p:nvPr/>
        </p:nvSpPr>
        <p:spPr>
          <a:xfrm>
            <a:off x="8421624" y="1938528"/>
            <a:ext cx="3044952" cy="138988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Photo → VLM perception</a:t>
            </a:r>
            <a:endParaRPr lang="en-US" sz="1060" dirty="0"/>
          </a:p>
          <a:p>
            <a:pPr indent="0" marL="0">
              <a:buNone/>
            </a:pPr>
            <a:r>
              <a:rPr lang="en-US" sz="1060" dirty="0">
                <a:solidFill>
                  <a:srgbClr val="24364B"/>
                </a:solidFill>
              </a:rPr>
              <a:t>Structured observations</a:t>
            </a:r>
            <a:endParaRPr lang="en-US" sz="1060" dirty="0"/>
          </a:p>
          <a:p>
            <a:pPr indent="0" marL="0">
              <a:buNone/>
            </a:pPr>
            <a:r>
              <a:rPr lang="en-US" sz="1060" dirty="0">
                <a:solidFill>
                  <a:srgbClr val="24364B"/>
                </a:solidFill>
              </a:rPr>
              <a:t>Confidence / unknowns</a:t>
            </a:r>
            <a:endParaRPr lang="en-US" sz="1060" dirty="0"/>
          </a:p>
          <a:p>
            <a:pPr indent="0" marL="0">
              <a:buNone/>
            </a:pPr>
            <a:r>
              <a:rPr lang="en-US" sz="1060" dirty="0">
                <a:solidFill>
                  <a:srgbClr val="24364B"/>
                </a:solidFill>
              </a:rPr>
              <a:t>Existing retrieval + router</a:t>
            </a:r>
            <a:endParaRPr lang="en-US" sz="1060" dirty="0"/>
          </a:p>
          <a:p>
            <a:pPr indent="0" marL="0">
              <a:buNone/>
            </a:pPr>
            <a:r>
              <a:rPr lang="en-US" sz="1060" dirty="0">
                <a:solidFill>
                  <a:srgbClr val="24364B"/>
                </a:solidFill>
              </a:rPr>
              <a:t>No direct product recommendation</a:t>
            </a:r>
            <a:endParaRPr lang="en-US" sz="1060" dirty="0"/>
          </a:p>
        </p:txBody>
      </p:sp>
      <p:sp>
        <p:nvSpPr>
          <p:cNvPr id="14" name="Shape 12"/>
          <p:cNvSpPr/>
          <p:nvPr/>
        </p:nvSpPr>
        <p:spPr>
          <a:xfrm>
            <a:off x="731520" y="4005072"/>
            <a:ext cx="10744200" cy="868680"/>
          </a:xfrm>
          <a:prstGeom prst="roundRect">
            <a:avLst>
              <a:gd name="adj" fmla="val 8421"/>
            </a:avLst>
          </a:prstGeom>
          <a:solidFill>
            <a:srgbClr val="FFF2CC"/>
          </a:solidFill>
          <a:ln w="15240">
            <a:solidFill>
              <a:srgbClr val="B7791F"/>
            </a:solidFill>
            <a:prstDash val="solid"/>
          </a:ln>
        </p:spPr>
      </p:sp>
      <p:sp>
        <p:nvSpPr>
          <p:cNvPr id="15" name="Text 13"/>
          <p:cNvSpPr/>
          <p:nvPr/>
        </p:nvSpPr>
        <p:spPr>
          <a:xfrm>
            <a:off x="877824" y="4133088"/>
            <a:ext cx="10451592" cy="237744"/>
          </a:xfrm>
          <a:prstGeom prst="rect">
            <a:avLst/>
          </a:prstGeom>
          <a:noFill/>
          <a:ln/>
        </p:spPr>
        <p:txBody>
          <a:bodyPr wrap="square" lIns="0" tIns="0" rIns="0" bIns="0" rtlCol="0" anchor="ctr"/>
          <a:lstStyle/>
          <a:p>
            <a:pPr indent="0" marL="0">
              <a:buNone/>
            </a:pPr>
            <a:r>
              <a:rPr lang="en-US" sz="1400" b="1" dirty="0">
                <a:solidFill>
                  <a:srgbClr val="7C4A03"/>
                </a:solidFill>
              </a:rPr>
              <a:t>Final narrative</a:t>
            </a:r>
            <a:endParaRPr lang="en-US" sz="1400" dirty="0"/>
          </a:p>
        </p:txBody>
      </p:sp>
      <p:sp>
        <p:nvSpPr>
          <p:cNvPr id="16" name="Text 14"/>
          <p:cNvSpPr/>
          <p:nvPr/>
        </p:nvSpPr>
        <p:spPr>
          <a:xfrm>
            <a:off x="877824" y="4480560"/>
            <a:ext cx="10451592" cy="338328"/>
          </a:xfrm>
          <a:prstGeom prst="rect">
            <a:avLst/>
          </a:prstGeom>
          <a:noFill/>
          <a:ln/>
        </p:spPr>
        <p:txBody>
          <a:bodyPr wrap="square" lIns="254" tIns="254" rIns="254" bIns="254" rtlCol="0" anchor="t">
            <a:normAutofit/>
          </a:bodyPr>
          <a:lstStyle/>
          <a:p>
            <a:pPr indent="0" marL="0">
              <a:buNone/>
            </a:pPr>
            <a:r>
              <a:rPr lang="en-US" sz="1060" dirty="0">
                <a:solidFill>
                  <a:srgbClr val="24364B"/>
                </a:solidFill>
              </a:rPr>
              <a:t>I mapped users and jobs, identified failure modes, turned those into requirements, and then chose the simplest architecture that could answer safely from current, approved evidence.</a:t>
            </a:r>
            <a:endParaRPr lang="en-US" sz="1060" dirty="0"/>
          </a:p>
        </p:txBody>
      </p:sp>
      <p:sp>
        <p:nvSpPr>
          <p:cNvPr id="17" name="Text 15"/>
          <p:cNvSpPr/>
          <p:nvPr/>
        </p:nvSpPr>
        <p:spPr>
          <a:xfrm>
            <a:off x="960120" y="5230368"/>
            <a:ext cx="10241280" cy="320040"/>
          </a:xfrm>
          <a:prstGeom prst="rect">
            <a:avLst/>
          </a:prstGeom>
          <a:noFill/>
          <a:ln/>
        </p:spPr>
        <p:txBody>
          <a:bodyPr wrap="square" lIns="0" tIns="0" rIns="0" bIns="0" rtlCol="0" anchor="ctr"/>
          <a:lstStyle/>
          <a:p>
            <a:pPr algn="ctr" indent="0" marL="0">
              <a:buNone/>
            </a:pPr>
            <a:r>
              <a:rPr lang="en-US" sz="1800" b="1" dirty="0">
                <a:solidFill>
                  <a:srgbClr val="0B1F3A"/>
                </a:solidFill>
              </a:rPr>
              <a:t>Closing line: a controlled technical assistant, not a chatbot guessing from scraped pages.</a:t>
            </a:r>
            <a:endParaRPr lang="en-US" sz="1800" dirty="0"/>
          </a:p>
        </p:txBody>
      </p:sp>
      <p:sp>
        <p:nvSpPr>
          <p:cNvPr id="18" name="Shape 16"/>
          <p:cNvSpPr/>
          <p:nvPr/>
        </p:nvSpPr>
        <p:spPr>
          <a:xfrm>
            <a:off x="411480" y="6565392"/>
            <a:ext cx="11338560" cy="0"/>
          </a:xfrm>
          <a:prstGeom prst="line">
            <a:avLst/>
          </a:prstGeom>
          <a:noFill/>
          <a:ln w="8890">
            <a:solidFill>
              <a:srgbClr val="CBD5E1"/>
            </a:solidFill>
            <a:prstDash val="solid"/>
          </a:ln>
        </p:spPr>
      </p:sp>
      <p:sp>
        <p:nvSpPr>
          <p:cNvPr id="19" name="Text 17"/>
          <p:cNvSpPr/>
          <p:nvPr/>
        </p:nvSpPr>
        <p:spPr>
          <a:xfrm>
            <a:off x="457200" y="6611112"/>
            <a:ext cx="6858000" cy="164592"/>
          </a:xfrm>
          <a:prstGeom prst="rect">
            <a:avLst/>
          </a:prstGeom>
          <a:noFill/>
          <a:ln/>
        </p:spPr>
        <p:txBody>
          <a:bodyPr wrap="square" lIns="0" tIns="0" rIns="0" bIns="0" rtlCol="0" anchor="ctr"/>
          <a:lstStyle/>
          <a:p>
            <a:pPr indent="0" marL="0">
              <a:buNone/>
            </a:pPr>
            <a:r>
              <a:rPr lang="en-US" sz="750" dirty="0">
                <a:solidFill>
                  <a:srgbClr val="58708E"/>
                </a:solidFill>
              </a:rPr>
              <a:t>Lime Green Technical Knowledge Assistant · user jobs → risks → architecture</a:t>
            </a:r>
            <a:endParaRPr lang="en-US" sz="750" dirty="0"/>
          </a:p>
        </p:txBody>
      </p:sp>
      <p:sp>
        <p:nvSpPr>
          <p:cNvPr id="20" name="Text 18"/>
          <p:cNvSpPr/>
          <p:nvPr/>
        </p:nvSpPr>
        <p:spPr>
          <a:xfrm>
            <a:off x="11430000" y="6601968"/>
            <a:ext cx="274320" cy="164592"/>
          </a:xfrm>
          <a:prstGeom prst="rect">
            <a:avLst/>
          </a:prstGeom>
          <a:noFill/>
          <a:ln/>
        </p:spPr>
        <p:txBody>
          <a:bodyPr wrap="square" lIns="0" tIns="0" rIns="0" bIns="0" rtlCol="0" anchor="ctr"/>
          <a:lstStyle/>
          <a:p>
            <a:pPr algn="r" indent="0" marL="0">
              <a:buNone/>
            </a:pPr>
            <a:r>
              <a:rPr lang="en-US" sz="800" dirty="0">
                <a:solidFill>
                  <a:srgbClr val="58708E"/>
                </a:solidFill>
              </a:rPr>
              <a:t>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User Jobs to Architecture Decisions</dc:title>
  <dc:subject>Technical Knowledge Assistant architecture decision journey</dc:subject>
  <dc:creator>OpenAI</dc:creator>
  <cp:lastModifiedBy>OpenAI</cp:lastModifiedBy>
  <cp:revision>1</cp:revision>
  <dcterms:created xsi:type="dcterms:W3CDTF">2026-09-15T15:42:41Z</dcterms:created>
  <dcterms:modified xsi:type="dcterms:W3CDTF">2026-09-15T15:42:41Z</dcterms:modified>
</cp:coreProperties>
</file>