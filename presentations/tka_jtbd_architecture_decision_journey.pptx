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I did not start from the question “which RAG stack should I use?” I started from who asks Lime Green questions, what they are trying to get done, what can go wrong, and then designed the architecture around those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defines the mental model. The architecture is not being justified after the fact. It is derived from a chain: segment, job, query, failure, requirement,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same chatbot cannot treat all users the same. Public users need explanation and safe guidance. Trade users need speed and exact facts. Staff need consistency and governance. This is why the architecture has audience tags and different answer behaviours.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show that you understood the task at the level of user intent. Each job becomes a required behaviour in the architecture. Looking up a number is not the same as selecting a system or troubleshooting a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evidence that the system is not generic. The questions have different risks and should not all enter one common RAG generation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you look like a product/architecture thinker. You are showing that each design choice exists because there is a failure mode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the bridge from product thinking to engineering. User risks become formal system requirements, which then determine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slide. Point to each line and explain how each technical choice is there because a specific risk or requirement demands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architecture slide after proving why the design is needed. It is not a scraper. It is a publishing pipeline with recency, versions and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user question moves through audience, retrieval and router. The branches are important: factual extract, compose, refuse or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addresses the SQLite vs Postgres discussion. The system is one architecture with two adapters. This projects judgment: you respect the prototype constraints and still show production maturity.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back to the earlier photo discussion. The architecture can support image upload, but keeps perception and recommendation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proves engineering maturity. The evaluation is not a generic LLM score. It is derived from the JTBD and the dangerous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final talk track. It positions you as someone who reasons from users and constraints into architecture, rather than someone who just builds a RAG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75488" y="6565392"/>
            <a:ext cx="11247120" cy="0"/>
          </a:xfrm>
          <a:prstGeom prst="line">
            <a:avLst/>
          </a:prstGeom>
          <a:noFill/>
          <a:ln w="8890">
            <a:solidFill>
              <a:srgbClr val="CBD5E1"/>
            </a:solidFill>
            <a:prstDash val="solid"/>
          </a:ln>
        </p:spPr>
      </p:sp>
      <p:sp>
        <p:nvSpPr>
          <p:cNvPr id="3" name="Text 1"/>
          <p:cNvSpPr/>
          <p:nvPr/>
        </p:nvSpPr>
        <p:spPr>
          <a:xfrm>
            <a:off x="548640" y="6611112"/>
            <a:ext cx="7863840" cy="164592"/>
          </a:xfrm>
          <a:prstGeom prst="rect">
            <a:avLst/>
          </a:prstGeom>
          <a:noFill/>
          <a:ln/>
        </p:spPr>
        <p:txBody>
          <a:bodyPr wrap="square" lIns="0" tIns="0" rIns="0" bIns="0" rtlCol="0" anchor="ctr"/>
          <a:lstStyle/>
          <a:p>
            <a:pPr indent="0" marL="0">
              <a:buNone/>
            </a:pPr>
            <a:r>
              <a:rPr lang="en-US" sz="720" dirty="0">
                <a:solidFill>
                  <a:srgbClr val="64748B"/>
                </a:solidFill>
              </a:rPr>
              <a:t>Lime Green Technical Knowledge Assistant · JTBD → risks → requirements → architecture</a:t>
            </a:r>
            <a:endParaRPr lang="en-US" sz="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85800" y="1097280"/>
            <a:ext cx="7498080" cy="123444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From User Jobs</a:t>
            </a:r>
            <a:endParaRPr lang="en-US" sz="4000" dirty="0"/>
          </a:p>
          <a:p>
            <a:pPr indent="0" marL="0">
              <a:buNone/>
            </a:pPr>
            <a:r>
              <a:rPr lang="en-US" sz="4000" b="1" dirty="0">
                <a:solidFill>
                  <a:srgbClr val="FFFFFF"/>
                </a:solidFill>
                <a:latin typeface="Aptos Display" pitchFamily="34" charset="0"/>
                <a:ea typeface="Aptos Display" pitchFamily="34" charset="-122"/>
                <a:cs typeface="Aptos Display" pitchFamily="34" charset="-120"/>
              </a:rPr>
              <a:t>to Architecture Decisions</a:t>
            </a:r>
            <a:endParaRPr lang="en-US" sz="4000" dirty="0"/>
          </a:p>
        </p:txBody>
      </p:sp>
      <p:sp>
        <p:nvSpPr>
          <p:cNvPr id="3" name="Text 1"/>
          <p:cNvSpPr/>
          <p:nvPr/>
        </p:nvSpPr>
        <p:spPr>
          <a:xfrm>
            <a:off x="713232" y="2578608"/>
            <a:ext cx="7955280" cy="640080"/>
          </a:xfrm>
          <a:prstGeom prst="rect">
            <a:avLst/>
          </a:prstGeom>
          <a:noFill/>
          <a:ln/>
        </p:spPr>
        <p:txBody>
          <a:bodyPr wrap="square" lIns="0" tIns="0" rIns="0" bIns="0" rtlCol="0" anchor="ctr">
            <a:normAutofit/>
          </a:bodyPr>
          <a:lstStyle/>
          <a:p>
            <a:pPr indent="0" marL="0">
              <a:buNone/>
            </a:pPr>
            <a:r>
              <a:rPr lang="en-US" sz="1800" dirty="0">
                <a:solidFill>
                  <a:srgbClr val="CBD5E1"/>
                </a:solidFill>
              </a:rPr>
              <a:t>How the Technical Knowledge Assistant is shaped by real users, query patterns, risks and constraints — not by technology fashion.</a:t>
            </a:r>
            <a:endParaRPr lang="en-US" sz="1800" dirty="0"/>
          </a:p>
        </p:txBody>
      </p:sp>
      <p:sp>
        <p:nvSpPr>
          <p:cNvPr id="4" name="Shape 2"/>
          <p:cNvSpPr/>
          <p:nvPr/>
        </p:nvSpPr>
        <p:spPr>
          <a:xfrm>
            <a:off x="731520" y="4069080"/>
            <a:ext cx="1920240" cy="384048"/>
          </a:xfrm>
          <a:prstGeom prst="roundRect">
            <a:avLst>
              <a:gd name="adj" fmla="val 16667"/>
            </a:avLst>
          </a:prstGeom>
          <a:solidFill>
            <a:srgbClr val="CCFBF1"/>
          </a:solidFill>
          <a:ln w="12700">
            <a:solidFill>
              <a:srgbClr val="CCFBF1"/>
            </a:solidFill>
            <a:prstDash val="solid"/>
          </a:ln>
        </p:spPr>
      </p:sp>
      <p:sp>
        <p:nvSpPr>
          <p:cNvPr id="5" name="Text 3"/>
          <p:cNvSpPr/>
          <p:nvPr/>
        </p:nvSpPr>
        <p:spPr>
          <a:xfrm>
            <a:off x="786384" y="4133088"/>
            <a:ext cx="1810512" cy="274320"/>
          </a:xfrm>
          <a:prstGeom prst="rect">
            <a:avLst/>
          </a:prstGeom>
          <a:noFill/>
          <a:ln/>
        </p:spPr>
        <p:txBody>
          <a:bodyPr wrap="square" lIns="0" tIns="0" rIns="0" bIns="0" rtlCol="0" anchor="ctr">
            <a:normAutofit/>
          </a:bodyPr>
          <a:lstStyle/>
          <a:p>
            <a:pPr algn="ctr" indent="0" marL="0">
              <a:buNone/>
            </a:pPr>
            <a:r>
              <a:rPr lang="en-US" sz="1200" b="1" dirty="0">
                <a:solidFill>
                  <a:srgbClr val="0E7C7B"/>
                </a:solidFill>
              </a:rPr>
              <a:t>Segments</a:t>
            </a:r>
            <a:endParaRPr lang="en-US" sz="1200" dirty="0"/>
          </a:p>
        </p:txBody>
      </p:sp>
      <p:sp>
        <p:nvSpPr>
          <p:cNvPr id="6" name="Shape 4"/>
          <p:cNvSpPr/>
          <p:nvPr/>
        </p:nvSpPr>
        <p:spPr>
          <a:xfrm>
            <a:off x="2880360" y="4069080"/>
            <a:ext cx="1417320" cy="384048"/>
          </a:xfrm>
          <a:prstGeom prst="roundRect">
            <a:avLst>
              <a:gd name="adj" fmla="val 16667"/>
            </a:avLst>
          </a:prstGeom>
          <a:solidFill>
            <a:srgbClr val="DCFCE7"/>
          </a:solidFill>
          <a:ln w="12700">
            <a:solidFill>
              <a:srgbClr val="DCFCE7"/>
            </a:solidFill>
            <a:prstDash val="solid"/>
          </a:ln>
        </p:spPr>
      </p:sp>
      <p:sp>
        <p:nvSpPr>
          <p:cNvPr id="7" name="Text 5"/>
          <p:cNvSpPr/>
          <p:nvPr/>
        </p:nvSpPr>
        <p:spPr>
          <a:xfrm>
            <a:off x="2935224" y="4133088"/>
            <a:ext cx="1307592" cy="274320"/>
          </a:xfrm>
          <a:prstGeom prst="rect">
            <a:avLst/>
          </a:prstGeom>
          <a:noFill/>
          <a:ln/>
        </p:spPr>
        <p:txBody>
          <a:bodyPr wrap="square" lIns="0" tIns="0" rIns="0" bIns="0" rtlCol="0" anchor="ctr">
            <a:normAutofit/>
          </a:bodyPr>
          <a:lstStyle/>
          <a:p>
            <a:pPr algn="ctr" indent="0" marL="0">
              <a:buNone/>
            </a:pPr>
            <a:r>
              <a:rPr lang="en-US" sz="1200" b="1" dirty="0">
                <a:solidFill>
                  <a:srgbClr val="2E7D32"/>
                </a:solidFill>
              </a:rPr>
              <a:t>JTBD</a:t>
            </a:r>
            <a:endParaRPr lang="en-US" sz="1200" dirty="0"/>
          </a:p>
        </p:txBody>
      </p:sp>
      <p:sp>
        <p:nvSpPr>
          <p:cNvPr id="8" name="Shape 6"/>
          <p:cNvSpPr/>
          <p:nvPr/>
        </p:nvSpPr>
        <p:spPr>
          <a:xfrm>
            <a:off x="4526280" y="4069080"/>
            <a:ext cx="2057400" cy="384048"/>
          </a:xfrm>
          <a:prstGeom prst="roundRect">
            <a:avLst>
              <a:gd name="adj" fmla="val 16667"/>
            </a:avLst>
          </a:prstGeom>
          <a:solidFill>
            <a:srgbClr val="FEF3C7"/>
          </a:solidFill>
          <a:ln w="12700">
            <a:solidFill>
              <a:srgbClr val="FEF3C7"/>
            </a:solidFill>
            <a:prstDash val="solid"/>
          </a:ln>
        </p:spPr>
      </p:sp>
      <p:sp>
        <p:nvSpPr>
          <p:cNvPr id="9" name="Text 7"/>
          <p:cNvSpPr/>
          <p:nvPr/>
        </p:nvSpPr>
        <p:spPr>
          <a:xfrm>
            <a:off x="4581144" y="4133088"/>
            <a:ext cx="1947672" cy="274320"/>
          </a:xfrm>
          <a:prstGeom prst="rect">
            <a:avLst/>
          </a:prstGeom>
          <a:noFill/>
          <a:ln/>
        </p:spPr>
        <p:txBody>
          <a:bodyPr wrap="square" lIns="0" tIns="0" rIns="0" bIns="0" rtlCol="0" anchor="ctr">
            <a:normAutofit/>
          </a:bodyPr>
          <a:lstStyle/>
          <a:p>
            <a:pPr algn="ctr" indent="0" marL="0">
              <a:buNone/>
            </a:pPr>
            <a:r>
              <a:rPr lang="en-US" sz="1200" b="1" dirty="0">
                <a:solidFill>
                  <a:srgbClr val="F59E0B"/>
                </a:solidFill>
              </a:rPr>
              <a:t>Query archetypes</a:t>
            </a:r>
            <a:endParaRPr lang="en-US" sz="1200" dirty="0"/>
          </a:p>
        </p:txBody>
      </p:sp>
      <p:sp>
        <p:nvSpPr>
          <p:cNvPr id="10" name="Shape 8"/>
          <p:cNvSpPr/>
          <p:nvPr/>
        </p:nvSpPr>
        <p:spPr>
          <a:xfrm>
            <a:off x="6812280" y="4069080"/>
            <a:ext cx="1828800" cy="384048"/>
          </a:xfrm>
          <a:prstGeom prst="roundRect">
            <a:avLst>
              <a:gd name="adj" fmla="val 16667"/>
            </a:avLst>
          </a:prstGeom>
          <a:solidFill>
            <a:srgbClr val="FEE2E2"/>
          </a:solidFill>
          <a:ln w="12700">
            <a:solidFill>
              <a:srgbClr val="FEE2E2"/>
            </a:solidFill>
            <a:prstDash val="solid"/>
          </a:ln>
        </p:spPr>
      </p:sp>
      <p:sp>
        <p:nvSpPr>
          <p:cNvPr id="11" name="Text 9"/>
          <p:cNvSpPr/>
          <p:nvPr/>
        </p:nvSpPr>
        <p:spPr>
          <a:xfrm>
            <a:off x="6867144" y="4133088"/>
            <a:ext cx="1719072" cy="274320"/>
          </a:xfrm>
          <a:prstGeom prst="rect">
            <a:avLst/>
          </a:prstGeom>
          <a:noFill/>
          <a:ln/>
        </p:spPr>
        <p:txBody>
          <a:bodyPr wrap="square" lIns="0" tIns="0" rIns="0" bIns="0" rtlCol="0" anchor="ctr">
            <a:normAutofit/>
          </a:bodyPr>
          <a:lstStyle/>
          <a:p>
            <a:pPr algn="ctr" indent="0" marL="0">
              <a:buNone/>
            </a:pPr>
            <a:r>
              <a:rPr lang="en-US" sz="1200" b="1" dirty="0">
                <a:solidFill>
                  <a:srgbClr val="DC2626"/>
                </a:solidFill>
              </a:rPr>
              <a:t>Failure modes</a:t>
            </a:r>
            <a:endParaRPr lang="en-US" sz="1200" dirty="0"/>
          </a:p>
        </p:txBody>
      </p:sp>
      <p:sp>
        <p:nvSpPr>
          <p:cNvPr id="12" name="Shape 10"/>
          <p:cNvSpPr/>
          <p:nvPr/>
        </p:nvSpPr>
        <p:spPr>
          <a:xfrm>
            <a:off x="8869680" y="4069080"/>
            <a:ext cx="2148840" cy="384048"/>
          </a:xfrm>
          <a:prstGeom prst="roundRect">
            <a:avLst>
              <a:gd name="adj" fmla="val 16667"/>
            </a:avLst>
          </a:prstGeom>
          <a:solidFill>
            <a:srgbClr val="EDE9FE"/>
          </a:solidFill>
          <a:ln w="12700">
            <a:solidFill>
              <a:srgbClr val="EDE9FE"/>
            </a:solidFill>
            <a:prstDash val="solid"/>
          </a:ln>
        </p:spPr>
      </p:sp>
      <p:sp>
        <p:nvSpPr>
          <p:cNvPr id="13" name="Text 11"/>
          <p:cNvSpPr/>
          <p:nvPr/>
        </p:nvSpPr>
        <p:spPr>
          <a:xfrm>
            <a:off x="8924544" y="4133088"/>
            <a:ext cx="2039112" cy="274320"/>
          </a:xfrm>
          <a:prstGeom prst="rect">
            <a:avLst/>
          </a:prstGeom>
          <a:noFill/>
          <a:ln/>
        </p:spPr>
        <p:txBody>
          <a:bodyPr wrap="square" lIns="0" tIns="0" rIns="0" bIns="0" rtlCol="0" anchor="ctr">
            <a:normAutofit/>
          </a:bodyPr>
          <a:lstStyle/>
          <a:p>
            <a:pPr algn="ctr" indent="0" marL="0">
              <a:buNone/>
            </a:pPr>
            <a:r>
              <a:rPr lang="en-US" sz="1200" b="1" dirty="0">
                <a:solidFill>
                  <a:srgbClr val="6B4E9E"/>
                </a:solidFill>
              </a:rPr>
              <a:t>Architecture</a:t>
            </a:r>
            <a:endParaRPr lang="en-US" sz="1200" dirty="0"/>
          </a:p>
        </p:txBody>
      </p:sp>
      <p:sp>
        <p:nvSpPr>
          <p:cNvPr id="14" name="Shape 12"/>
          <p:cNvSpPr/>
          <p:nvPr/>
        </p:nvSpPr>
        <p:spPr>
          <a:xfrm>
            <a:off x="2697480" y="4261104"/>
            <a:ext cx="155448" cy="0"/>
          </a:xfrm>
          <a:prstGeom prst="line">
            <a:avLst/>
          </a:prstGeom>
          <a:noFill/>
          <a:ln w="15240">
            <a:solidFill>
              <a:srgbClr val="CBD5E1"/>
            </a:solidFill>
            <a:prstDash val="solid"/>
            <a:headEnd type="none"/>
            <a:tailEnd type="triangle"/>
          </a:ln>
        </p:spPr>
      </p:sp>
      <p:sp>
        <p:nvSpPr>
          <p:cNvPr id="15" name="Shape 13"/>
          <p:cNvSpPr/>
          <p:nvPr/>
        </p:nvSpPr>
        <p:spPr>
          <a:xfrm>
            <a:off x="4343400" y="4261104"/>
            <a:ext cx="155448" cy="0"/>
          </a:xfrm>
          <a:prstGeom prst="line">
            <a:avLst/>
          </a:prstGeom>
          <a:noFill/>
          <a:ln w="15240">
            <a:solidFill>
              <a:srgbClr val="CBD5E1"/>
            </a:solidFill>
            <a:prstDash val="solid"/>
            <a:headEnd type="none"/>
            <a:tailEnd type="triangle"/>
          </a:ln>
        </p:spPr>
      </p:sp>
      <p:sp>
        <p:nvSpPr>
          <p:cNvPr id="16" name="Shape 14"/>
          <p:cNvSpPr/>
          <p:nvPr/>
        </p:nvSpPr>
        <p:spPr>
          <a:xfrm>
            <a:off x="6629400" y="4261104"/>
            <a:ext cx="155448" cy="0"/>
          </a:xfrm>
          <a:prstGeom prst="line">
            <a:avLst/>
          </a:prstGeom>
          <a:noFill/>
          <a:ln w="15240">
            <a:solidFill>
              <a:srgbClr val="CBD5E1"/>
            </a:solidFill>
            <a:prstDash val="solid"/>
            <a:headEnd type="none"/>
            <a:tailEnd type="triangle"/>
          </a:ln>
        </p:spPr>
      </p:sp>
      <p:sp>
        <p:nvSpPr>
          <p:cNvPr id="17" name="Shape 15"/>
          <p:cNvSpPr/>
          <p:nvPr/>
        </p:nvSpPr>
        <p:spPr>
          <a:xfrm>
            <a:off x="8686800" y="4261104"/>
            <a:ext cx="155448" cy="0"/>
          </a:xfrm>
          <a:prstGeom prst="line">
            <a:avLst/>
          </a:prstGeom>
          <a:noFill/>
          <a:ln w="15240">
            <a:solidFill>
              <a:srgbClr val="CBD5E1"/>
            </a:solidFill>
            <a:prstDash val="solid"/>
            <a:headEnd type="none"/>
            <a:tailEnd type="triangle"/>
          </a:ln>
        </p:spPr>
      </p:sp>
      <p:sp>
        <p:nvSpPr>
          <p:cNvPr id="18" name="Text 16"/>
          <p:cNvSpPr/>
          <p:nvPr/>
        </p:nvSpPr>
        <p:spPr>
          <a:xfrm>
            <a:off x="749808" y="5897880"/>
            <a:ext cx="5943600" cy="219456"/>
          </a:xfrm>
          <a:prstGeom prst="rect">
            <a:avLst/>
          </a:prstGeom>
          <a:noFill/>
          <a:ln/>
        </p:spPr>
        <p:txBody>
          <a:bodyPr wrap="square" lIns="0" tIns="0" rIns="0" bIns="0" rtlCol="0" anchor="ctr"/>
          <a:lstStyle/>
          <a:p>
            <a:pPr indent="0" marL="0">
              <a:buNone/>
            </a:pPr>
            <a:r>
              <a:rPr lang="en-US" sz="1200" b="1" dirty="0">
                <a:solidFill>
                  <a:srgbClr val="93C5FD"/>
                </a:solidFill>
              </a:rPr>
              <a:t>Talk-track deck · Lime Green technical assistant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The central argument</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The architecture should feel inevitable once the user jobs and risks are visible.</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594360" y="1828800"/>
            <a:ext cx="1600200" cy="1143000"/>
          </a:xfrm>
          <a:prstGeom prst="roundRect">
            <a:avLst>
              <a:gd name="adj" fmla="val 6400"/>
            </a:avLst>
          </a:prstGeom>
          <a:solidFill>
            <a:srgbClr val="CCFBF1"/>
          </a:solidFill>
          <a:ln w="12700">
            <a:solidFill>
              <a:srgbClr val="0E7C7B"/>
            </a:solidFill>
            <a:prstDash val="solid"/>
          </a:ln>
        </p:spPr>
      </p:sp>
      <p:sp>
        <p:nvSpPr>
          <p:cNvPr id="6" name="Text 4"/>
          <p:cNvSpPr/>
          <p:nvPr/>
        </p:nvSpPr>
        <p:spPr>
          <a:xfrm>
            <a:off x="740664" y="1938528"/>
            <a:ext cx="130759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1</a:t>
            </a:r>
            <a:endParaRPr lang="en-US" sz="1600" dirty="0"/>
          </a:p>
          <a:p>
            <a:pPr indent="0" marL="0">
              <a:buNone/>
            </a:pPr>
            <a:r>
              <a:rPr lang="en-US" sz="1600" b="1" dirty="0">
                <a:solidFill>
                  <a:srgbClr val="0B1F3A"/>
                </a:solidFill>
              </a:rPr>
              <a:t>Segments</a:t>
            </a:r>
            <a:endParaRPr lang="en-US" sz="1600" dirty="0"/>
          </a:p>
        </p:txBody>
      </p:sp>
      <p:sp>
        <p:nvSpPr>
          <p:cNvPr id="7" name="Text 5"/>
          <p:cNvSpPr/>
          <p:nvPr/>
        </p:nvSpPr>
        <p:spPr>
          <a:xfrm>
            <a:off x="740664" y="2249424"/>
            <a:ext cx="1307592" cy="612648"/>
          </a:xfrm>
          <a:prstGeom prst="rect">
            <a:avLst/>
          </a:prstGeom>
          <a:noFill/>
          <a:ln/>
        </p:spPr>
        <p:txBody>
          <a:bodyPr wrap="square" lIns="127" tIns="127" rIns="127" bIns="127" rtlCol="0" anchor="ctr">
            <a:normAutofit/>
          </a:bodyPr>
          <a:lstStyle/>
          <a:p>
            <a:pPr indent="0" marL="0">
              <a:buNone/>
            </a:pPr>
            <a:r>
              <a:rPr lang="en-US" sz="950" dirty="0">
                <a:solidFill>
                  <a:srgbClr val="334155"/>
                </a:solidFill>
              </a:rPr>
              <a:t>Who asks and what they know</a:t>
            </a:r>
            <a:endParaRPr lang="en-US" sz="950" dirty="0"/>
          </a:p>
        </p:txBody>
      </p:sp>
      <p:sp>
        <p:nvSpPr>
          <p:cNvPr id="8" name="Shape 6"/>
          <p:cNvSpPr/>
          <p:nvPr/>
        </p:nvSpPr>
        <p:spPr>
          <a:xfrm>
            <a:off x="2286000" y="2395728"/>
            <a:ext cx="237744" cy="0"/>
          </a:xfrm>
          <a:prstGeom prst="line">
            <a:avLst/>
          </a:prstGeom>
          <a:noFill/>
          <a:ln w="19050">
            <a:solidFill>
              <a:srgbClr val="64748B"/>
            </a:solidFill>
            <a:prstDash val="solid"/>
            <a:headEnd type="none"/>
            <a:tailEnd type="triangle"/>
          </a:ln>
        </p:spPr>
      </p:sp>
      <p:sp>
        <p:nvSpPr>
          <p:cNvPr id="9" name="Shape 7"/>
          <p:cNvSpPr/>
          <p:nvPr/>
        </p:nvSpPr>
        <p:spPr>
          <a:xfrm>
            <a:off x="2633472" y="1828800"/>
            <a:ext cx="1600200" cy="1143000"/>
          </a:xfrm>
          <a:prstGeom prst="roundRect">
            <a:avLst>
              <a:gd name="adj" fmla="val 6400"/>
            </a:avLst>
          </a:prstGeom>
          <a:solidFill>
            <a:srgbClr val="DCFCE7"/>
          </a:solidFill>
          <a:ln w="12700">
            <a:solidFill>
              <a:srgbClr val="2E7D32"/>
            </a:solidFill>
            <a:prstDash val="solid"/>
          </a:ln>
        </p:spPr>
      </p:sp>
      <p:sp>
        <p:nvSpPr>
          <p:cNvPr id="10" name="Text 8"/>
          <p:cNvSpPr/>
          <p:nvPr/>
        </p:nvSpPr>
        <p:spPr>
          <a:xfrm>
            <a:off x="2779776" y="1938528"/>
            <a:ext cx="130759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2</a:t>
            </a:r>
            <a:endParaRPr lang="en-US" sz="1600" dirty="0"/>
          </a:p>
          <a:p>
            <a:pPr indent="0" marL="0">
              <a:buNone/>
            </a:pPr>
            <a:r>
              <a:rPr lang="en-US" sz="1600" b="1" dirty="0">
                <a:solidFill>
                  <a:srgbClr val="0B1F3A"/>
                </a:solidFill>
              </a:rPr>
              <a:t>JTBD</a:t>
            </a:r>
            <a:endParaRPr lang="en-US" sz="1600" dirty="0"/>
          </a:p>
        </p:txBody>
      </p:sp>
      <p:sp>
        <p:nvSpPr>
          <p:cNvPr id="11" name="Text 9"/>
          <p:cNvSpPr/>
          <p:nvPr/>
        </p:nvSpPr>
        <p:spPr>
          <a:xfrm>
            <a:off x="2779776" y="2249424"/>
            <a:ext cx="1307592" cy="612648"/>
          </a:xfrm>
          <a:prstGeom prst="rect">
            <a:avLst/>
          </a:prstGeom>
          <a:noFill/>
          <a:ln/>
        </p:spPr>
        <p:txBody>
          <a:bodyPr wrap="square" lIns="127" tIns="127" rIns="127" bIns="127" rtlCol="0" anchor="ctr">
            <a:normAutofit/>
          </a:bodyPr>
          <a:lstStyle/>
          <a:p>
            <a:pPr indent="0" marL="0">
              <a:buNone/>
            </a:pPr>
            <a:r>
              <a:rPr lang="en-US" sz="950" dirty="0">
                <a:solidFill>
                  <a:srgbClr val="334155"/>
                </a:solidFill>
              </a:rPr>
              <a:t>What they need to accomplish</a:t>
            </a:r>
            <a:endParaRPr lang="en-US" sz="950" dirty="0"/>
          </a:p>
        </p:txBody>
      </p:sp>
      <p:sp>
        <p:nvSpPr>
          <p:cNvPr id="12" name="Shape 10"/>
          <p:cNvSpPr/>
          <p:nvPr/>
        </p:nvSpPr>
        <p:spPr>
          <a:xfrm>
            <a:off x="4325112" y="2395728"/>
            <a:ext cx="246888" cy="0"/>
          </a:xfrm>
          <a:prstGeom prst="line">
            <a:avLst/>
          </a:prstGeom>
          <a:noFill/>
          <a:ln w="19050">
            <a:solidFill>
              <a:srgbClr val="64748B"/>
            </a:solidFill>
            <a:prstDash val="solid"/>
            <a:headEnd type="none"/>
            <a:tailEnd type="triangle"/>
          </a:ln>
        </p:spPr>
      </p:sp>
      <p:sp>
        <p:nvSpPr>
          <p:cNvPr id="13" name="Shape 11"/>
          <p:cNvSpPr/>
          <p:nvPr/>
        </p:nvSpPr>
        <p:spPr>
          <a:xfrm>
            <a:off x="4681728" y="1828800"/>
            <a:ext cx="1600200" cy="1143000"/>
          </a:xfrm>
          <a:prstGeom prst="roundRect">
            <a:avLst>
              <a:gd name="adj" fmla="val 6400"/>
            </a:avLst>
          </a:prstGeom>
          <a:solidFill>
            <a:srgbClr val="FEF3C7"/>
          </a:solidFill>
          <a:ln w="12700">
            <a:solidFill>
              <a:srgbClr val="F59E0B"/>
            </a:solidFill>
            <a:prstDash val="solid"/>
          </a:ln>
        </p:spPr>
      </p:sp>
      <p:sp>
        <p:nvSpPr>
          <p:cNvPr id="14" name="Text 12"/>
          <p:cNvSpPr/>
          <p:nvPr/>
        </p:nvSpPr>
        <p:spPr>
          <a:xfrm>
            <a:off x="4828032" y="1938528"/>
            <a:ext cx="130759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3</a:t>
            </a:r>
            <a:endParaRPr lang="en-US" sz="1600" dirty="0"/>
          </a:p>
          <a:p>
            <a:pPr indent="0" marL="0">
              <a:buNone/>
            </a:pPr>
            <a:r>
              <a:rPr lang="en-US" sz="1600" b="1" dirty="0">
                <a:solidFill>
                  <a:srgbClr val="0B1F3A"/>
                </a:solidFill>
              </a:rPr>
              <a:t>Queries</a:t>
            </a:r>
            <a:endParaRPr lang="en-US" sz="1600" dirty="0"/>
          </a:p>
        </p:txBody>
      </p:sp>
      <p:sp>
        <p:nvSpPr>
          <p:cNvPr id="15" name="Text 13"/>
          <p:cNvSpPr/>
          <p:nvPr/>
        </p:nvSpPr>
        <p:spPr>
          <a:xfrm>
            <a:off x="4828032" y="2249424"/>
            <a:ext cx="1307592" cy="612648"/>
          </a:xfrm>
          <a:prstGeom prst="rect">
            <a:avLst/>
          </a:prstGeom>
          <a:noFill/>
          <a:ln/>
        </p:spPr>
        <p:txBody>
          <a:bodyPr wrap="square" lIns="127" tIns="127" rIns="127" bIns="127" rtlCol="0" anchor="ctr">
            <a:normAutofit/>
          </a:bodyPr>
          <a:lstStyle/>
          <a:p>
            <a:pPr indent="0" marL="0">
              <a:buNone/>
            </a:pPr>
            <a:r>
              <a:rPr lang="en-US" sz="950" dirty="0">
                <a:solidFill>
                  <a:srgbClr val="334155"/>
                </a:solidFill>
              </a:rPr>
              <a:t>How the need appears as a question</a:t>
            </a:r>
            <a:endParaRPr lang="en-US" sz="950" dirty="0"/>
          </a:p>
        </p:txBody>
      </p:sp>
      <p:sp>
        <p:nvSpPr>
          <p:cNvPr id="16" name="Shape 14"/>
          <p:cNvSpPr/>
          <p:nvPr/>
        </p:nvSpPr>
        <p:spPr>
          <a:xfrm>
            <a:off x="6373368" y="2395728"/>
            <a:ext cx="237744" cy="0"/>
          </a:xfrm>
          <a:prstGeom prst="line">
            <a:avLst/>
          </a:prstGeom>
          <a:noFill/>
          <a:ln w="19050">
            <a:solidFill>
              <a:srgbClr val="64748B"/>
            </a:solidFill>
            <a:prstDash val="solid"/>
            <a:headEnd type="none"/>
            <a:tailEnd type="triangle"/>
          </a:ln>
        </p:spPr>
      </p:sp>
      <p:sp>
        <p:nvSpPr>
          <p:cNvPr id="17" name="Shape 15"/>
          <p:cNvSpPr/>
          <p:nvPr/>
        </p:nvSpPr>
        <p:spPr>
          <a:xfrm>
            <a:off x="6720840" y="1828800"/>
            <a:ext cx="1600200" cy="1143000"/>
          </a:xfrm>
          <a:prstGeom prst="roundRect">
            <a:avLst>
              <a:gd name="adj" fmla="val 6400"/>
            </a:avLst>
          </a:prstGeom>
          <a:solidFill>
            <a:srgbClr val="FEE2E2"/>
          </a:solidFill>
          <a:ln w="12700">
            <a:solidFill>
              <a:srgbClr val="DC2626"/>
            </a:solidFill>
            <a:prstDash val="solid"/>
          </a:ln>
        </p:spPr>
      </p:sp>
      <p:sp>
        <p:nvSpPr>
          <p:cNvPr id="18" name="Text 16"/>
          <p:cNvSpPr/>
          <p:nvPr/>
        </p:nvSpPr>
        <p:spPr>
          <a:xfrm>
            <a:off x="6867144" y="1938528"/>
            <a:ext cx="130759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4</a:t>
            </a:r>
            <a:endParaRPr lang="en-US" sz="1600" dirty="0"/>
          </a:p>
          <a:p>
            <a:pPr indent="0" marL="0">
              <a:buNone/>
            </a:pPr>
            <a:r>
              <a:rPr lang="en-US" sz="1600" b="1" dirty="0">
                <a:solidFill>
                  <a:srgbClr val="0B1F3A"/>
                </a:solidFill>
              </a:rPr>
              <a:t>Risks</a:t>
            </a:r>
            <a:endParaRPr lang="en-US" sz="1600" dirty="0"/>
          </a:p>
        </p:txBody>
      </p:sp>
      <p:sp>
        <p:nvSpPr>
          <p:cNvPr id="19" name="Text 17"/>
          <p:cNvSpPr/>
          <p:nvPr/>
        </p:nvSpPr>
        <p:spPr>
          <a:xfrm>
            <a:off x="6867144" y="2249424"/>
            <a:ext cx="1307592" cy="612648"/>
          </a:xfrm>
          <a:prstGeom prst="rect">
            <a:avLst/>
          </a:prstGeom>
          <a:noFill/>
          <a:ln/>
        </p:spPr>
        <p:txBody>
          <a:bodyPr wrap="square" lIns="127" tIns="127" rIns="127" bIns="127" rtlCol="0" anchor="ctr">
            <a:normAutofit/>
          </a:bodyPr>
          <a:lstStyle/>
          <a:p>
            <a:pPr indent="0" marL="0">
              <a:buNone/>
            </a:pPr>
            <a:r>
              <a:rPr lang="en-US" sz="950" dirty="0">
                <a:solidFill>
                  <a:srgbClr val="334155"/>
                </a:solidFill>
              </a:rPr>
              <a:t>What happens if the answer is wrong</a:t>
            </a:r>
            <a:endParaRPr lang="en-US" sz="950" dirty="0"/>
          </a:p>
        </p:txBody>
      </p:sp>
      <p:sp>
        <p:nvSpPr>
          <p:cNvPr id="20" name="Shape 18"/>
          <p:cNvSpPr/>
          <p:nvPr/>
        </p:nvSpPr>
        <p:spPr>
          <a:xfrm>
            <a:off x="8412480" y="2395728"/>
            <a:ext cx="237744" cy="0"/>
          </a:xfrm>
          <a:prstGeom prst="line">
            <a:avLst/>
          </a:prstGeom>
          <a:noFill/>
          <a:ln w="19050">
            <a:solidFill>
              <a:srgbClr val="64748B"/>
            </a:solidFill>
            <a:prstDash val="solid"/>
            <a:headEnd type="none"/>
            <a:tailEnd type="triangle"/>
          </a:ln>
        </p:spPr>
      </p:sp>
      <p:sp>
        <p:nvSpPr>
          <p:cNvPr id="21" name="Shape 19"/>
          <p:cNvSpPr/>
          <p:nvPr/>
        </p:nvSpPr>
        <p:spPr>
          <a:xfrm>
            <a:off x="8759952" y="1828800"/>
            <a:ext cx="1600200" cy="1143000"/>
          </a:xfrm>
          <a:prstGeom prst="roundRect">
            <a:avLst>
              <a:gd name="adj" fmla="val 6400"/>
            </a:avLst>
          </a:prstGeom>
          <a:solidFill>
            <a:srgbClr val="EDE9FE"/>
          </a:solidFill>
          <a:ln w="12700">
            <a:solidFill>
              <a:srgbClr val="6B4E9E"/>
            </a:solidFill>
            <a:prstDash val="solid"/>
          </a:ln>
        </p:spPr>
      </p:sp>
      <p:sp>
        <p:nvSpPr>
          <p:cNvPr id="22" name="Text 20"/>
          <p:cNvSpPr/>
          <p:nvPr/>
        </p:nvSpPr>
        <p:spPr>
          <a:xfrm>
            <a:off x="8906256" y="1938528"/>
            <a:ext cx="130759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5</a:t>
            </a:r>
            <a:endParaRPr lang="en-US" sz="1600" dirty="0"/>
          </a:p>
          <a:p>
            <a:pPr indent="0" marL="0">
              <a:buNone/>
            </a:pPr>
            <a:r>
              <a:rPr lang="en-US" sz="1600" b="1" dirty="0">
                <a:solidFill>
                  <a:srgbClr val="0B1F3A"/>
                </a:solidFill>
              </a:rPr>
              <a:t>Decisions</a:t>
            </a:r>
            <a:endParaRPr lang="en-US" sz="1600" dirty="0"/>
          </a:p>
        </p:txBody>
      </p:sp>
      <p:sp>
        <p:nvSpPr>
          <p:cNvPr id="23" name="Text 21"/>
          <p:cNvSpPr/>
          <p:nvPr/>
        </p:nvSpPr>
        <p:spPr>
          <a:xfrm>
            <a:off x="8906256" y="2249424"/>
            <a:ext cx="1307592" cy="612648"/>
          </a:xfrm>
          <a:prstGeom prst="rect">
            <a:avLst/>
          </a:prstGeom>
          <a:noFill/>
          <a:ln/>
        </p:spPr>
        <p:txBody>
          <a:bodyPr wrap="square" lIns="127" tIns="127" rIns="127" bIns="127" rtlCol="0" anchor="ctr">
            <a:normAutofit/>
          </a:bodyPr>
          <a:lstStyle/>
          <a:p>
            <a:pPr indent="0" marL="0">
              <a:buNone/>
            </a:pPr>
            <a:r>
              <a:rPr lang="en-US" sz="950" dirty="0">
                <a:solidFill>
                  <a:srgbClr val="334155"/>
                </a:solidFill>
              </a:rPr>
              <a:t>What the system must do</a:t>
            </a:r>
            <a:endParaRPr lang="en-US" sz="950" dirty="0"/>
          </a:p>
        </p:txBody>
      </p:sp>
      <p:sp>
        <p:nvSpPr>
          <p:cNvPr id="24" name="Shape 22"/>
          <p:cNvSpPr/>
          <p:nvPr/>
        </p:nvSpPr>
        <p:spPr>
          <a:xfrm>
            <a:off x="914400" y="3749040"/>
            <a:ext cx="10241280" cy="868680"/>
          </a:xfrm>
          <a:prstGeom prst="roundRect">
            <a:avLst>
              <a:gd name="adj" fmla="val 8421"/>
            </a:avLst>
          </a:prstGeom>
          <a:solidFill>
            <a:srgbClr val="CCFBF1"/>
          </a:solidFill>
          <a:ln w="12700">
            <a:solidFill>
              <a:srgbClr val="0E7C7B"/>
            </a:solidFill>
            <a:prstDash val="solid"/>
          </a:ln>
        </p:spPr>
      </p:sp>
      <p:sp>
        <p:nvSpPr>
          <p:cNvPr id="25" name="Text 23"/>
          <p:cNvSpPr/>
          <p:nvPr/>
        </p:nvSpPr>
        <p:spPr>
          <a:xfrm>
            <a:off x="1060704" y="3794760"/>
            <a:ext cx="9948672" cy="777240"/>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This is not “build a chatbot”. It is “design a safe technical decision-support system around real constraints”.</a:t>
            </a:r>
            <a:endParaRPr lang="en-US" sz="1720" dirty="0"/>
          </a:p>
        </p:txBody>
      </p:sp>
      <p:sp>
        <p:nvSpPr>
          <p:cNvPr id="26" name="Shape 24"/>
          <p:cNvSpPr/>
          <p:nvPr/>
        </p:nvSpPr>
        <p:spPr>
          <a:xfrm>
            <a:off x="1280160" y="4983480"/>
            <a:ext cx="9509760" cy="640080"/>
          </a:xfrm>
          <a:prstGeom prst="roundRect">
            <a:avLst>
              <a:gd name="adj" fmla="val 11429"/>
            </a:avLst>
          </a:prstGeom>
          <a:solidFill>
            <a:srgbClr val="FFFFFF"/>
          </a:solidFill>
          <a:ln w="12700">
            <a:solidFill>
              <a:srgbClr val="E2E8F0"/>
            </a:solidFill>
            <a:prstDash val="solid"/>
          </a:ln>
        </p:spPr>
      </p:sp>
      <p:sp>
        <p:nvSpPr>
          <p:cNvPr id="27" name="Text 25"/>
          <p:cNvSpPr/>
          <p:nvPr/>
        </p:nvSpPr>
        <p:spPr>
          <a:xfrm>
            <a:off x="1426464" y="5093208"/>
            <a:ext cx="921715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The proof standard</a:t>
            </a:r>
            <a:endParaRPr lang="en-US" sz="1400" dirty="0"/>
          </a:p>
        </p:txBody>
      </p:sp>
      <p:sp>
        <p:nvSpPr>
          <p:cNvPr id="28" name="Text 26"/>
          <p:cNvSpPr/>
          <p:nvPr/>
        </p:nvSpPr>
        <p:spPr>
          <a:xfrm>
            <a:off x="1426464" y="5404104"/>
            <a:ext cx="9217152" cy="109728"/>
          </a:xfrm>
          <a:prstGeom prst="rect">
            <a:avLst/>
          </a:prstGeom>
          <a:noFill/>
          <a:ln/>
        </p:spPr>
        <p:txBody>
          <a:bodyPr wrap="square" lIns="127" tIns="127" rIns="127" bIns="127" rtlCol="0" anchor="ctr">
            <a:normAutofit/>
          </a:bodyPr>
          <a:lstStyle/>
          <a:p>
            <a:pPr indent="0" marL="0">
              <a:buNone/>
            </a:pPr>
            <a:r>
              <a:rPr lang="en-US" sz="1150" dirty="0">
                <a:solidFill>
                  <a:srgbClr val="334155"/>
                </a:solidFill>
              </a:rPr>
              <a:t>Every major architecture choice should trace back to a user job, a query pattern, a failure mode, or an operational constraint.</a:t>
            </a:r>
            <a:endParaRPr lang="en-US" sz="115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Who the assistant serves</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Different users ask different questions, tolerate different detail, and create different risks.</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594360" y="1417320"/>
            <a:ext cx="3520440" cy="3520440"/>
          </a:xfrm>
          <a:prstGeom prst="roundRect">
            <a:avLst>
              <a:gd name="adj" fmla="val 2078"/>
            </a:avLst>
          </a:prstGeom>
          <a:solidFill>
            <a:srgbClr val="DCFCE7"/>
          </a:solidFill>
          <a:ln w="12700">
            <a:solidFill>
              <a:srgbClr val="2E7D32"/>
            </a:solidFill>
            <a:prstDash val="solid"/>
          </a:ln>
        </p:spPr>
      </p:sp>
      <p:sp>
        <p:nvSpPr>
          <p:cNvPr id="6" name="Text 4"/>
          <p:cNvSpPr/>
          <p:nvPr/>
        </p:nvSpPr>
        <p:spPr>
          <a:xfrm>
            <a:off x="740664" y="1527048"/>
            <a:ext cx="3227832" cy="256032"/>
          </a:xfrm>
          <a:prstGeom prst="rect">
            <a:avLst/>
          </a:prstGeom>
          <a:noFill/>
          <a:ln/>
        </p:spPr>
        <p:txBody>
          <a:bodyPr wrap="square" lIns="0" tIns="0" rIns="0" bIns="0" rtlCol="0" anchor="ctr">
            <a:normAutofit/>
          </a:bodyPr>
          <a:lstStyle/>
          <a:p>
            <a:pPr indent="0" marL="0">
              <a:buNone/>
            </a:pPr>
            <a:r>
              <a:rPr lang="en-US" sz="1700" b="1" dirty="0">
                <a:solidFill>
                  <a:srgbClr val="0B1F3A"/>
                </a:solidFill>
              </a:rPr>
              <a:t>Public customer / homeowner</a:t>
            </a:r>
            <a:endParaRPr lang="en-US" sz="1700" dirty="0"/>
          </a:p>
        </p:txBody>
      </p:sp>
      <p:sp>
        <p:nvSpPr>
          <p:cNvPr id="7" name="Text 5"/>
          <p:cNvSpPr/>
          <p:nvPr/>
        </p:nvSpPr>
        <p:spPr>
          <a:xfrm>
            <a:off x="740664" y="1837944"/>
            <a:ext cx="3227832" cy="2990088"/>
          </a:xfrm>
          <a:prstGeom prst="rect">
            <a:avLst/>
          </a:prstGeom>
          <a:noFill/>
          <a:ln/>
        </p:spPr>
        <p:txBody>
          <a:bodyPr wrap="square" lIns="127" tIns="127" rIns="127" bIns="127" rtlCol="0" anchor="t">
            <a:normAutofit/>
          </a:bodyPr>
          <a:lstStyle/>
          <a:p>
            <a:pPr indent="0" marL="0">
              <a:buNone/>
            </a:pPr>
            <a:r>
              <a:rPr lang="en-US" sz="1200" dirty="0">
                <a:solidFill>
                  <a:srgbClr val="334155"/>
                </a:solidFill>
              </a:rPr>
              <a:t>Usually anonymous and less technical.</a:t>
            </a:r>
            <a:endParaRPr lang="en-US" sz="1200" dirty="0"/>
          </a:p>
          <a:p>
            <a:pPr indent="0" marL="0">
              <a:buNone/>
            </a:pPr>
            <a:endParaRPr lang="en-US" sz="1200" dirty="0"/>
          </a:p>
          <a:p>
            <a:pPr indent="0" marL="0">
              <a:buNone/>
            </a:pPr>
            <a:r>
              <a:rPr lang="en-US" sz="1200" dirty="0">
                <a:solidFill>
                  <a:srgbClr val="334155"/>
                </a:solidFill>
              </a:rPr>
              <a:t>Needs plain-English guidance, product direction, and confidence that they are not choosing something unsuitable.</a:t>
            </a:r>
            <a:endParaRPr lang="en-US" sz="1200" dirty="0"/>
          </a:p>
          <a:p>
            <a:pPr indent="0" marL="0">
              <a:buNone/>
            </a:pPr>
            <a:endParaRPr lang="en-US" sz="1200" dirty="0"/>
          </a:p>
          <a:p>
            <a:pPr indent="0" marL="0">
              <a:buNone/>
            </a:pPr>
            <a:r>
              <a:rPr lang="en-US" sz="1200" dirty="0">
                <a:solidFill>
                  <a:srgbClr val="334155"/>
                </a:solidFill>
              </a:rPr>
              <a:t>High risk: misunderstanding substrate, terminology or limitations.</a:t>
            </a:r>
            <a:endParaRPr lang="en-US" sz="1200" dirty="0"/>
          </a:p>
        </p:txBody>
      </p:sp>
      <p:sp>
        <p:nvSpPr>
          <p:cNvPr id="8" name="Shape 6"/>
          <p:cNvSpPr/>
          <p:nvPr/>
        </p:nvSpPr>
        <p:spPr>
          <a:xfrm>
            <a:off x="4343400" y="1417320"/>
            <a:ext cx="3520440" cy="3520440"/>
          </a:xfrm>
          <a:prstGeom prst="roundRect">
            <a:avLst>
              <a:gd name="adj" fmla="val 2078"/>
            </a:avLst>
          </a:prstGeom>
          <a:solidFill>
            <a:srgbClr val="DBEAFE"/>
          </a:solidFill>
          <a:ln w="12700">
            <a:solidFill>
              <a:srgbClr val="1F4E79"/>
            </a:solidFill>
            <a:prstDash val="solid"/>
          </a:ln>
        </p:spPr>
      </p:sp>
      <p:sp>
        <p:nvSpPr>
          <p:cNvPr id="9" name="Text 7"/>
          <p:cNvSpPr/>
          <p:nvPr/>
        </p:nvSpPr>
        <p:spPr>
          <a:xfrm>
            <a:off x="4489704" y="1527048"/>
            <a:ext cx="3227832" cy="256032"/>
          </a:xfrm>
          <a:prstGeom prst="rect">
            <a:avLst/>
          </a:prstGeom>
          <a:noFill/>
          <a:ln/>
        </p:spPr>
        <p:txBody>
          <a:bodyPr wrap="square" lIns="0" tIns="0" rIns="0" bIns="0" rtlCol="0" anchor="ctr">
            <a:normAutofit/>
          </a:bodyPr>
          <a:lstStyle/>
          <a:p>
            <a:pPr indent="0" marL="0">
              <a:buNone/>
            </a:pPr>
            <a:r>
              <a:rPr lang="en-US" sz="1700" b="1" dirty="0">
                <a:solidFill>
                  <a:srgbClr val="0B1F3A"/>
                </a:solidFill>
              </a:rPr>
              <a:t>Trade user / contractor / merchant</a:t>
            </a:r>
            <a:endParaRPr lang="en-US" sz="1700" dirty="0"/>
          </a:p>
        </p:txBody>
      </p:sp>
      <p:sp>
        <p:nvSpPr>
          <p:cNvPr id="10" name="Text 8"/>
          <p:cNvSpPr/>
          <p:nvPr/>
        </p:nvSpPr>
        <p:spPr>
          <a:xfrm>
            <a:off x="4489704" y="1837944"/>
            <a:ext cx="3227832" cy="2990088"/>
          </a:xfrm>
          <a:prstGeom prst="rect">
            <a:avLst/>
          </a:prstGeom>
          <a:noFill/>
          <a:ln/>
        </p:spPr>
        <p:txBody>
          <a:bodyPr wrap="square" lIns="127" tIns="127" rIns="127" bIns="127" rtlCol="0" anchor="t">
            <a:normAutofit/>
          </a:bodyPr>
          <a:lstStyle/>
          <a:p>
            <a:pPr indent="0" marL="0">
              <a:buNone/>
            </a:pPr>
            <a:r>
              <a:rPr lang="en-US" sz="1200" dirty="0">
                <a:solidFill>
                  <a:srgbClr val="334155"/>
                </a:solidFill>
              </a:rPr>
              <a:t>More task-focused and time-sensitive.</a:t>
            </a:r>
            <a:endParaRPr lang="en-US" sz="1200" dirty="0"/>
          </a:p>
          <a:p>
            <a:pPr indent="0" marL="0">
              <a:buNone/>
            </a:pPr>
            <a:endParaRPr lang="en-US" sz="1200" dirty="0"/>
          </a:p>
          <a:p>
            <a:pPr indent="0" marL="0">
              <a:buNone/>
            </a:pPr>
            <a:r>
              <a:rPr lang="en-US" sz="1200" dirty="0">
                <a:solidFill>
                  <a:srgbClr val="334155"/>
                </a:solidFill>
              </a:rPr>
              <a:t>Needs exact figures, compatibility, preparation, coverage and application details quickly.</a:t>
            </a:r>
            <a:endParaRPr lang="en-US" sz="1200" dirty="0"/>
          </a:p>
          <a:p>
            <a:pPr indent="0" marL="0">
              <a:buNone/>
            </a:pPr>
            <a:endParaRPr lang="en-US" sz="1200" dirty="0"/>
          </a:p>
          <a:p>
            <a:pPr indent="0" marL="0">
              <a:buNone/>
            </a:pPr>
            <a:r>
              <a:rPr lang="en-US" sz="1200" dirty="0">
                <a:solidFill>
                  <a:srgbClr val="334155"/>
                </a:solidFill>
              </a:rPr>
              <a:t>High risk: small wording drift creates real site errors.</a:t>
            </a:r>
            <a:endParaRPr lang="en-US" sz="1200" dirty="0"/>
          </a:p>
        </p:txBody>
      </p:sp>
      <p:sp>
        <p:nvSpPr>
          <p:cNvPr id="11" name="Shape 9"/>
          <p:cNvSpPr/>
          <p:nvPr/>
        </p:nvSpPr>
        <p:spPr>
          <a:xfrm>
            <a:off x="8092440" y="1417320"/>
            <a:ext cx="3520440" cy="3520440"/>
          </a:xfrm>
          <a:prstGeom prst="roundRect">
            <a:avLst>
              <a:gd name="adj" fmla="val 2078"/>
            </a:avLst>
          </a:prstGeom>
          <a:solidFill>
            <a:srgbClr val="EDE9FE"/>
          </a:solidFill>
          <a:ln w="12700">
            <a:solidFill>
              <a:srgbClr val="6B4E9E"/>
            </a:solidFill>
            <a:prstDash val="solid"/>
          </a:ln>
        </p:spPr>
      </p:sp>
      <p:sp>
        <p:nvSpPr>
          <p:cNvPr id="12" name="Text 10"/>
          <p:cNvSpPr/>
          <p:nvPr/>
        </p:nvSpPr>
        <p:spPr>
          <a:xfrm>
            <a:off x="8238744" y="1527048"/>
            <a:ext cx="3227832" cy="256032"/>
          </a:xfrm>
          <a:prstGeom prst="rect">
            <a:avLst/>
          </a:prstGeom>
          <a:noFill/>
          <a:ln/>
        </p:spPr>
        <p:txBody>
          <a:bodyPr wrap="square" lIns="0" tIns="0" rIns="0" bIns="0" rtlCol="0" anchor="ctr">
            <a:normAutofit/>
          </a:bodyPr>
          <a:lstStyle/>
          <a:p>
            <a:pPr indent="0" marL="0">
              <a:buNone/>
            </a:pPr>
            <a:r>
              <a:rPr lang="en-US" sz="1700" b="1" dirty="0">
                <a:solidFill>
                  <a:srgbClr val="0B1F3A"/>
                </a:solidFill>
              </a:rPr>
              <a:t>Staff / technical advisor</a:t>
            </a:r>
            <a:endParaRPr lang="en-US" sz="1700" dirty="0"/>
          </a:p>
        </p:txBody>
      </p:sp>
      <p:sp>
        <p:nvSpPr>
          <p:cNvPr id="13" name="Text 11"/>
          <p:cNvSpPr/>
          <p:nvPr/>
        </p:nvSpPr>
        <p:spPr>
          <a:xfrm>
            <a:off x="8238744" y="1837944"/>
            <a:ext cx="3227832" cy="2990088"/>
          </a:xfrm>
          <a:prstGeom prst="rect">
            <a:avLst/>
          </a:prstGeom>
          <a:noFill/>
          <a:ln/>
        </p:spPr>
        <p:txBody>
          <a:bodyPr wrap="square" lIns="127" tIns="127" rIns="127" bIns="127" rtlCol="0" anchor="t">
            <a:normAutofit/>
          </a:bodyPr>
          <a:lstStyle/>
          <a:p>
            <a:pPr indent="0" marL="0">
              <a:buNone/>
            </a:pPr>
            <a:r>
              <a:rPr lang="en-US" sz="1200" dirty="0">
                <a:solidFill>
                  <a:srgbClr val="334155"/>
                </a:solidFill>
              </a:rPr>
              <a:t>Handles edge cases and escalations.</a:t>
            </a:r>
            <a:endParaRPr lang="en-US" sz="1200" dirty="0"/>
          </a:p>
          <a:p>
            <a:pPr indent="0" marL="0">
              <a:buNone/>
            </a:pPr>
            <a:endParaRPr lang="en-US" sz="1200" dirty="0"/>
          </a:p>
          <a:p>
            <a:pPr indent="0" marL="0">
              <a:buNone/>
            </a:pPr>
            <a:r>
              <a:rPr lang="en-US" sz="1200" dirty="0">
                <a:solidFill>
                  <a:srgbClr val="334155"/>
                </a:solidFill>
              </a:rPr>
              <a:t>Needs consistency, evidence, governance and faster drafting without replacing expert judgement.</a:t>
            </a:r>
            <a:endParaRPr lang="en-US" sz="1200" dirty="0"/>
          </a:p>
          <a:p>
            <a:pPr indent="0" marL="0">
              <a:buNone/>
            </a:pPr>
            <a:endParaRPr lang="en-US" sz="1200" dirty="0"/>
          </a:p>
          <a:p>
            <a:pPr indent="0" marL="0">
              <a:buNone/>
            </a:pPr>
            <a:r>
              <a:rPr lang="en-US" sz="1200" dirty="0">
                <a:solidFill>
                  <a:srgbClr val="334155"/>
                </a:solidFill>
              </a:rPr>
              <a:t>High risk: inconsistent advice or unsupported diagnosis.</a:t>
            </a:r>
            <a:endParaRPr lang="en-US" sz="1200" dirty="0"/>
          </a:p>
        </p:txBody>
      </p:sp>
      <p:sp>
        <p:nvSpPr>
          <p:cNvPr id="14" name="Shape 12"/>
          <p:cNvSpPr/>
          <p:nvPr/>
        </p:nvSpPr>
        <p:spPr>
          <a:xfrm>
            <a:off x="1097280" y="5532120"/>
            <a:ext cx="2560320" cy="411480"/>
          </a:xfrm>
          <a:prstGeom prst="roundRect">
            <a:avLst>
              <a:gd name="adj" fmla="val 17778"/>
            </a:avLst>
          </a:prstGeom>
          <a:solidFill>
            <a:srgbClr val="DCFCE7"/>
          </a:solidFill>
          <a:ln w="12700">
            <a:solidFill>
              <a:srgbClr val="DCFCE7"/>
            </a:solidFill>
            <a:prstDash val="solid"/>
          </a:ln>
        </p:spPr>
      </p:sp>
      <p:sp>
        <p:nvSpPr>
          <p:cNvPr id="15" name="Text 13"/>
          <p:cNvSpPr/>
          <p:nvPr/>
        </p:nvSpPr>
        <p:spPr>
          <a:xfrm>
            <a:off x="1188720" y="5605272"/>
            <a:ext cx="2377440" cy="265176"/>
          </a:xfrm>
          <a:prstGeom prst="rect">
            <a:avLst/>
          </a:prstGeom>
          <a:noFill/>
          <a:ln/>
        </p:spPr>
        <p:txBody>
          <a:bodyPr wrap="square" lIns="0" tIns="0" rIns="0" bIns="0" rtlCol="0" anchor="ctr">
            <a:normAutofit/>
          </a:bodyPr>
          <a:lstStyle/>
          <a:p>
            <a:pPr algn="ctr" indent="0" marL="0">
              <a:buNone/>
            </a:pPr>
            <a:r>
              <a:rPr lang="en-US" sz="1250" b="1" dirty="0">
                <a:solidFill>
                  <a:srgbClr val="2E7D32"/>
                </a:solidFill>
              </a:rPr>
              <a:t>simple explanation</a:t>
            </a:r>
            <a:endParaRPr lang="en-US" sz="1250" dirty="0"/>
          </a:p>
        </p:txBody>
      </p:sp>
      <p:sp>
        <p:nvSpPr>
          <p:cNvPr id="16" name="Shape 14"/>
          <p:cNvSpPr/>
          <p:nvPr/>
        </p:nvSpPr>
        <p:spPr>
          <a:xfrm>
            <a:off x="4754880" y="5532120"/>
            <a:ext cx="2560320" cy="411480"/>
          </a:xfrm>
          <a:prstGeom prst="roundRect">
            <a:avLst>
              <a:gd name="adj" fmla="val 17778"/>
            </a:avLst>
          </a:prstGeom>
          <a:solidFill>
            <a:srgbClr val="DBEAFE"/>
          </a:solidFill>
          <a:ln w="12700">
            <a:solidFill>
              <a:srgbClr val="DBEAFE"/>
            </a:solidFill>
            <a:prstDash val="solid"/>
          </a:ln>
        </p:spPr>
      </p:sp>
      <p:sp>
        <p:nvSpPr>
          <p:cNvPr id="17" name="Text 15"/>
          <p:cNvSpPr/>
          <p:nvPr/>
        </p:nvSpPr>
        <p:spPr>
          <a:xfrm>
            <a:off x="4846320" y="5605272"/>
            <a:ext cx="2377440" cy="265176"/>
          </a:xfrm>
          <a:prstGeom prst="rect">
            <a:avLst/>
          </a:prstGeom>
          <a:noFill/>
          <a:ln/>
        </p:spPr>
        <p:txBody>
          <a:bodyPr wrap="square" lIns="0" tIns="0" rIns="0" bIns="0" rtlCol="0" anchor="ctr">
            <a:normAutofit/>
          </a:bodyPr>
          <a:lstStyle/>
          <a:p>
            <a:pPr algn="ctr" indent="0" marL="0">
              <a:buNone/>
            </a:pPr>
            <a:r>
              <a:rPr lang="en-US" sz="1250" b="1" dirty="0">
                <a:solidFill>
                  <a:srgbClr val="1F4E79"/>
                </a:solidFill>
              </a:rPr>
              <a:t>speed + precision</a:t>
            </a:r>
            <a:endParaRPr lang="en-US" sz="1250" dirty="0"/>
          </a:p>
        </p:txBody>
      </p:sp>
      <p:sp>
        <p:nvSpPr>
          <p:cNvPr id="18" name="Shape 16"/>
          <p:cNvSpPr/>
          <p:nvPr/>
        </p:nvSpPr>
        <p:spPr>
          <a:xfrm>
            <a:off x="8458200" y="5532120"/>
            <a:ext cx="2560320" cy="411480"/>
          </a:xfrm>
          <a:prstGeom prst="roundRect">
            <a:avLst>
              <a:gd name="adj" fmla="val 17778"/>
            </a:avLst>
          </a:prstGeom>
          <a:solidFill>
            <a:srgbClr val="EDE9FE"/>
          </a:solidFill>
          <a:ln w="12700">
            <a:solidFill>
              <a:srgbClr val="EDE9FE"/>
            </a:solidFill>
            <a:prstDash val="solid"/>
          </a:ln>
        </p:spPr>
      </p:sp>
      <p:sp>
        <p:nvSpPr>
          <p:cNvPr id="19" name="Text 17"/>
          <p:cNvSpPr/>
          <p:nvPr/>
        </p:nvSpPr>
        <p:spPr>
          <a:xfrm>
            <a:off x="8549640" y="5605272"/>
            <a:ext cx="2377440" cy="265176"/>
          </a:xfrm>
          <a:prstGeom prst="rect">
            <a:avLst/>
          </a:prstGeom>
          <a:noFill/>
          <a:ln/>
        </p:spPr>
        <p:txBody>
          <a:bodyPr wrap="square" lIns="0" tIns="0" rIns="0" bIns="0" rtlCol="0" anchor="ctr">
            <a:normAutofit/>
          </a:bodyPr>
          <a:lstStyle/>
          <a:p>
            <a:pPr algn="ctr" indent="0" marL="0">
              <a:buNone/>
            </a:pPr>
            <a:r>
              <a:rPr lang="en-US" sz="1250" b="1" dirty="0">
                <a:solidFill>
                  <a:srgbClr val="6B4E9E"/>
                </a:solidFill>
              </a:rPr>
              <a:t>governance + hand-off</a:t>
            </a:r>
            <a:endParaRPr lang="en-US" sz="125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Jobs-to-be-done: what people actually need</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The recurring jobs are more specific than “answer questions”.</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548640" y="1417320"/>
            <a:ext cx="2578608" cy="1234440"/>
          </a:xfrm>
          <a:prstGeom prst="roundRect">
            <a:avLst>
              <a:gd name="adj" fmla="val 5926"/>
            </a:avLst>
          </a:prstGeom>
          <a:solidFill>
            <a:srgbClr val="DCFCE7"/>
          </a:solidFill>
          <a:ln w="12700">
            <a:solidFill>
              <a:srgbClr val="2E7D32"/>
            </a:solidFill>
            <a:prstDash val="solid"/>
          </a:ln>
        </p:spPr>
      </p:sp>
      <p:sp>
        <p:nvSpPr>
          <p:cNvPr id="6" name="Text 4"/>
          <p:cNvSpPr/>
          <p:nvPr/>
        </p:nvSpPr>
        <p:spPr>
          <a:xfrm>
            <a:off x="694944" y="1527048"/>
            <a:ext cx="2286000"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Select</a:t>
            </a:r>
            <a:endParaRPr lang="en-US" sz="1600" dirty="0"/>
          </a:p>
        </p:txBody>
      </p:sp>
      <p:sp>
        <p:nvSpPr>
          <p:cNvPr id="7" name="Text 5"/>
          <p:cNvSpPr/>
          <p:nvPr/>
        </p:nvSpPr>
        <p:spPr>
          <a:xfrm>
            <a:off x="694944" y="1837944"/>
            <a:ext cx="2286000" cy="704088"/>
          </a:xfrm>
          <a:prstGeom prst="rect">
            <a:avLst/>
          </a:prstGeom>
          <a:noFill/>
          <a:ln/>
        </p:spPr>
        <p:txBody>
          <a:bodyPr wrap="square" lIns="127" tIns="127" rIns="127" bIns="127" rtlCol="0" anchor="t">
            <a:normAutofit/>
          </a:bodyPr>
          <a:lstStyle/>
          <a:p>
            <a:pPr indent="0" marL="0">
              <a:buNone/>
            </a:pPr>
            <a:r>
              <a:rPr lang="en-US" sz="1080" dirty="0">
                <a:solidFill>
                  <a:srgbClr val="334155"/>
                </a:solidFill>
              </a:rPr>
              <a:t>Choose the right product/system for my situation</a:t>
            </a:r>
            <a:endParaRPr lang="en-US" sz="1080" dirty="0"/>
          </a:p>
        </p:txBody>
      </p:sp>
      <p:sp>
        <p:nvSpPr>
          <p:cNvPr id="8" name="Shape 6"/>
          <p:cNvSpPr/>
          <p:nvPr/>
        </p:nvSpPr>
        <p:spPr>
          <a:xfrm>
            <a:off x="3429000" y="1417320"/>
            <a:ext cx="2578608" cy="1234440"/>
          </a:xfrm>
          <a:prstGeom prst="roundRect">
            <a:avLst>
              <a:gd name="adj" fmla="val 5926"/>
            </a:avLst>
          </a:prstGeom>
          <a:solidFill>
            <a:srgbClr val="CCFBF1"/>
          </a:solidFill>
          <a:ln w="12700">
            <a:solidFill>
              <a:srgbClr val="0E7C7B"/>
            </a:solidFill>
            <a:prstDash val="solid"/>
          </a:ln>
        </p:spPr>
      </p:sp>
      <p:sp>
        <p:nvSpPr>
          <p:cNvPr id="9" name="Text 7"/>
          <p:cNvSpPr/>
          <p:nvPr/>
        </p:nvSpPr>
        <p:spPr>
          <a:xfrm>
            <a:off x="3575304" y="1527048"/>
            <a:ext cx="2286000"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Verify</a:t>
            </a:r>
            <a:endParaRPr lang="en-US" sz="1600" dirty="0"/>
          </a:p>
        </p:txBody>
      </p:sp>
      <p:sp>
        <p:nvSpPr>
          <p:cNvPr id="10" name="Text 8"/>
          <p:cNvSpPr/>
          <p:nvPr/>
        </p:nvSpPr>
        <p:spPr>
          <a:xfrm>
            <a:off x="3575304" y="1837944"/>
            <a:ext cx="2286000" cy="704088"/>
          </a:xfrm>
          <a:prstGeom prst="rect">
            <a:avLst/>
          </a:prstGeom>
          <a:noFill/>
          <a:ln/>
        </p:spPr>
        <p:txBody>
          <a:bodyPr wrap="square" lIns="127" tIns="127" rIns="127" bIns="127" rtlCol="0" anchor="t">
            <a:normAutofit/>
          </a:bodyPr>
          <a:lstStyle/>
          <a:p>
            <a:pPr indent="0" marL="0">
              <a:buNone/>
            </a:pPr>
            <a:r>
              <a:rPr lang="en-US" sz="1080" dirty="0">
                <a:solidFill>
                  <a:srgbClr val="334155"/>
                </a:solidFill>
              </a:rPr>
              <a:t>Check suitability for substrate, location or use case</a:t>
            </a:r>
            <a:endParaRPr lang="en-US" sz="1080" dirty="0"/>
          </a:p>
        </p:txBody>
      </p:sp>
      <p:sp>
        <p:nvSpPr>
          <p:cNvPr id="11" name="Shape 9"/>
          <p:cNvSpPr/>
          <p:nvPr/>
        </p:nvSpPr>
        <p:spPr>
          <a:xfrm>
            <a:off x="6309360" y="1417320"/>
            <a:ext cx="2578608" cy="1234440"/>
          </a:xfrm>
          <a:prstGeom prst="roundRect">
            <a:avLst>
              <a:gd name="adj" fmla="val 5926"/>
            </a:avLst>
          </a:prstGeom>
          <a:solidFill>
            <a:srgbClr val="DBEAFE"/>
          </a:solidFill>
          <a:ln w="12700">
            <a:solidFill>
              <a:srgbClr val="1F4E79"/>
            </a:solidFill>
            <a:prstDash val="solid"/>
          </a:ln>
        </p:spPr>
      </p:sp>
      <p:sp>
        <p:nvSpPr>
          <p:cNvPr id="12" name="Text 10"/>
          <p:cNvSpPr/>
          <p:nvPr/>
        </p:nvSpPr>
        <p:spPr>
          <a:xfrm>
            <a:off x="6455664" y="1527048"/>
            <a:ext cx="2286000"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Look up</a:t>
            </a:r>
            <a:endParaRPr lang="en-US" sz="1600" dirty="0"/>
          </a:p>
        </p:txBody>
      </p:sp>
      <p:sp>
        <p:nvSpPr>
          <p:cNvPr id="13" name="Text 11"/>
          <p:cNvSpPr/>
          <p:nvPr/>
        </p:nvSpPr>
        <p:spPr>
          <a:xfrm>
            <a:off x="6455664" y="1837944"/>
            <a:ext cx="2286000" cy="704088"/>
          </a:xfrm>
          <a:prstGeom prst="rect">
            <a:avLst/>
          </a:prstGeom>
          <a:noFill/>
          <a:ln/>
        </p:spPr>
        <p:txBody>
          <a:bodyPr wrap="square" lIns="127" tIns="127" rIns="127" bIns="127" rtlCol="0" anchor="t">
            <a:normAutofit/>
          </a:bodyPr>
          <a:lstStyle/>
          <a:p>
            <a:pPr indent="0" marL="0">
              <a:buNone/>
            </a:pPr>
            <a:r>
              <a:rPr lang="en-US" sz="1080" dirty="0">
                <a:solidFill>
                  <a:srgbClr val="334155"/>
                </a:solidFill>
              </a:rPr>
              <a:t>Find an exact figure or instruction from a datasheet</a:t>
            </a:r>
            <a:endParaRPr lang="en-US" sz="1080" dirty="0"/>
          </a:p>
        </p:txBody>
      </p:sp>
      <p:sp>
        <p:nvSpPr>
          <p:cNvPr id="14" name="Shape 12"/>
          <p:cNvSpPr/>
          <p:nvPr/>
        </p:nvSpPr>
        <p:spPr>
          <a:xfrm>
            <a:off x="9189720" y="1417320"/>
            <a:ext cx="2578608" cy="1234440"/>
          </a:xfrm>
          <a:prstGeom prst="roundRect">
            <a:avLst>
              <a:gd name="adj" fmla="val 5926"/>
            </a:avLst>
          </a:prstGeom>
          <a:solidFill>
            <a:srgbClr val="FEF3C7"/>
          </a:solidFill>
          <a:ln w="12700">
            <a:solidFill>
              <a:srgbClr val="F59E0B"/>
            </a:solidFill>
            <a:prstDash val="solid"/>
          </a:ln>
        </p:spPr>
      </p:sp>
      <p:sp>
        <p:nvSpPr>
          <p:cNvPr id="15" name="Text 13"/>
          <p:cNvSpPr/>
          <p:nvPr/>
        </p:nvSpPr>
        <p:spPr>
          <a:xfrm>
            <a:off x="9336024" y="1527048"/>
            <a:ext cx="2286000"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Calculate</a:t>
            </a:r>
            <a:endParaRPr lang="en-US" sz="1600" dirty="0"/>
          </a:p>
        </p:txBody>
      </p:sp>
      <p:sp>
        <p:nvSpPr>
          <p:cNvPr id="16" name="Text 14"/>
          <p:cNvSpPr/>
          <p:nvPr/>
        </p:nvSpPr>
        <p:spPr>
          <a:xfrm>
            <a:off x="9336024" y="1837944"/>
            <a:ext cx="2286000" cy="704088"/>
          </a:xfrm>
          <a:prstGeom prst="rect">
            <a:avLst/>
          </a:prstGeom>
          <a:noFill/>
          <a:ln/>
        </p:spPr>
        <p:txBody>
          <a:bodyPr wrap="square" lIns="127" tIns="127" rIns="127" bIns="127" rtlCol="0" anchor="t">
            <a:normAutofit/>
          </a:bodyPr>
          <a:lstStyle/>
          <a:p>
            <a:pPr indent="0" marL="0">
              <a:buNone/>
            </a:pPr>
            <a:r>
              <a:rPr lang="en-US" sz="1080" dirty="0">
                <a:solidFill>
                  <a:srgbClr val="334155"/>
                </a:solidFill>
              </a:rPr>
              <a:t>Estimate quantity only when the published basis is clear</a:t>
            </a:r>
            <a:endParaRPr lang="en-US" sz="1080" dirty="0"/>
          </a:p>
        </p:txBody>
      </p:sp>
      <p:sp>
        <p:nvSpPr>
          <p:cNvPr id="17" name="Shape 15"/>
          <p:cNvSpPr/>
          <p:nvPr/>
        </p:nvSpPr>
        <p:spPr>
          <a:xfrm>
            <a:off x="548640" y="3291840"/>
            <a:ext cx="2578608" cy="1234440"/>
          </a:xfrm>
          <a:prstGeom prst="roundRect">
            <a:avLst>
              <a:gd name="adj" fmla="val 5926"/>
            </a:avLst>
          </a:prstGeom>
          <a:solidFill>
            <a:srgbClr val="EDE9FE"/>
          </a:solidFill>
          <a:ln w="12700">
            <a:solidFill>
              <a:srgbClr val="6B4E9E"/>
            </a:solidFill>
            <a:prstDash val="solid"/>
          </a:ln>
        </p:spPr>
      </p:sp>
      <p:sp>
        <p:nvSpPr>
          <p:cNvPr id="18" name="Text 16"/>
          <p:cNvSpPr/>
          <p:nvPr/>
        </p:nvSpPr>
        <p:spPr>
          <a:xfrm>
            <a:off x="694944" y="3401568"/>
            <a:ext cx="2286000"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Understand</a:t>
            </a:r>
            <a:endParaRPr lang="en-US" sz="1600" dirty="0"/>
          </a:p>
        </p:txBody>
      </p:sp>
      <p:sp>
        <p:nvSpPr>
          <p:cNvPr id="19" name="Text 17"/>
          <p:cNvSpPr/>
          <p:nvPr/>
        </p:nvSpPr>
        <p:spPr>
          <a:xfrm>
            <a:off x="694944" y="3712464"/>
            <a:ext cx="2286000" cy="704088"/>
          </a:xfrm>
          <a:prstGeom prst="rect">
            <a:avLst/>
          </a:prstGeom>
          <a:noFill/>
          <a:ln/>
        </p:spPr>
        <p:txBody>
          <a:bodyPr wrap="square" lIns="127" tIns="127" rIns="127" bIns="127" rtlCol="0" anchor="t">
            <a:normAutofit/>
          </a:bodyPr>
          <a:lstStyle/>
          <a:p>
            <a:pPr indent="0" marL="0">
              <a:buNone/>
            </a:pPr>
            <a:r>
              <a:rPr lang="en-US" sz="1080" dirty="0">
                <a:solidFill>
                  <a:srgbClr val="334155"/>
                </a:solidFill>
              </a:rPr>
              <a:t>Explain why a preparation or limitation matters</a:t>
            </a:r>
            <a:endParaRPr lang="en-US" sz="1080" dirty="0"/>
          </a:p>
        </p:txBody>
      </p:sp>
      <p:sp>
        <p:nvSpPr>
          <p:cNvPr id="20" name="Shape 18"/>
          <p:cNvSpPr/>
          <p:nvPr/>
        </p:nvSpPr>
        <p:spPr>
          <a:xfrm>
            <a:off x="3429000" y="3291840"/>
            <a:ext cx="2578608" cy="1234440"/>
          </a:xfrm>
          <a:prstGeom prst="roundRect">
            <a:avLst>
              <a:gd name="adj" fmla="val 5926"/>
            </a:avLst>
          </a:prstGeom>
          <a:solidFill>
            <a:srgbClr val="FEE2E2"/>
          </a:solidFill>
          <a:ln w="12700">
            <a:solidFill>
              <a:srgbClr val="DC2626"/>
            </a:solidFill>
            <a:prstDash val="solid"/>
          </a:ln>
        </p:spPr>
      </p:sp>
      <p:sp>
        <p:nvSpPr>
          <p:cNvPr id="21" name="Text 19"/>
          <p:cNvSpPr/>
          <p:nvPr/>
        </p:nvSpPr>
        <p:spPr>
          <a:xfrm>
            <a:off x="3575304" y="3401568"/>
            <a:ext cx="2286000"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Troubleshoot</a:t>
            </a:r>
            <a:endParaRPr lang="en-US" sz="1600" dirty="0"/>
          </a:p>
        </p:txBody>
      </p:sp>
      <p:sp>
        <p:nvSpPr>
          <p:cNvPr id="22" name="Text 20"/>
          <p:cNvSpPr/>
          <p:nvPr/>
        </p:nvSpPr>
        <p:spPr>
          <a:xfrm>
            <a:off x="3575304" y="3712464"/>
            <a:ext cx="2286000" cy="704088"/>
          </a:xfrm>
          <a:prstGeom prst="rect">
            <a:avLst/>
          </a:prstGeom>
          <a:noFill/>
          <a:ln/>
        </p:spPr>
        <p:txBody>
          <a:bodyPr wrap="square" lIns="127" tIns="127" rIns="127" bIns="127" rtlCol="0" anchor="t">
            <a:normAutofit/>
          </a:bodyPr>
          <a:lstStyle/>
          <a:p>
            <a:pPr indent="0" marL="0">
              <a:buNone/>
            </a:pPr>
            <a:r>
              <a:rPr lang="en-US" sz="1080" dirty="0">
                <a:solidFill>
                  <a:srgbClr val="334155"/>
                </a:solidFill>
              </a:rPr>
              <a:t>Interpret symptoms without unsafe diagnosis</a:t>
            </a:r>
            <a:endParaRPr lang="en-US" sz="1080" dirty="0"/>
          </a:p>
        </p:txBody>
      </p:sp>
      <p:sp>
        <p:nvSpPr>
          <p:cNvPr id="23" name="Shape 21"/>
          <p:cNvSpPr/>
          <p:nvPr/>
        </p:nvSpPr>
        <p:spPr>
          <a:xfrm>
            <a:off x="6309360" y="3291840"/>
            <a:ext cx="2578608" cy="1234440"/>
          </a:xfrm>
          <a:prstGeom prst="roundRect">
            <a:avLst>
              <a:gd name="adj" fmla="val 5926"/>
            </a:avLst>
          </a:prstGeom>
          <a:solidFill>
            <a:srgbClr val="F1F5F9"/>
          </a:solidFill>
          <a:ln w="12700">
            <a:solidFill>
              <a:srgbClr val="64748B"/>
            </a:solidFill>
            <a:prstDash val="solid"/>
          </a:ln>
        </p:spPr>
      </p:sp>
      <p:sp>
        <p:nvSpPr>
          <p:cNvPr id="24" name="Text 22"/>
          <p:cNvSpPr/>
          <p:nvPr/>
        </p:nvSpPr>
        <p:spPr>
          <a:xfrm>
            <a:off x="6455664" y="3401568"/>
            <a:ext cx="2286000"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Find</a:t>
            </a:r>
            <a:endParaRPr lang="en-US" sz="1600" dirty="0"/>
          </a:p>
        </p:txBody>
      </p:sp>
      <p:sp>
        <p:nvSpPr>
          <p:cNvPr id="25" name="Text 23"/>
          <p:cNvSpPr/>
          <p:nvPr/>
        </p:nvSpPr>
        <p:spPr>
          <a:xfrm>
            <a:off x="6455664" y="3712464"/>
            <a:ext cx="2286000" cy="704088"/>
          </a:xfrm>
          <a:prstGeom prst="rect">
            <a:avLst/>
          </a:prstGeom>
          <a:noFill/>
          <a:ln/>
        </p:spPr>
        <p:txBody>
          <a:bodyPr wrap="square" lIns="127" tIns="127" rIns="127" bIns="127" rtlCol="0" anchor="t">
            <a:normAutofit/>
          </a:bodyPr>
          <a:lstStyle/>
          <a:p>
            <a:pPr indent="0" marL="0">
              <a:buNone/>
            </a:pPr>
            <a:r>
              <a:rPr lang="en-US" sz="1080" dirty="0">
                <a:solidFill>
                  <a:srgbClr val="334155"/>
                </a:solidFill>
              </a:rPr>
              <a:t>Locate datasheets, documents, stockists or contact routes</a:t>
            </a:r>
            <a:endParaRPr lang="en-US" sz="1080" dirty="0"/>
          </a:p>
        </p:txBody>
      </p:sp>
      <p:sp>
        <p:nvSpPr>
          <p:cNvPr id="26" name="Shape 24"/>
          <p:cNvSpPr/>
          <p:nvPr/>
        </p:nvSpPr>
        <p:spPr>
          <a:xfrm>
            <a:off x="9189720" y="3291840"/>
            <a:ext cx="2578608" cy="1234440"/>
          </a:xfrm>
          <a:prstGeom prst="roundRect">
            <a:avLst>
              <a:gd name="adj" fmla="val 5926"/>
            </a:avLst>
          </a:prstGeom>
          <a:solidFill>
            <a:srgbClr val="FFE4E6"/>
          </a:solidFill>
          <a:ln w="12700">
            <a:solidFill>
              <a:srgbClr val="BE123C"/>
            </a:solidFill>
            <a:prstDash val="solid"/>
          </a:ln>
        </p:spPr>
      </p:sp>
      <p:sp>
        <p:nvSpPr>
          <p:cNvPr id="27" name="Text 25"/>
          <p:cNvSpPr/>
          <p:nvPr/>
        </p:nvSpPr>
        <p:spPr>
          <a:xfrm>
            <a:off x="9336024" y="3401568"/>
            <a:ext cx="2286000"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Escalate</a:t>
            </a:r>
            <a:endParaRPr lang="en-US" sz="1600" dirty="0"/>
          </a:p>
        </p:txBody>
      </p:sp>
      <p:sp>
        <p:nvSpPr>
          <p:cNvPr id="28" name="Text 26"/>
          <p:cNvSpPr/>
          <p:nvPr/>
        </p:nvSpPr>
        <p:spPr>
          <a:xfrm>
            <a:off x="9336024" y="3712464"/>
            <a:ext cx="2286000" cy="704088"/>
          </a:xfrm>
          <a:prstGeom prst="rect">
            <a:avLst/>
          </a:prstGeom>
          <a:noFill/>
          <a:ln/>
        </p:spPr>
        <p:txBody>
          <a:bodyPr wrap="square" lIns="127" tIns="127" rIns="127" bIns="127" rtlCol="0" anchor="t">
            <a:normAutofit/>
          </a:bodyPr>
          <a:lstStyle/>
          <a:p>
            <a:pPr indent="0" marL="0">
              <a:buNone/>
            </a:pPr>
            <a:r>
              <a:rPr lang="en-US" sz="1080" dirty="0">
                <a:solidFill>
                  <a:srgbClr val="334155"/>
                </a:solidFill>
              </a:rPr>
              <a:t>Know when evidence is insufficient and hand off cleanly</a:t>
            </a:r>
            <a:endParaRPr lang="en-US" sz="1080" dirty="0"/>
          </a:p>
        </p:txBody>
      </p:sp>
      <p:sp>
        <p:nvSpPr>
          <p:cNvPr id="29" name="Shape 27"/>
          <p:cNvSpPr/>
          <p:nvPr/>
        </p:nvSpPr>
        <p:spPr>
          <a:xfrm>
            <a:off x="1005840" y="5504688"/>
            <a:ext cx="9966960" cy="658368"/>
          </a:xfrm>
          <a:prstGeom prst="roundRect">
            <a:avLst>
              <a:gd name="adj" fmla="val 11111"/>
            </a:avLst>
          </a:prstGeom>
          <a:solidFill>
            <a:srgbClr val="FFEDD5"/>
          </a:solidFill>
          <a:ln w="12700">
            <a:solidFill>
              <a:srgbClr val="F97316"/>
            </a:solidFill>
            <a:prstDash val="solid"/>
          </a:ln>
        </p:spPr>
      </p:sp>
      <p:sp>
        <p:nvSpPr>
          <p:cNvPr id="30" name="Text 28"/>
          <p:cNvSpPr/>
          <p:nvPr/>
        </p:nvSpPr>
        <p:spPr>
          <a:xfrm>
            <a:off x="1152144" y="5550408"/>
            <a:ext cx="9674352" cy="566928"/>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These jobs create different technical behaviours: extract, compose, ask back, refuse or hand off.</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Query archetypes: how jobs become real questions</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The architecture is driven by the shape of the questions users actually ask.</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640080" y="1261872"/>
            <a:ext cx="1371600" cy="384048"/>
          </a:xfrm>
          <a:prstGeom prst="roundRect">
            <a:avLst>
              <a:gd name="adj" fmla="val 19048"/>
            </a:avLst>
          </a:prstGeom>
          <a:solidFill>
            <a:srgbClr val="0B1F3A"/>
          </a:solidFill>
          <a:ln w="12700">
            <a:solidFill>
              <a:srgbClr val="0B1F3A"/>
            </a:solidFill>
            <a:prstDash val="solid"/>
          </a:ln>
        </p:spPr>
      </p:sp>
      <p:sp>
        <p:nvSpPr>
          <p:cNvPr id="6" name="Text 4"/>
          <p:cNvSpPr/>
          <p:nvPr/>
        </p:nvSpPr>
        <p:spPr>
          <a:xfrm>
            <a:off x="731520" y="1335024"/>
            <a:ext cx="1188720" cy="23774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JOB</a:t>
            </a:r>
            <a:endParaRPr lang="en-US" sz="1250" dirty="0"/>
          </a:p>
        </p:txBody>
      </p:sp>
      <p:sp>
        <p:nvSpPr>
          <p:cNvPr id="7" name="Shape 5"/>
          <p:cNvSpPr/>
          <p:nvPr/>
        </p:nvSpPr>
        <p:spPr>
          <a:xfrm>
            <a:off x="2148840" y="1261872"/>
            <a:ext cx="5623560" cy="384048"/>
          </a:xfrm>
          <a:prstGeom prst="roundRect">
            <a:avLst>
              <a:gd name="adj" fmla="val 19048"/>
            </a:avLst>
          </a:prstGeom>
          <a:solidFill>
            <a:srgbClr val="0B1F3A"/>
          </a:solidFill>
          <a:ln w="12700">
            <a:solidFill>
              <a:srgbClr val="0B1F3A"/>
            </a:solidFill>
            <a:prstDash val="solid"/>
          </a:ln>
        </p:spPr>
      </p:sp>
      <p:sp>
        <p:nvSpPr>
          <p:cNvPr id="8" name="Text 6"/>
          <p:cNvSpPr/>
          <p:nvPr/>
        </p:nvSpPr>
        <p:spPr>
          <a:xfrm>
            <a:off x="2240280" y="1335024"/>
            <a:ext cx="5440680" cy="23774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REAL USER QUERY</a:t>
            </a:r>
            <a:endParaRPr lang="en-US" sz="1250" dirty="0"/>
          </a:p>
        </p:txBody>
      </p:sp>
      <p:sp>
        <p:nvSpPr>
          <p:cNvPr id="9" name="Shape 7"/>
          <p:cNvSpPr/>
          <p:nvPr/>
        </p:nvSpPr>
        <p:spPr>
          <a:xfrm>
            <a:off x="7909560" y="1261872"/>
            <a:ext cx="3886200" cy="384048"/>
          </a:xfrm>
          <a:prstGeom prst="roundRect">
            <a:avLst>
              <a:gd name="adj" fmla="val 19048"/>
            </a:avLst>
          </a:prstGeom>
          <a:solidFill>
            <a:srgbClr val="0B1F3A"/>
          </a:solidFill>
          <a:ln w="12700">
            <a:solidFill>
              <a:srgbClr val="0B1F3A"/>
            </a:solidFill>
            <a:prstDash val="solid"/>
          </a:ln>
        </p:spPr>
      </p:sp>
      <p:sp>
        <p:nvSpPr>
          <p:cNvPr id="10" name="Text 8"/>
          <p:cNvSpPr/>
          <p:nvPr/>
        </p:nvSpPr>
        <p:spPr>
          <a:xfrm>
            <a:off x="8001000" y="1335024"/>
            <a:ext cx="3703320" cy="23774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WHY IT MATTERS</a:t>
            </a:r>
            <a:endParaRPr lang="en-US" sz="1250" dirty="0"/>
          </a:p>
        </p:txBody>
      </p:sp>
      <p:sp>
        <p:nvSpPr>
          <p:cNvPr id="11" name="Shape 9"/>
          <p:cNvSpPr/>
          <p:nvPr/>
        </p:nvSpPr>
        <p:spPr>
          <a:xfrm>
            <a:off x="640080" y="2304288"/>
            <a:ext cx="10927080" cy="0"/>
          </a:xfrm>
          <a:prstGeom prst="line">
            <a:avLst/>
          </a:prstGeom>
          <a:noFill/>
          <a:ln w="6350">
            <a:solidFill>
              <a:srgbClr val="E5E7EB"/>
            </a:solidFill>
            <a:prstDash val="solid"/>
          </a:ln>
        </p:spPr>
      </p:sp>
      <p:sp>
        <p:nvSpPr>
          <p:cNvPr id="12" name="Text 10"/>
          <p:cNvSpPr/>
          <p:nvPr/>
        </p:nvSpPr>
        <p:spPr>
          <a:xfrm>
            <a:off x="713232" y="1892808"/>
            <a:ext cx="1225296" cy="292608"/>
          </a:xfrm>
          <a:prstGeom prst="rect">
            <a:avLst/>
          </a:prstGeom>
          <a:noFill/>
          <a:ln/>
        </p:spPr>
        <p:txBody>
          <a:bodyPr wrap="square" lIns="508" tIns="508" rIns="508" bIns="508" rtlCol="0" anchor="ctr">
            <a:normAutofit/>
          </a:bodyPr>
          <a:lstStyle/>
          <a:p>
            <a:pPr algn="ctr" indent="0" marL="0">
              <a:buNone/>
            </a:pPr>
            <a:r>
              <a:rPr lang="en-US" sz="1060" b="1" dirty="0">
                <a:solidFill>
                  <a:srgbClr val="1F4E79"/>
                </a:solidFill>
              </a:rPr>
              <a:t>SELECT</a:t>
            </a:r>
            <a:endParaRPr lang="en-US" sz="1060" dirty="0"/>
          </a:p>
        </p:txBody>
      </p:sp>
      <p:sp>
        <p:nvSpPr>
          <p:cNvPr id="13" name="Text 11"/>
          <p:cNvSpPr/>
          <p:nvPr/>
        </p:nvSpPr>
        <p:spPr>
          <a:xfrm>
            <a:off x="2267712" y="1874520"/>
            <a:ext cx="5394960" cy="310896"/>
          </a:xfrm>
          <a:prstGeom prst="rect">
            <a:avLst/>
          </a:prstGeom>
          <a:noFill/>
          <a:ln/>
        </p:spPr>
        <p:txBody>
          <a:bodyPr wrap="square" lIns="508" tIns="508" rIns="508" bIns="508" rtlCol="0" anchor="ctr">
            <a:normAutofit/>
          </a:bodyPr>
          <a:lstStyle/>
          <a:p>
            <a:pPr indent="0" marL="0">
              <a:buNone/>
            </a:pPr>
            <a:r>
              <a:rPr lang="en-US" sz="1210" b="1" dirty="0">
                <a:solidFill>
                  <a:srgbClr val="0B1F3A"/>
                </a:solidFill>
              </a:rPr>
              <a:t>“What plaster should I use on an old brick wall?”</a:t>
            </a:r>
            <a:endParaRPr lang="en-US" sz="1210" dirty="0"/>
          </a:p>
        </p:txBody>
      </p:sp>
      <p:sp>
        <p:nvSpPr>
          <p:cNvPr id="14" name="Text 12"/>
          <p:cNvSpPr/>
          <p:nvPr/>
        </p:nvSpPr>
        <p:spPr>
          <a:xfrm>
            <a:off x="8019288" y="1883664"/>
            <a:ext cx="3703320" cy="310896"/>
          </a:xfrm>
          <a:prstGeom prst="rect">
            <a:avLst/>
          </a:prstGeom>
          <a:noFill/>
          <a:ln/>
        </p:spPr>
        <p:txBody>
          <a:bodyPr wrap="square" lIns="508" tIns="508" rIns="508" bIns="508" rtlCol="0" anchor="ctr">
            <a:normAutofit/>
          </a:bodyPr>
          <a:lstStyle/>
          <a:p>
            <a:pPr indent="0" marL="0">
              <a:buNone/>
            </a:pPr>
            <a:r>
              <a:rPr lang="en-US" sz="1120" dirty="0">
                <a:solidFill>
                  <a:srgbClr val="334155"/>
                </a:solidFill>
              </a:rPr>
              <a:t>needs context before recommending</a:t>
            </a:r>
            <a:endParaRPr lang="en-US" sz="1120" dirty="0"/>
          </a:p>
        </p:txBody>
      </p:sp>
      <p:sp>
        <p:nvSpPr>
          <p:cNvPr id="15" name="Shape 13"/>
          <p:cNvSpPr/>
          <p:nvPr/>
        </p:nvSpPr>
        <p:spPr>
          <a:xfrm>
            <a:off x="640080" y="2990088"/>
            <a:ext cx="10927080" cy="0"/>
          </a:xfrm>
          <a:prstGeom prst="line">
            <a:avLst/>
          </a:prstGeom>
          <a:noFill/>
          <a:ln w="6350">
            <a:solidFill>
              <a:srgbClr val="E5E7EB"/>
            </a:solidFill>
            <a:prstDash val="solid"/>
          </a:ln>
        </p:spPr>
      </p:sp>
      <p:sp>
        <p:nvSpPr>
          <p:cNvPr id="16" name="Text 14"/>
          <p:cNvSpPr/>
          <p:nvPr/>
        </p:nvSpPr>
        <p:spPr>
          <a:xfrm>
            <a:off x="713232" y="2578608"/>
            <a:ext cx="1225296" cy="292608"/>
          </a:xfrm>
          <a:prstGeom prst="rect">
            <a:avLst/>
          </a:prstGeom>
          <a:noFill/>
          <a:ln/>
        </p:spPr>
        <p:txBody>
          <a:bodyPr wrap="square" lIns="508" tIns="508" rIns="508" bIns="508" rtlCol="0" anchor="ctr">
            <a:normAutofit/>
          </a:bodyPr>
          <a:lstStyle/>
          <a:p>
            <a:pPr algn="ctr" indent="0" marL="0">
              <a:buNone/>
            </a:pPr>
            <a:r>
              <a:rPr lang="en-US" sz="1060" b="1" dirty="0">
                <a:solidFill>
                  <a:srgbClr val="1F4E79"/>
                </a:solidFill>
              </a:rPr>
              <a:t>VERIFY</a:t>
            </a:r>
            <a:endParaRPr lang="en-US" sz="1060" dirty="0"/>
          </a:p>
        </p:txBody>
      </p:sp>
      <p:sp>
        <p:nvSpPr>
          <p:cNvPr id="17" name="Text 15"/>
          <p:cNvSpPr/>
          <p:nvPr/>
        </p:nvSpPr>
        <p:spPr>
          <a:xfrm>
            <a:off x="2267712" y="2560320"/>
            <a:ext cx="5394960" cy="310896"/>
          </a:xfrm>
          <a:prstGeom prst="rect">
            <a:avLst/>
          </a:prstGeom>
          <a:noFill/>
          <a:ln/>
        </p:spPr>
        <p:txBody>
          <a:bodyPr wrap="square" lIns="508" tIns="508" rIns="508" bIns="508" rtlCol="0" anchor="ctr">
            <a:normAutofit/>
          </a:bodyPr>
          <a:lstStyle/>
          <a:p>
            <a:pPr indent="0" marL="0">
              <a:buNone/>
            </a:pPr>
            <a:r>
              <a:rPr lang="en-US" sz="1210" b="1" dirty="0">
                <a:solidFill>
                  <a:srgbClr val="0B1F3A"/>
                </a:solidFill>
              </a:rPr>
              <a:t>“Can I use Product X on MgO board?”</a:t>
            </a:r>
            <a:endParaRPr lang="en-US" sz="1210" dirty="0"/>
          </a:p>
        </p:txBody>
      </p:sp>
      <p:sp>
        <p:nvSpPr>
          <p:cNvPr id="18" name="Text 16"/>
          <p:cNvSpPr/>
          <p:nvPr/>
        </p:nvSpPr>
        <p:spPr>
          <a:xfrm>
            <a:off x="8019288" y="2569464"/>
            <a:ext cx="3703320" cy="310896"/>
          </a:xfrm>
          <a:prstGeom prst="rect">
            <a:avLst/>
          </a:prstGeom>
          <a:noFill/>
          <a:ln/>
        </p:spPr>
        <p:txBody>
          <a:bodyPr wrap="square" lIns="508" tIns="508" rIns="508" bIns="508" rtlCol="0" anchor="ctr">
            <a:normAutofit/>
          </a:bodyPr>
          <a:lstStyle/>
          <a:p>
            <a:pPr indent="0" marL="0">
              <a:buNone/>
            </a:pPr>
            <a:r>
              <a:rPr lang="en-US" sz="1120" dirty="0">
                <a:solidFill>
                  <a:srgbClr val="334155"/>
                </a:solidFill>
              </a:rPr>
              <a:t>needs exact compatibility evidence</a:t>
            </a:r>
            <a:endParaRPr lang="en-US" sz="1120" dirty="0"/>
          </a:p>
        </p:txBody>
      </p:sp>
      <p:sp>
        <p:nvSpPr>
          <p:cNvPr id="19" name="Shape 17"/>
          <p:cNvSpPr/>
          <p:nvPr/>
        </p:nvSpPr>
        <p:spPr>
          <a:xfrm>
            <a:off x="640080" y="3675888"/>
            <a:ext cx="10927080" cy="0"/>
          </a:xfrm>
          <a:prstGeom prst="line">
            <a:avLst/>
          </a:prstGeom>
          <a:noFill/>
          <a:ln w="6350">
            <a:solidFill>
              <a:srgbClr val="E5E7EB"/>
            </a:solidFill>
            <a:prstDash val="solid"/>
          </a:ln>
        </p:spPr>
      </p:sp>
      <p:sp>
        <p:nvSpPr>
          <p:cNvPr id="20" name="Text 18"/>
          <p:cNvSpPr/>
          <p:nvPr/>
        </p:nvSpPr>
        <p:spPr>
          <a:xfrm>
            <a:off x="713232" y="3264408"/>
            <a:ext cx="1225296" cy="292608"/>
          </a:xfrm>
          <a:prstGeom prst="rect">
            <a:avLst/>
          </a:prstGeom>
          <a:noFill/>
          <a:ln/>
        </p:spPr>
        <p:txBody>
          <a:bodyPr wrap="square" lIns="508" tIns="508" rIns="508" bIns="508" rtlCol="0" anchor="ctr">
            <a:normAutofit/>
          </a:bodyPr>
          <a:lstStyle/>
          <a:p>
            <a:pPr algn="ctr" indent="0" marL="0">
              <a:buNone/>
            </a:pPr>
            <a:r>
              <a:rPr lang="en-US" sz="1060" b="1" dirty="0">
                <a:solidFill>
                  <a:srgbClr val="1F4E79"/>
                </a:solidFill>
              </a:rPr>
              <a:t>LOOK UP</a:t>
            </a:r>
            <a:endParaRPr lang="en-US" sz="1060" dirty="0"/>
          </a:p>
        </p:txBody>
      </p:sp>
      <p:sp>
        <p:nvSpPr>
          <p:cNvPr id="21" name="Text 19"/>
          <p:cNvSpPr/>
          <p:nvPr/>
        </p:nvSpPr>
        <p:spPr>
          <a:xfrm>
            <a:off x="2267712" y="3246120"/>
            <a:ext cx="5394960" cy="310896"/>
          </a:xfrm>
          <a:prstGeom prst="rect">
            <a:avLst/>
          </a:prstGeom>
          <a:noFill/>
          <a:ln/>
        </p:spPr>
        <p:txBody>
          <a:bodyPr wrap="square" lIns="508" tIns="508" rIns="508" bIns="508" rtlCol="0" anchor="ctr">
            <a:normAutofit/>
          </a:bodyPr>
          <a:lstStyle/>
          <a:p>
            <a:pPr indent="0" marL="0">
              <a:buNone/>
            </a:pPr>
            <a:r>
              <a:rPr lang="en-US" sz="1210" b="1" dirty="0">
                <a:solidFill>
                  <a:srgbClr val="0B1F3A"/>
                </a:solidFill>
              </a:rPr>
              <a:t>“How much water per 25 kg sack?”</a:t>
            </a:r>
            <a:endParaRPr lang="en-US" sz="1210" dirty="0"/>
          </a:p>
        </p:txBody>
      </p:sp>
      <p:sp>
        <p:nvSpPr>
          <p:cNvPr id="22" name="Text 20"/>
          <p:cNvSpPr/>
          <p:nvPr/>
        </p:nvSpPr>
        <p:spPr>
          <a:xfrm>
            <a:off x="8019288" y="3255264"/>
            <a:ext cx="3703320" cy="310896"/>
          </a:xfrm>
          <a:prstGeom prst="rect">
            <a:avLst/>
          </a:prstGeom>
          <a:noFill/>
          <a:ln/>
        </p:spPr>
        <p:txBody>
          <a:bodyPr wrap="square" lIns="508" tIns="508" rIns="508" bIns="508" rtlCol="0" anchor="ctr">
            <a:normAutofit/>
          </a:bodyPr>
          <a:lstStyle/>
          <a:p>
            <a:pPr indent="0" marL="0">
              <a:buNone/>
            </a:pPr>
            <a:r>
              <a:rPr lang="en-US" sz="1120" dirty="0">
                <a:solidFill>
                  <a:srgbClr val="334155"/>
                </a:solidFill>
              </a:rPr>
              <a:t>needs verbatim datasheet extraction</a:t>
            </a:r>
            <a:endParaRPr lang="en-US" sz="1120" dirty="0"/>
          </a:p>
        </p:txBody>
      </p:sp>
      <p:sp>
        <p:nvSpPr>
          <p:cNvPr id="23" name="Shape 21"/>
          <p:cNvSpPr/>
          <p:nvPr/>
        </p:nvSpPr>
        <p:spPr>
          <a:xfrm>
            <a:off x="640080" y="4361688"/>
            <a:ext cx="10927080" cy="0"/>
          </a:xfrm>
          <a:prstGeom prst="line">
            <a:avLst/>
          </a:prstGeom>
          <a:noFill/>
          <a:ln w="6350">
            <a:solidFill>
              <a:srgbClr val="E5E7EB"/>
            </a:solidFill>
            <a:prstDash val="solid"/>
          </a:ln>
        </p:spPr>
      </p:sp>
      <p:sp>
        <p:nvSpPr>
          <p:cNvPr id="24" name="Text 22"/>
          <p:cNvSpPr/>
          <p:nvPr/>
        </p:nvSpPr>
        <p:spPr>
          <a:xfrm>
            <a:off x="713232" y="3950208"/>
            <a:ext cx="1225296" cy="292608"/>
          </a:xfrm>
          <a:prstGeom prst="rect">
            <a:avLst/>
          </a:prstGeom>
          <a:noFill/>
          <a:ln/>
        </p:spPr>
        <p:txBody>
          <a:bodyPr wrap="square" lIns="508" tIns="508" rIns="508" bIns="508" rtlCol="0" anchor="ctr">
            <a:normAutofit/>
          </a:bodyPr>
          <a:lstStyle/>
          <a:p>
            <a:pPr algn="ctr" indent="0" marL="0">
              <a:buNone/>
            </a:pPr>
            <a:r>
              <a:rPr lang="en-US" sz="1060" b="1" dirty="0">
                <a:solidFill>
                  <a:srgbClr val="1F4E79"/>
                </a:solidFill>
              </a:rPr>
              <a:t>CALCULATE</a:t>
            </a:r>
            <a:endParaRPr lang="en-US" sz="1060" dirty="0"/>
          </a:p>
        </p:txBody>
      </p:sp>
      <p:sp>
        <p:nvSpPr>
          <p:cNvPr id="25" name="Text 23"/>
          <p:cNvSpPr/>
          <p:nvPr/>
        </p:nvSpPr>
        <p:spPr>
          <a:xfrm>
            <a:off x="2267712" y="3931920"/>
            <a:ext cx="5394960" cy="310896"/>
          </a:xfrm>
          <a:prstGeom prst="rect">
            <a:avLst/>
          </a:prstGeom>
          <a:noFill/>
          <a:ln/>
        </p:spPr>
        <p:txBody>
          <a:bodyPr wrap="square" lIns="508" tIns="508" rIns="508" bIns="508" rtlCol="0" anchor="ctr">
            <a:normAutofit/>
          </a:bodyPr>
          <a:lstStyle/>
          <a:p>
            <a:pPr indent="0" marL="0">
              <a:buNone/>
            </a:pPr>
            <a:r>
              <a:rPr lang="en-US" sz="1210" b="1" dirty="0">
                <a:solidFill>
                  <a:srgbClr val="0B1F3A"/>
                </a:solidFill>
              </a:rPr>
              <a:t>“How many bags for 40 m²?”</a:t>
            </a:r>
            <a:endParaRPr lang="en-US" sz="1210" dirty="0"/>
          </a:p>
        </p:txBody>
      </p:sp>
      <p:sp>
        <p:nvSpPr>
          <p:cNvPr id="26" name="Text 24"/>
          <p:cNvSpPr/>
          <p:nvPr/>
        </p:nvSpPr>
        <p:spPr>
          <a:xfrm>
            <a:off x="8019288" y="3941064"/>
            <a:ext cx="3703320" cy="310896"/>
          </a:xfrm>
          <a:prstGeom prst="rect">
            <a:avLst/>
          </a:prstGeom>
          <a:noFill/>
          <a:ln/>
        </p:spPr>
        <p:txBody>
          <a:bodyPr wrap="square" lIns="508" tIns="508" rIns="508" bIns="508" rtlCol="0" anchor="ctr">
            <a:normAutofit/>
          </a:bodyPr>
          <a:lstStyle/>
          <a:p>
            <a:pPr indent="0" marL="0">
              <a:buNone/>
            </a:pPr>
            <a:r>
              <a:rPr lang="en-US" sz="1120" dirty="0">
                <a:solidFill>
                  <a:srgbClr val="334155"/>
                </a:solidFill>
              </a:rPr>
              <a:t>needs published basis; no hidden arithmetic assumptions</a:t>
            </a:r>
            <a:endParaRPr lang="en-US" sz="1120" dirty="0"/>
          </a:p>
        </p:txBody>
      </p:sp>
      <p:sp>
        <p:nvSpPr>
          <p:cNvPr id="27" name="Shape 25"/>
          <p:cNvSpPr/>
          <p:nvPr/>
        </p:nvSpPr>
        <p:spPr>
          <a:xfrm>
            <a:off x="640080" y="5047488"/>
            <a:ext cx="10927080" cy="0"/>
          </a:xfrm>
          <a:prstGeom prst="line">
            <a:avLst/>
          </a:prstGeom>
          <a:noFill/>
          <a:ln w="6350">
            <a:solidFill>
              <a:srgbClr val="E5E7EB"/>
            </a:solidFill>
            <a:prstDash val="solid"/>
          </a:ln>
        </p:spPr>
      </p:sp>
      <p:sp>
        <p:nvSpPr>
          <p:cNvPr id="28" name="Text 26"/>
          <p:cNvSpPr/>
          <p:nvPr/>
        </p:nvSpPr>
        <p:spPr>
          <a:xfrm>
            <a:off x="713232" y="4636008"/>
            <a:ext cx="1225296" cy="292608"/>
          </a:xfrm>
          <a:prstGeom prst="rect">
            <a:avLst/>
          </a:prstGeom>
          <a:noFill/>
          <a:ln/>
        </p:spPr>
        <p:txBody>
          <a:bodyPr wrap="square" lIns="508" tIns="508" rIns="508" bIns="508" rtlCol="0" anchor="ctr">
            <a:normAutofit/>
          </a:bodyPr>
          <a:lstStyle/>
          <a:p>
            <a:pPr algn="ctr" indent="0" marL="0">
              <a:buNone/>
            </a:pPr>
            <a:r>
              <a:rPr lang="en-US" sz="1060" b="1" dirty="0">
                <a:solidFill>
                  <a:srgbClr val="1F4E79"/>
                </a:solidFill>
              </a:rPr>
              <a:t>TROUBLESHOOT</a:t>
            </a:r>
            <a:endParaRPr lang="en-US" sz="1060" dirty="0"/>
          </a:p>
        </p:txBody>
      </p:sp>
      <p:sp>
        <p:nvSpPr>
          <p:cNvPr id="29" name="Text 27"/>
          <p:cNvSpPr/>
          <p:nvPr/>
        </p:nvSpPr>
        <p:spPr>
          <a:xfrm>
            <a:off x="2267712" y="4617720"/>
            <a:ext cx="5394960" cy="310896"/>
          </a:xfrm>
          <a:prstGeom prst="rect">
            <a:avLst/>
          </a:prstGeom>
          <a:noFill/>
          <a:ln/>
        </p:spPr>
        <p:txBody>
          <a:bodyPr wrap="square" lIns="508" tIns="508" rIns="508" bIns="508" rtlCol="0" anchor="ctr">
            <a:normAutofit/>
          </a:bodyPr>
          <a:lstStyle/>
          <a:p>
            <a:pPr indent="0" marL="0">
              <a:buNone/>
            </a:pPr>
            <a:r>
              <a:rPr lang="en-US" sz="1210" b="1" dirty="0">
                <a:solidFill>
                  <a:srgbClr val="0B1F3A"/>
                </a:solidFill>
              </a:rPr>
              <a:t>“Why is my render cracking?”</a:t>
            </a:r>
            <a:endParaRPr lang="en-US" sz="1210" dirty="0"/>
          </a:p>
        </p:txBody>
      </p:sp>
      <p:sp>
        <p:nvSpPr>
          <p:cNvPr id="30" name="Text 28"/>
          <p:cNvSpPr/>
          <p:nvPr/>
        </p:nvSpPr>
        <p:spPr>
          <a:xfrm>
            <a:off x="8019288" y="4626864"/>
            <a:ext cx="3703320" cy="310896"/>
          </a:xfrm>
          <a:prstGeom prst="rect">
            <a:avLst/>
          </a:prstGeom>
          <a:noFill/>
          <a:ln/>
        </p:spPr>
        <p:txBody>
          <a:bodyPr wrap="square" lIns="508" tIns="508" rIns="508" bIns="508" rtlCol="0" anchor="ctr">
            <a:normAutofit/>
          </a:bodyPr>
          <a:lstStyle/>
          <a:p>
            <a:pPr indent="0" marL="0">
              <a:buNone/>
            </a:pPr>
            <a:r>
              <a:rPr lang="en-US" sz="1120" dirty="0">
                <a:solidFill>
                  <a:srgbClr val="334155"/>
                </a:solidFill>
              </a:rPr>
              <a:t>needs published causes + human hand-off</a:t>
            </a:r>
            <a:endParaRPr lang="en-US" sz="1120" dirty="0"/>
          </a:p>
        </p:txBody>
      </p:sp>
      <p:sp>
        <p:nvSpPr>
          <p:cNvPr id="31" name="Shape 29"/>
          <p:cNvSpPr/>
          <p:nvPr/>
        </p:nvSpPr>
        <p:spPr>
          <a:xfrm>
            <a:off x="640080" y="5733288"/>
            <a:ext cx="10927080" cy="0"/>
          </a:xfrm>
          <a:prstGeom prst="line">
            <a:avLst/>
          </a:prstGeom>
          <a:noFill/>
          <a:ln w="6350">
            <a:solidFill>
              <a:srgbClr val="E5E7EB"/>
            </a:solidFill>
            <a:prstDash val="solid"/>
          </a:ln>
        </p:spPr>
      </p:sp>
      <p:sp>
        <p:nvSpPr>
          <p:cNvPr id="32" name="Text 30"/>
          <p:cNvSpPr/>
          <p:nvPr/>
        </p:nvSpPr>
        <p:spPr>
          <a:xfrm>
            <a:off x="713232" y="5321808"/>
            <a:ext cx="1225296" cy="292608"/>
          </a:xfrm>
          <a:prstGeom prst="rect">
            <a:avLst/>
          </a:prstGeom>
          <a:noFill/>
          <a:ln/>
        </p:spPr>
        <p:txBody>
          <a:bodyPr wrap="square" lIns="508" tIns="508" rIns="508" bIns="508" rtlCol="0" anchor="ctr">
            <a:normAutofit/>
          </a:bodyPr>
          <a:lstStyle/>
          <a:p>
            <a:pPr algn="ctr" indent="0" marL="0">
              <a:buNone/>
            </a:pPr>
            <a:r>
              <a:rPr lang="en-US" sz="1060" b="1" dirty="0">
                <a:solidFill>
                  <a:srgbClr val="1F4E79"/>
                </a:solidFill>
              </a:rPr>
              <a:t>FIND</a:t>
            </a:r>
            <a:endParaRPr lang="en-US" sz="1060" dirty="0"/>
          </a:p>
        </p:txBody>
      </p:sp>
      <p:sp>
        <p:nvSpPr>
          <p:cNvPr id="33" name="Text 31"/>
          <p:cNvSpPr/>
          <p:nvPr/>
        </p:nvSpPr>
        <p:spPr>
          <a:xfrm>
            <a:off x="2267712" y="5303520"/>
            <a:ext cx="5394960" cy="310896"/>
          </a:xfrm>
          <a:prstGeom prst="rect">
            <a:avLst/>
          </a:prstGeom>
          <a:noFill/>
          <a:ln/>
        </p:spPr>
        <p:txBody>
          <a:bodyPr wrap="square" lIns="508" tIns="508" rIns="508" bIns="508" rtlCol="0" anchor="ctr">
            <a:normAutofit/>
          </a:bodyPr>
          <a:lstStyle/>
          <a:p>
            <a:pPr indent="0" marL="0">
              <a:buNone/>
            </a:pPr>
            <a:r>
              <a:rPr lang="en-US" sz="1210" b="1" dirty="0">
                <a:solidFill>
                  <a:srgbClr val="0B1F3A"/>
                </a:solidFill>
              </a:rPr>
              <a:t>“Where is the datasheet / who sells this?”</a:t>
            </a:r>
            <a:endParaRPr lang="en-US" sz="1210" dirty="0"/>
          </a:p>
        </p:txBody>
      </p:sp>
      <p:sp>
        <p:nvSpPr>
          <p:cNvPr id="34" name="Text 32"/>
          <p:cNvSpPr/>
          <p:nvPr/>
        </p:nvSpPr>
        <p:spPr>
          <a:xfrm>
            <a:off x="8019288" y="5312664"/>
            <a:ext cx="3703320" cy="310896"/>
          </a:xfrm>
          <a:prstGeom prst="rect">
            <a:avLst/>
          </a:prstGeom>
          <a:noFill/>
          <a:ln/>
        </p:spPr>
        <p:txBody>
          <a:bodyPr wrap="square" lIns="508" tIns="508" rIns="508" bIns="508" rtlCol="0" anchor="ctr">
            <a:normAutofit/>
          </a:bodyPr>
          <a:lstStyle/>
          <a:p>
            <a:pPr indent="0" marL="0">
              <a:buNone/>
            </a:pPr>
            <a:r>
              <a:rPr lang="en-US" sz="1120" dirty="0">
                <a:solidFill>
                  <a:srgbClr val="334155"/>
                </a:solidFill>
              </a:rPr>
              <a:t>manifest/config route, not model guessing</a:t>
            </a:r>
            <a:endParaRPr lang="en-US" sz="1120" dirty="0"/>
          </a:p>
        </p:txBody>
      </p:sp>
      <p:sp>
        <p:nvSpPr>
          <p:cNvPr id="35" name="Shape 33"/>
          <p:cNvSpPr/>
          <p:nvPr/>
        </p:nvSpPr>
        <p:spPr>
          <a:xfrm>
            <a:off x="822960" y="5806440"/>
            <a:ext cx="10058400" cy="475488"/>
          </a:xfrm>
          <a:prstGeom prst="roundRect">
            <a:avLst>
              <a:gd name="adj" fmla="val 15385"/>
            </a:avLst>
          </a:prstGeom>
          <a:solidFill>
            <a:srgbClr val="DBEAFE"/>
          </a:solidFill>
          <a:ln w="12700">
            <a:solidFill>
              <a:srgbClr val="1F4E79"/>
            </a:solidFill>
            <a:prstDash val="solid"/>
          </a:ln>
        </p:spPr>
      </p:sp>
      <p:sp>
        <p:nvSpPr>
          <p:cNvPr id="36" name="Text 34"/>
          <p:cNvSpPr/>
          <p:nvPr/>
        </p:nvSpPr>
        <p:spPr>
          <a:xfrm>
            <a:off x="969264" y="5852160"/>
            <a:ext cx="9765792" cy="384048"/>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Once queries are classified, the system can choose the safest answer path instead of treating every question as “send to LLM”.</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Failure-mode analysis: what happens if AI gets it wrong?</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This is where the architecture stops being decorative and becomes necessary.</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685800" y="1325880"/>
            <a:ext cx="2377440" cy="384048"/>
          </a:xfrm>
          <a:prstGeom prst="roundRect">
            <a:avLst>
              <a:gd name="adj" fmla="val 19048"/>
            </a:avLst>
          </a:prstGeom>
          <a:solidFill>
            <a:srgbClr val="DC2626"/>
          </a:solidFill>
          <a:ln w="12700">
            <a:solidFill>
              <a:srgbClr val="DC2626"/>
            </a:solidFill>
            <a:prstDash val="solid"/>
          </a:ln>
        </p:spPr>
      </p:sp>
      <p:sp>
        <p:nvSpPr>
          <p:cNvPr id="6" name="Text 4"/>
          <p:cNvSpPr/>
          <p:nvPr/>
        </p:nvSpPr>
        <p:spPr>
          <a:xfrm>
            <a:off x="777240" y="1399032"/>
            <a:ext cx="2194560" cy="23774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FAILURE</a:t>
            </a:r>
            <a:endParaRPr lang="en-US" sz="1250" dirty="0"/>
          </a:p>
        </p:txBody>
      </p:sp>
      <p:sp>
        <p:nvSpPr>
          <p:cNvPr id="7" name="Shape 5"/>
          <p:cNvSpPr/>
          <p:nvPr/>
        </p:nvSpPr>
        <p:spPr>
          <a:xfrm>
            <a:off x="3200400" y="1325880"/>
            <a:ext cx="3931920" cy="384048"/>
          </a:xfrm>
          <a:prstGeom prst="roundRect">
            <a:avLst>
              <a:gd name="adj" fmla="val 19048"/>
            </a:avLst>
          </a:prstGeom>
          <a:solidFill>
            <a:srgbClr val="DC2626"/>
          </a:solidFill>
          <a:ln w="12700">
            <a:solidFill>
              <a:srgbClr val="DC2626"/>
            </a:solidFill>
            <a:prstDash val="solid"/>
          </a:ln>
        </p:spPr>
      </p:sp>
      <p:sp>
        <p:nvSpPr>
          <p:cNvPr id="8" name="Text 6"/>
          <p:cNvSpPr/>
          <p:nvPr/>
        </p:nvSpPr>
        <p:spPr>
          <a:xfrm>
            <a:off x="3291840" y="1399032"/>
            <a:ext cx="3749040" cy="23774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CONSEQUENCE</a:t>
            </a:r>
            <a:endParaRPr lang="en-US" sz="1250" dirty="0"/>
          </a:p>
        </p:txBody>
      </p:sp>
      <p:sp>
        <p:nvSpPr>
          <p:cNvPr id="9" name="Shape 7"/>
          <p:cNvSpPr/>
          <p:nvPr/>
        </p:nvSpPr>
        <p:spPr>
          <a:xfrm>
            <a:off x="7269480" y="1325880"/>
            <a:ext cx="4206240" cy="384048"/>
          </a:xfrm>
          <a:prstGeom prst="roundRect">
            <a:avLst>
              <a:gd name="adj" fmla="val 19048"/>
            </a:avLst>
          </a:prstGeom>
          <a:solidFill>
            <a:srgbClr val="DC2626"/>
          </a:solidFill>
          <a:ln w="12700">
            <a:solidFill>
              <a:srgbClr val="DC2626"/>
            </a:solidFill>
            <a:prstDash val="solid"/>
          </a:ln>
        </p:spPr>
      </p:sp>
      <p:sp>
        <p:nvSpPr>
          <p:cNvPr id="10" name="Text 8"/>
          <p:cNvSpPr/>
          <p:nvPr/>
        </p:nvSpPr>
        <p:spPr>
          <a:xfrm>
            <a:off x="7360920" y="1399032"/>
            <a:ext cx="4023360" cy="23774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DESIGN RESPONSE</a:t>
            </a:r>
            <a:endParaRPr lang="en-US" sz="1250" dirty="0"/>
          </a:p>
        </p:txBody>
      </p:sp>
      <p:sp>
        <p:nvSpPr>
          <p:cNvPr id="11" name="Shape 9"/>
          <p:cNvSpPr/>
          <p:nvPr/>
        </p:nvSpPr>
        <p:spPr>
          <a:xfrm>
            <a:off x="685800" y="1892808"/>
            <a:ext cx="10789920" cy="548640"/>
          </a:xfrm>
          <a:prstGeom prst="roundRect">
            <a:avLst>
              <a:gd name="adj" fmla="val 5833"/>
            </a:avLst>
          </a:prstGeom>
          <a:solidFill>
            <a:srgbClr val="FFFFFF"/>
          </a:solidFill>
          <a:ln w="6350">
            <a:solidFill>
              <a:srgbClr val="E5E7EB"/>
            </a:solidFill>
            <a:prstDash val="solid"/>
          </a:ln>
        </p:spPr>
      </p:sp>
      <p:sp>
        <p:nvSpPr>
          <p:cNvPr id="12" name="Text 10"/>
          <p:cNvSpPr/>
          <p:nvPr/>
        </p:nvSpPr>
        <p:spPr>
          <a:xfrm>
            <a:off x="795528" y="1975104"/>
            <a:ext cx="2103120" cy="310896"/>
          </a:xfrm>
          <a:prstGeom prst="rect">
            <a:avLst/>
          </a:prstGeom>
          <a:noFill/>
          <a:ln/>
        </p:spPr>
        <p:txBody>
          <a:bodyPr wrap="square" lIns="508" tIns="508" rIns="508" bIns="508" rtlCol="0" anchor="ctr">
            <a:normAutofit/>
          </a:bodyPr>
          <a:lstStyle/>
          <a:p>
            <a:pPr indent="0" marL="0">
              <a:buNone/>
            </a:pPr>
            <a:r>
              <a:rPr lang="en-US" sz="1230" b="1" dirty="0">
                <a:solidFill>
                  <a:srgbClr val="DC2626"/>
                </a:solidFill>
              </a:rPr>
              <a:t>Wrong product</a:t>
            </a:r>
            <a:endParaRPr lang="en-US" sz="1230" dirty="0"/>
          </a:p>
        </p:txBody>
      </p:sp>
      <p:sp>
        <p:nvSpPr>
          <p:cNvPr id="13" name="Text 11"/>
          <p:cNvSpPr/>
          <p:nvPr/>
        </p:nvSpPr>
        <p:spPr>
          <a:xfrm>
            <a:off x="3337560" y="1975104"/>
            <a:ext cx="3703320" cy="310896"/>
          </a:xfrm>
          <a:prstGeom prst="rect">
            <a:avLst/>
          </a:prstGeom>
          <a:noFill/>
          <a:ln/>
        </p:spPr>
        <p:txBody>
          <a:bodyPr wrap="square" lIns="508" tIns="508" rIns="508" bIns="508" rtlCol="0" anchor="ctr">
            <a:normAutofit/>
          </a:bodyPr>
          <a:lstStyle/>
          <a:p>
            <a:pPr indent="0" marL="0">
              <a:buNone/>
            </a:pPr>
            <a:r>
              <a:rPr lang="en-US" sz="1200" dirty="0">
                <a:solidFill>
                  <a:srgbClr val="334155"/>
                </a:solidFill>
              </a:rPr>
              <a:t>unsafe or unsuitable recommendation</a:t>
            </a:r>
            <a:endParaRPr lang="en-US" sz="1200" dirty="0"/>
          </a:p>
        </p:txBody>
      </p:sp>
      <p:sp>
        <p:nvSpPr>
          <p:cNvPr id="14" name="Text 12"/>
          <p:cNvSpPr/>
          <p:nvPr/>
        </p:nvSpPr>
        <p:spPr>
          <a:xfrm>
            <a:off x="7406640" y="1975104"/>
            <a:ext cx="3886200" cy="310896"/>
          </a:xfrm>
          <a:prstGeom prst="rect">
            <a:avLst/>
          </a:prstGeom>
          <a:noFill/>
          <a:ln/>
        </p:spPr>
        <p:txBody>
          <a:bodyPr wrap="square" lIns="508" tIns="508" rIns="508" bIns="508" rtlCol="0" anchor="ctr">
            <a:normAutofit/>
          </a:bodyPr>
          <a:lstStyle/>
          <a:p>
            <a:pPr indent="0" marL="0">
              <a:buNone/>
            </a:pPr>
            <a:r>
              <a:rPr lang="en-US" sz="1200" b="1" dirty="0">
                <a:solidFill>
                  <a:srgbClr val="2E7D32"/>
                </a:solidFill>
              </a:rPr>
              <a:t>slots + evidence gate + refusal</a:t>
            </a:r>
            <a:endParaRPr lang="en-US" sz="1200" dirty="0"/>
          </a:p>
        </p:txBody>
      </p:sp>
      <p:sp>
        <p:nvSpPr>
          <p:cNvPr id="15" name="Shape 13"/>
          <p:cNvSpPr/>
          <p:nvPr/>
        </p:nvSpPr>
        <p:spPr>
          <a:xfrm>
            <a:off x="685800" y="2569464"/>
            <a:ext cx="10789920" cy="548640"/>
          </a:xfrm>
          <a:prstGeom prst="roundRect">
            <a:avLst>
              <a:gd name="adj" fmla="val 5833"/>
            </a:avLst>
          </a:prstGeom>
          <a:solidFill>
            <a:srgbClr val="F1F5F9"/>
          </a:solidFill>
          <a:ln w="6350">
            <a:solidFill>
              <a:srgbClr val="E5E7EB"/>
            </a:solidFill>
            <a:prstDash val="solid"/>
          </a:ln>
        </p:spPr>
      </p:sp>
      <p:sp>
        <p:nvSpPr>
          <p:cNvPr id="16" name="Text 14"/>
          <p:cNvSpPr/>
          <p:nvPr/>
        </p:nvSpPr>
        <p:spPr>
          <a:xfrm>
            <a:off x="795528" y="2651760"/>
            <a:ext cx="2103120" cy="310896"/>
          </a:xfrm>
          <a:prstGeom prst="rect">
            <a:avLst/>
          </a:prstGeom>
          <a:noFill/>
          <a:ln/>
        </p:spPr>
        <p:txBody>
          <a:bodyPr wrap="square" lIns="508" tIns="508" rIns="508" bIns="508" rtlCol="0" anchor="ctr">
            <a:normAutofit/>
          </a:bodyPr>
          <a:lstStyle/>
          <a:p>
            <a:pPr indent="0" marL="0">
              <a:buNone/>
            </a:pPr>
            <a:r>
              <a:rPr lang="en-US" sz="1230" b="1" dirty="0">
                <a:solidFill>
                  <a:srgbClr val="DC2626"/>
                </a:solidFill>
              </a:rPr>
              <a:t>Paraphrased figure</a:t>
            </a:r>
            <a:endParaRPr lang="en-US" sz="1230" dirty="0"/>
          </a:p>
        </p:txBody>
      </p:sp>
      <p:sp>
        <p:nvSpPr>
          <p:cNvPr id="17" name="Text 15"/>
          <p:cNvSpPr/>
          <p:nvPr/>
        </p:nvSpPr>
        <p:spPr>
          <a:xfrm>
            <a:off x="3337560" y="2651760"/>
            <a:ext cx="3703320" cy="310896"/>
          </a:xfrm>
          <a:prstGeom prst="rect">
            <a:avLst/>
          </a:prstGeom>
          <a:noFill/>
          <a:ln/>
        </p:spPr>
        <p:txBody>
          <a:bodyPr wrap="square" lIns="508" tIns="508" rIns="508" bIns="508" rtlCol="0" anchor="ctr">
            <a:normAutofit/>
          </a:bodyPr>
          <a:lstStyle/>
          <a:p>
            <a:pPr indent="0" marL="0">
              <a:buNone/>
            </a:pPr>
            <a:r>
              <a:rPr lang="en-US" sz="1200" dirty="0">
                <a:solidFill>
                  <a:srgbClr val="334155"/>
                </a:solidFill>
              </a:rPr>
              <a:t>lost units, caveats or product association</a:t>
            </a:r>
            <a:endParaRPr lang="en-US" sz="1200" dirty="0"/>
          </a:p>
        </p:txBody>
      </p:sp>
      <p:sp>
        <p:nvSpPr>
          <p:cNvPr id="18" name="Text 16"/>
          <p:cNvSpPr/>
          <p:nvPr/>
        </p:nvSpPr>
        <p:spPr>
          <a:xfrm>
            <a:off x="7406640" y="2651760"/>
            <a:ext cx="3886200" cy="310896"/>
          </a:xfrm>
          <a:prstGeom prst="rect">
            <a:avLst/>
          </a:prstGeom>
          <a:noFill/>
          <a:ln/>
        </p:spPr>
        <p:txBody>
          <a:bodyPr wrap="square" lIns="508" tIns="508" rIns="508" bIns="508" rtlCol="0" anchor="ctr">
            <a:normAutofit/>
          </a:bodyPr>
          <a:lstStyle/>
          <a:p>
            <a:pPr indent="0" marL="0">
              <a:buNone/>
            </a:pPr>
            <a:r>
              <a:rPr lang="en-US" sz="1200" b="1" dirty="0">
                <a:solidFill>
                  <a:srgbClr val="2E7D32"/>
                </a:solidFill>
              </a:rPr>
              <a:t>extract by code + numeric checks</a:t>
            </a:r>
            <a:endParaRPr lang="en-US" sz="1200" dirty="0"/>
          </a:p>
        </p:txBody>
      </p:sp>
      <p:sp>
        <p:nvSpPr>
          <p:cNvPr id="19" name="Shape 17"/>
          <p:cNvSpPr/>
          <p:nvPr/>
        </p:nvSpPr>
        <p:spPr>
          <a:xfrm>
            <a:off x="685800" y="3246120"/>
            <a:ext cx="10789920" cy="548640"/>
          </a:xfrm>
          <a:prstGeom prst="roundRect">
            <a:avLst>
              <a:gd name="adj" fmla="val 5833"/>
            </a:avLst>
          </a:prstGeom>
          <a:solidFill>
            <a:srgbClr val="FFFFFF"/>
          </a:solidFill>
          <a:ln w="6350">
            <a:solidFill>
              <a:srgbClr val="E5E7EB"/>
            </a:solidFill>
            <a:prstDash val="solid"/>
          </a:ln>
        </p:spPr>
      </p:sp>
      <p:sp>
        <p:nvSpPr>
          <p:cNvPr id="20" name="Text 18"/>
          <p:cNvSpPr/>
          <p:nvPr/>
        </p:nvSpPr>
        <p:spPr>
          <a:xfrm>
            <a:off x="795528" y="3328416"/>
            <a:ext cx="2103120" cy="310896"/>
          </a:xfrm>
          <a:prstGeom prst="rect">
            <a:avLst/>
          </a:prstGeom>
          <a:noFill/>
          <a:ln/>
        </p:spPr>
        <p:txBody>
          <a:bodyPr wrap="square" lIns="508" tIns="508" rIns="508" bIns="508" rtlCol="0" anchor="ctr">
            <a:normAutofit/>
          </a:bodyPr>
          <a:lstStyle/>
          <a:p>
            <a:pPr indent="0" marL="0">
              <a:buNone/>
            </a:pPr>
            <a:r>
              <a:rPr lang="en-US" sz="1230" b="1" dirty="0">
                <a:solidFill>
                  <a:srgbClr val="DC2626"/>
                </a:solidFill>
              </a:rPr>
              <a:t>Stale datasheet</a:t>
            </a:r>
            <a:endParaRPr lang="en-US" sz="1230" dirty="0"/>
          </a:p>
        </p:txBody>
      </p:sp>
      <p:sp>
        <p:nvSpPr>
          <p:cNvPr id="21" name="Text 19"/>
          <p:cNvSpPr/>
          <p:nvPr/>
        </p:nvSpPr>
        <p:spPr>
          <a:xfrm>
            <a:off x="3337560" y="3328416"/>
            <a:ext cx="3703320" cy="310896"/>
          </a:xfrm>
          <a:prstGeom prst="rect">
            <a:avLst/>
          </a:prstGeom>
          <a:noFill/>
          <a:ln/>
        </p:spPr>
        <p:txBody>
          <a:bodyPr wrap="square" lIns="508" tIns="508" rIns="508" bIns="508" rtlCol="0" anchor="ctr">
            <a:normAutofit/>
          </a:bodyPr>
          <a:lstStyle/>
          <a:p>
            <a:pPr indent="0" marL="0">
              <a:buNone/>
            </a:pPr>
            <a:r>
              <a:rPr lang="en-US" sz="1200" dirty="0">
                <a:solidFill>
                  <a:srgbClr val="334155"/>
                </a:solidFill>
              </a:rPr>
              <a:t>old and new specs mixed</a:t>
            </a:r>
            <a:endParaRPr lang="en-US" sz="1200" dirty="0"/>
          </a:p>
        </p:txBody>
      </p:sp>
      <p:sp>
        <p:nvSpPr>
          <p:cNvPr id="22" name="Text 20"/>
          <p:cNvSpPr/>
          <p:nvPr/>
        </p:nvSpPr>
        <p:spPr>
          <a:xfrm>
            <a:off x="7406640" y="3328416"/>
            <a:ext cx="3886200" cy="310896"/>
          </a:xfrm>
          <a:prstGeom prst="rect">
            <a:avLst/>
          </a:prstGeom>
          <a:noFill/>
          <a:ln/>
        </p:spPr>
        <p:txBody>
          <a:bodyPr wrap="square" lIns="508" tIns="508" rIns="508" bIns="508" rtlCol="0" anchor="ctr">
            <a:normAutofit/>
          </a:bodyPr>
          <a:lstStyle/>
          <a:p>
            <a:pPr indent="0" marL="0">
              <a:buNone/>
            </a:pPr>
            <a:r>
              <a:rPr lang="en-US" sz="1200" b="1" dirty="0">
                <a:solidFill>
                  <a:srgbClr val="2E7D32"/>
                </a:solidFill>
              </a:rPr>
              <a:t>version ledger + one active version</a:t>
            </a:r>
            <a:endParaRPr lang="en-US" sz="1200" dirty="0"/>
          </a:p>
        </p:txBody>
      </p:sp>
      <p:sp>
        <p:nvSpPr>
          <p:cNvPr id="23" name="Shape 21"/>
          <p:cNvSpPr/>
          <p:nvPr/>
        </p:nvSpPr>
        <p:spPr>
          <a:xfrm>
            <a:off x="685800" y="3922776"/>
            <a:ext cx="10789920" cy="548640"/>
          </a:xfrm>
          <a:prstGeom prst="roundRect">
            <a:avLst>
              <a:gd name="adj" fmla="val 5833"/>
            </a:avLst>
          </a:prstGeom>
          <a:solidFill>
            <a:srgbClr val="F1F5F9"/>
          </a:solidFill>
          <a:ln w="6350">
            <a:solidFill>
              <a:srgbClr val="E5E7EB"/>
            </a:solidFill>
            <a:prstDash val="solid"/>
          </a:ln>
        </p:spPr>
      </p:sp>
      <p:sp>
        <p:nvSpPr>
          <p:cNvPr id="24" name="Text 22"/>
          <p:cNvSpPr/>
          <p:nvPr/>
        </p:nvSpPr>
        <p:spPr>
          <a:xfrm>
            <a:off x="795528" y="4005072"/>
            <a:ext cx="2103120" cy="310896"/>
          </a:xfrm>
          <a:prstGeom prst="rect">
            <a:avLst/>
          </a:prstGeom>
          <a:noFill/>
          <a:ln/>
        </p:spPr>
        <p:txBody>
          <a:bodyPr wrap="square" lIns="508" tIns="508" rIns="508" bIns="508" rtlCol="0" anchor="ctr">
            <a:normAutofit/>
          </a:bodyPr>
          <a:lstStyle/>
          <a:p>
            <a:pPr indent="0" marL="0">
              <a:buNone/>
            </a:pPr>
            <a:r>
              <a:rPr lang="en-US" sz="1230" b="1" dirty="0">
                <a:solidFill>
                  <a:srgbClr val="DC2626"/>
                </a:solidFill>
              </a:rPr>
              <a:t>Staff leakage</a:t>
            </a:r>
            <a:endParaRPr lang="en-US" sz="1230" dirty="0"/>
          </a:p>
        </p:txBody>
      </p:sp>
      <p:sp>
        <p:nvSpPr>
          <p:cNvPr id="25" name="Text 23"/>
          <p:cNvSpPr/>
          <p:nvPr/>
        </p:nvSpPr>
        <p:spPr>
          <a:xfrm>
            <a:off x="3337560" y="4005072"/>
            <a:ext cx="3703320" cy="310896"/>
          </a:xfrm>
          <a:prstGeom prst="rect">
            <a:avLst/>
          </a:prstGeom>
          <a:noFill/>
          <a:ln/>
        </p:spPr>
        <p:txBody>
          <a:bodyPr wrap="square" lIns="508" tIns="508" rIns="508" bIns="508" rtlCol="0" anchor="ctr">
            <a:normAutofit/>
          </a:bodyPr>
          <a:lstStyle/>
          <a:p>
            <a:pPr indent="0" marL="0">
              <a:buNone/>
            </a:pPr>
            <a:r>
              <a:rPr lang="en-US" sz="1200" dirty="0">
                <a:solidFill>
                  <a:srgbClr val="334155"/>
                </a:solidFill>
              </a:rPr>
              <a:t>internal guidance shown publicly</a:t>
            </a:r>
            <a:endParaRPr lang="en-US" sz="1200" dirty="0"/>
          </a:p>
        </p:txBody>
      </p:sp>
      <p:sp>
        <p:nvSpPr>
          <p:cNvPr id="26" name="Text 24"/>
          <p:cNvSpPr/>
          <p:nvPr/>
        </p:nvSpPr>
        <p:spPr>
          <a:xfrm>
            <a:off x="7406640" y="4005072"/>
            <a:ext cx="3886200" cy="310896"/>
          </a:xfrm>
          <a:prstGeom prst="rect">
            <a:avLst/>
          </a:prstGeom>
          <a:noFill/>
          <a:ln/>
        </p:spPr>
        <p:txBody>
          <a:bodyPr wrap="square" lIns="508" tIns="508" rIns="508" bIns="508" rtlCol="0" anchor="ctr">
            <a:normAutofit/>
          </a:bodyPr>
          <a:lstStyle/>
          <a:p>
            <a:pPr indent="0" marL="0">
              <a:buNone/>
            </a:pPr>
            <a:r>
              <a:rPr lang="en-US" sz="1200" b="1" dirty="0">
                <a:solidFill>
                  <a:srgbClr val="2E7D32"/>
                </a:solidFill>
              </a:rPr>
              <a:t>audience filter before retrieval</a:t>
            </a:r>
            <a:endParaRPr lang="en-US" sz="1200" dirty="0"/>
          </a:p>
        </p:txBody>
      </p:sp>
      <p:sp>
        <p:nvSpPr>
          <p:cNvPr id="27" name="Shape 25"/>
          <p:cNvSpPr/>
          <p:nvPr/>
        </p:nvSpPr>
        <p:spPr>
          <a:xfrm>
            <a:off x="685800" y="4599432"/>
            <a:ext cx="10789920" cy="548640"/>
          </a:xfrm>
          <a:prstGeom prst="roundRect">
            <a:avLst>
              <a:gd name="adj" fmla="val 5833"/>
            </a:avLst>
          </a:prstGeom>
          <a:solidFill>
            <a:srgbClr val="FFFFFF"/>
          </a:solidFill>
          <a:ln w="6350">
            <a:solidFill>
              <a:srgbClr val="E5E7EB"/>
            </a:solidFill>
            <a:prstDash val="solid"/>
          </a:ln>
        </p:spPr>
      </p:sp>
      <p:sp>
        <p:nvSpPr>
          <p:cNvPr id="28" name="Text 26"/>
          <p:cNvSpPr/>
          <p:nvPr/>
        </p:nvSpPr>
        <p:spPr>
          <a:xfrm>
            <a:off x="795528" y="4681728"/>
            <a:ext cx="2103120" cy="310896"/>
          </a:xfrm>
          <a:prstGeom prst="rect">
            <a:avLst/>
          </a:prstGeom>
          <a:noFill/>
          <a:ln/>
        </p:spPr>
        <p:txBody>
          <a:bodyPr wrap="square" lIns="508" tIns="508" rIns="508" bIns="508" rtlCol="0" anchor="ctr">
            <a:normAutofit/>
          </a:bodyPr>
          <a:lstStyle/>
          <a:p>
            <a:pPr indent="0" marL="0">
              <a:buNone/>
            </a:pPr>
            <a:r>
              <a:rPr lang="en-US" sz="1230" b="1" dirty="0">
                <a:solidFill>
                  <a:srgbClr val="DC2626"/>
                </a:solidFill>
              </a:rPr>
              <a:t>False diagnosis</a:t>
            </a:r>
            <a:endParaRPr lang="en-US" sz="1230" dirty="0"/>
          </a:p>
        </p:txBody>
      </p:sp>
      <p:sp>
        <p:nvSpPr>
          <p:cNvPr id="29" name="Text 27"/>
          <p:cNvSpPr/>
          <p:nvPr/>
        </p:nvSpPr>
        <p:spPr>
          <a:xfrm>
            <a:off x="3337560" y="4681728"/>
            <a:ext cx="3703320" cy="310896"/>
          </a:xfrm>
          <a:prstGeom prst="rect">
            <a:avLst/>
          </a:prstGeom>
          <a:noFill/>
          <a:ln/>
        </p:spPr>
        <p:txBody>
          <a:bodyPr wrap="square" lIns="508" tIns="508" rIns="508" bIns="508" rtlCol="0" anchor="ctr">
            <a:normAutofit/>
          </a:bodyPr>
          <a:lstStyle/>
          <a:p>
            <a:pPr indent="0" marL="0">
              <a:buNone/>
            </a:pPr>
            <a:r>
              <a:rPr lang="en-US" sz="1200" dirty="0">
                <a:solidFill>
                  <a:srgbClr val="334155"/>
                </a:solidFill>
              </a:rPr>
              <a:t>liability and bad remediation</a:t>
            </a:r>
            <a:endParaRPr lang="en-US" sz="1200" dirty="0"/>
          </a:p>
        </p:txBody>
      </p:sp>
      <p:sp>
        <p:nvSpPr>
          <p:cNvPr id="30" name="Text 28"/>
          <p:cNvSpPr/>
          <p:nvPr/>
        </p:nvSpPr>
        <p:spPr>
          <a:xfrm>
            <a:off x="7406640" y="4681728"/>
            <a:ext cx="3886200" cy="310896"/>
          </a:xfrm>
          <a:prstGeom prst="rect">
            <a:avLst/>
          </a:prstGeom>
          <a:noFill/>
          <a:ln/>
        </p:spPr>
        <p:txBody>
          <a:bodyPr wrap="square" lIns="508" tIns="508" rIns="508" bIns="508" rtlCol="0" anchor="ctr">
            <a:normAutofit/>
          </a:bodyPr>
          <a:lstStyle/>
          <a:p>
            <a:pPr indent="0" marL="0">
              <a:buNone/>
            </a:pPr>
            <a:r>
              <a:rPr lang="en-US" sz="1200" b="1" dirty="0">
                <a:solidFill>
                  <a:srgbClr val="2E7D32"/>
                </a:solidFill>
              </a:rPr>
              <a:t>published causes + human hand-off</a:t>
            </a:r>
            <a:endParaRPr lang="en-US" sz="1200" dirty="0"/>
          </a:p>
        </p:txBody>
      </p:sp>
      <p:sp>
        <p:nvSpPr>
          <p:cNvPr id="31" name="Shape 29"/>
          <p:cNvSpPr/>
          <p:nvPr/>
        </p:nvSpPr>
        <p:spPr>
          <a:xfrm>
            <a:off x="685800" y="5276088"/>
            <a:ext cx="10789920" cy="548640"/>
          </a:xfrm>
          <a:prstGeom prst="roundRect">
            <a:avLst>
              <a:gd name="adj" fmla="val 5833"/>
            </a:avLst>
          </a:prstGeom>
          <a:solidFill>
            <a:srgbClr val="F1F5F9"/>
          </a:solidFill>
          <a:ln w="6350">
            <a:solidFill>
              <a:srgbClr val="E5E7EB"/>
            </a:solidFill>
            <a:prstDash val="solid"/>
          </a:ln>
        </p:spPr>
      </p:sp>
      <p:sp>
        <p:nvSpPr>
          <p:cNvPr id="32" name="Text 30"/>
          <p:cNvSpPr/>
          <p:nvPr/>
        </p:nvSpPr>
        <p:spPr>
          <a:xfrm>
            <a:off x="795528" y="5358384"/>
            <a:ext cx="2103120" cy="310896"/>
          </a:xfrm>
          <a:prstGeom prst="rect">
            <a:avLst/>
          </a:prstGeom>
          <a:noFill/>
          <a:ln/>
        </p:spPr>
        <p:txBody>
          <a:bodyPr wrap="square" lIns="508" tIns="508" rIns="508" bIns="508" rtlCol="0" anchor="ctr">
            <a:normAutofit/>
          </a:bodyPr>
          <a:lstStyle/>
          <a:p>
            <a:pPr indent="0" marL="0">
              <a:buNone/>
            </a:pPr>
            <a:r>
              <a:rPr lang="en-US" sz="1230" b="1" dirty="0">
                <a:solidFill>
                  <a:srgbClr val="DC2626"/>
                </a:solidFill>
              </a:rPr>
              <a:t>Prompt injection</a:t>
            </a:r>
            <a:endParaRPr lang="en-US" sz="1230" dirty="0"/>
          </a:p>
        </p:txBody>
      </p:sp>
      <p:sp>
        <p:nvSpPr>
          <p:cNvPr id="33" name="Text 31"/>
          <p:cNvSpPr/>
          <p:nvPr/>
        </p:nvSpPr>
        <p:spPr>
          <a:xfrm>
            <a:off x="3337560" y="5358384"/>
            <a:ext cx="3703320" cy="310896"/>
          </a:xfrm>
          <a:prstGeom prst="rect">
            <a:avLst/>
          </a:prstGeom>
          <a:noFill/>
          <a:ln/>
        </p:spPr>
        <p:txBody>
          <a:bodyPr wrap="square" lIns="508" tIns="508" rIns="508" bIns="508" rtlCol="0" anchor="ctr">
            <a:normAutofit/>
          </a:bodyPr>
          <a:lstStyle/>
          <a:p>
            <a:pPr indent="0" marL="0">
              <a:buNone/>
            </a:pPr>
            <a:r>
              <a:rPr lang="en-US" sz="1200" dirty="0">
                <a:solidFill>
                  <a:srgbClr val="334155"/>
                </a:solidFill>
              </a:rPr>
              <a:t>indexed page/user text tries to override rules</a:t>
            </a:r>
            <a:endParaRPr lang="en-US" sz="1200" dirty="0"/>
          </a:p>
        </p:txBody>
      </p:sp>
      <p:sp>
        <p:nvSpPr>
          <p:cNvPr id="34" name="Text 32"/>
          <p:cNvSpPr/>
          <p:nvPr/>
        </p:nvSpPr>
        <p:spPr>
          <a:xfrm>
            <a:off x="7406640" y="5358384"/>
            <a:ext cx="3886200" cy="310896"/>
          </a:xfrm>
          <a:prstGeom prst="rect">
            <a:avLst/>
          </a:prstGeom>
          <a:noFill/>
          <a:ln/>
        </p:spPr>
        <p:txBody>
          <a:bodyPr wrap="square" lIns="508" tIns="508" rIns="508" bIns="508" rtlCol="0" anchor="ctr">
            <a:normAutofit/>
          </a:bodyPr>
          <a:lstStyle/>
          <a:p>
            <a:pPr indent="0" marL="0">
              <a:buNone/>
            </a:pPr>
            <a:r>
              <a:rPr lang="en-US" sz="1200" b="1" dirty="0">
                <a:solidFill>
                  <a:srgbClr val="2E7D32"/>
                </a:solidFill>
              </a:rPr>
              <a:t>deterministic router + validation</a:t>
            </a:r>
            <a:endParaRPr lang="en-US" sz="1200" dirty="0"/>
          </a:p>
        </p:txBody>
      </p:sp>
      <p:sp>
        <p:nvSpPr>
          <p:cNvPr id="35" name="Shape 33"/>
          <p:cNvSpPr/>
          <p:nvPr/>
        </p:nvSpPr>
        <p:spPr>
          <a:xfrm>
            <a:off x="1097280" y="5870448"/>
            <a:ext cx="9509760" cy="384048"/>
          </a:xfrm>
          <a:prstGeom prst="roundRect">
            <a:avLst>
              <a:gd name="adj" fmla="val 19048"/>
            </a:avLst>
          </a:prstGeom>
          <a:solidFill>
            <a:srgbClr val="FEE2E2"/>
          </a:solidFill>
          <a:ln w="12700">
            <a:solidFill>
              <a:srgbClr val="DC2626"/>
            </a:solidFill>
            <a:prstDash val="solid"/>
          </a:ln>
        </p:spPr>
      </p:sp>
      <p:sp>
        <p:nvSpPr>
          <p:cNvPr id="36" name="Text 34"/>
          <p:cNvSpPr/>
          <p:nvPr/>
        </p:nvSpPr>
        <p:spPr>
          <a:xfrm>
            <a:off x="1243584" y="5916168"/>
            <a:ext cx="9217152" cy="292608"/>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This system is designed around the cost of being confidently wrong.</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Design requirements derived from the risks</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The requirements are not arbitrary; each one answers a user/job failure mode.</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685800" y="1417320"/>
            <a:ext cx="3337560" cy="1234440"/>
          </a:xfrm>
          <a:prstGeom prst="roundRect">
            <a:avLst>
              <a:gd name="adj" fmla="val 5926"/>
            </a:avLst>
          </a:prstGeom>
          <a:solidFill>
            <a:srgbClr val="DCFCE7"/>
          </a:solidFill>
          <a:ln w="12700">
            <a:solidFill>
              <a:srgbClr val="2E7D32"/>
            </a:solidFill>
            <a:prstDash val="solid"/>
          </a:ln>
        </p:spPr>
      </p:sp>
      <p:sp>
        <p:nvSpPr>
          <p:cNvPr id="6" name="Text 4"/>
          <p:cNvSpPr/>
          <p:nvPr/>
        </p:nvSpPr>
        <p:spPr>
          <a:xfrm>
            <a:off x="832104" y="1527048"/>
            <a:ext cx="3044952" cy="256032"/>
          </a:xfrm>
          <a:prstGeom prst="rect">
            <a:avLst/>
          </a:prstGeom>
          <a:noFill/>
          <a:ln/>
        </p:spPr>
        <p:txBody>
          <a:bodyPr wrap="square" lIns="0" tIns="0" rIns="0" bIns="0" rtlCol="0" anchor="ctr">
            <a:normAutofit/>
          </a:bodyPr>
          <a:lstStyle/>
          <a:p>
            <a:pPr indent="0" marL="0">
              <a:buNone/>
            </a:pPr>
            <a:r>
              <a:rPr lang="en-US" sz="1530" b="1" dirty="0">
                <a:solidFill>
                  <a:srgbClr val="0B1F3A"/>
                </a:solidFill>
              </a:rPr>
              <a:t>R1 · Current evidence only</a:t>
            </a:r>
            <a:endParaRPr lang="en-US" sz="1530" dirty="0"/>
          </a:p>
        </p:txBody>
      </p:sp>
      <p:sp>
        <p:nvSpPr>
          <p:cNvPr id="7" name="Text 5"/>
          <p:cNvSpPr/>
          <p:nvPr/>
        </p:nvSpPr>
        <p:spPr>
          <a:xfrm>
            <a:off x="832104" y="1837944"/>
            <a:ext cx="3044952" cy="704088"/>
          </a:xfrm>
          <a:prstGeom prst="rect">
            <a:avLst/>
          </a:prstGeom>
          <a:noFill/>
          <a:ln/>
        </p:spPr>
        <p:txBody>
          <a:bodyPr wrap="square" lIns="127" tIns="127" rIns="127" bIns="127" rtlCol="0" anchor="t">
            <a:normAutofit/>
          </a:bodyPr>
          <a:lstStyle/>
          <a:p>
            <a:pPr indent="0" marL="0">
              <a:buNone/>
            </a:pPr>
            <a:r>
              <a:rPr lang="en-US" sz="1120" dirty="0">
                <a:solidFill>
                  <a:srgbClr val="334155"/>
                </a:solidFill>
              </a:rPr>
              <a:t>avoid stale or blended specifications</a:t>
            </a:r>
            <a:endParaRPr lang="en-US" sz="1120" dirty="0"/>
          </a:p>
        </p:txBody>
      </p:sp>
      <p:sp>
        <p:nvSpPr>
          <p:cNvPr id="8" name="Shape 6"/>
          <p:cNvSpPr/>
          <p:nvPr/>
        </p:nvSpPr>
        <p:spPr>
          <a:xfrm>
            <a:off x="4480560" y="1417320"/>
            <a:ext cx="3337560" cy="1234440"/>
          </a:xfrm>
          <a:prstGeom prst="roundRect">
            <a:avLst>
              <a:gd name="adj" fmla="val 5926"/>
            </a:avLst>
          </a:prstGeom>
          <a:solidFill>
            <a:srgbClr val="DBEAFE"/>
          </a:solidFill>
          <a:ln w="12700">
            <a:solidFill>
              <a:srgbClr val="1F4E79"/>
            </a:solidFill>
            <a:prstDash val="solid"/>
          </a:ln>
        </p:spPr>
      </p:sp>
      <p:sp>
        <p:nvSpPr>
          <p:cNvPr id="9" name="Text 7"/>
          <p:cNvSpPr/>
          <p:nvPr/>
        </p:nvSpPr>
        <p:spPr>
          <a:xfrm>
            <a:off x="4626864" y="1527048"/>
            <a:ext cx="3044952" cy="256032"/>
          </a:xfrm>
          <a:prstGeom prst="rect">
            <a:avLst/>
          </a:prstGeom>
          <a:noFill/>
          <a:ln/>
        </p:spPr>
        <p:txBody>
          <a:bodyPr wrap="square" lIns="0" tIns="0" rIns="0" bIns="0" rtlCol="0" anchor="ctr">
            <a:normAutofit/>
          </a:bodyPr>
          <a:lstStyle/>
          <a:p>
            <a:pPr indent="0" marL="0">
              <a:buNone/>
            </a:pPr>
            <a:r>
              <a:rPr lang="en-US" sz="1530" b="1" dirty="0">
                <a:solidFill>
                  <a:srgbClr val="0B1F3A"/>
                </a:solidFill>
              </a:rPr>
              <a:t>R2 · Access-aware retrieval</a:t>
            </a:r>
            <a:endParaRPr lang="en-US" sz="1530" dirty="0"/>
          </a:p>
        </p:txBody>
      </p:sp>
      <p:sp>
        <p:nvSpPr>
          <p:cNvPr id="10" name="Text 8"/>
          <p:cNvSpPr/>
          <p:nvPr/>
        </p:nvSpPr>
        <p:spPr>
          <a:xfrm>
            <a:off x="4626864" y="1837944"/>
            <a:ext cx="3044952" cy="704088"/>
          </a:xfrm>
          <a:prstGeom prst="rect">
            <a:avLst/>
          </a:prstGeom>
          <a:noFill/>
          <a:ln/>
        </p:spPr>
        <p:txBody>
          <a:bodyPr wrap="square" lIns="127" tIns="127" rIns="127" bIns="127" rtlCol="0" anchor="t">
            <a:normAutofit/>
          </a:bodyPr>
          <a:lstStyle/>
          <a:p>
            <a:pPr indent="0" marL="0">
              <a:buNone/>
            </a:pPr>
            <a:r>
              <a:rPr lang="en-US" sz="1120" dirty="0">
                <a:solidFill>
                  <a:srgbClr val="334155"/>
                </a:solidFill>
              </a:rPr>
              <a:t>prevent public/staff leakage</a:t>
            </a:r>
            <a:endParaRPr lang="en-US" sz="1120" dirty="0"/>
          </a:p>
        </p:txBody>
      </p:sp>
      <p:sp>
        <p:nvSpPr>
          <p:cNvPr id="11" name="Shape 9"/>
          <p:cNvSpPr/>
          <p:nvPr/>
        </p:nvSpPr>
        <p:spPr>
          <a:xfrm>
            <a:off x="8275320" y="1417320"/>
            <a:ext cx="3337560" cy="1234440"/>
          </a:xfrm>
          <a:prstGeom prst="roundRect">
            <a:avLst>
              <a:gd name="adj" fmla="val 5926"/>
            </a:avLst>
          </a:prstGeom>
          <a:solidFill>
            <a:srgbClr val="EDE9FE"/>
          </a:solidFill>
          <a:ln w="12700">
            <a:solidFill>
              <a:srgbClr val="6B4E9E"/>
            </a:solidFill>
            <a:prstDash val="solid"/>
          </a:ln>
        </p:spPr>
      </p:sp>
      <p:sp>
        <p:nvSpPr>
          <p:cNvPr id="12" name="Text 10"/>
          <p:cNvSpPr/>
          <p:nvPr/>
        </p:nvSpPr>
        <p:spPr>
          <a:xfrm>
            <a:off x="8421624" y="1527048"/>
            <a:ext cx="3044952" cy="256032"/>
          </a:xfrm>
          <a:prstGeom prst="rect">
            <a:avLst/>
          </a:prstGeom>
          <a:noFill/>
          <a:ln/>
        </p:spPr>
        <p:txBody>
          <a:bodyPr wrap="square" lIns="0" tIns="0" rIns="0" bIns="0" rtlCol="0" anchor="ctr">
            <a:normAutofit/>
          </a:bodyPr>
          <a:lstStyle/>
          <a:p>
            <a:pPr indent="0" marL="0">
              <a:buNone/>
            </a:pPr>
            <a:r>
              <a:rPr lang="en-US" sz="1530" b="1" dirty="0">
                <a:solidFill>
                  <a:srgbClr val="0B1F3A"/>
                </a:solidFill>
              </a:rPr>
              <a:t>R3 · Deterministic route selection</a:t>
            </a:r>
            <a:endParaRPr lang="en-US" sz="1530" dirty="0"/>
          </a:p>
        </p:txBody>
      </p:sp>
      <p:sp>
        <p:nvSpPr>
          <p:cNvPr id="13" name="Text 11"/>
          <p:cNvSpPr/>
          <p:nvPr/>
        </p:nvSpPr>
        <p:spPr>
          <a:xfrm>
            <a:off x="8421624" y="1837944"/>
            <a:ext cx="3044952" cy="704088"/>
          </a:xfrm>
          <a:prstGeom prst="rect">
            <a:avLst/>
          </a:prstGeom>
          <a:noFill/>
          <a:ln/>
        </p:spPr>
        <p:txBody>
          <a:bodyPr wrap="square" lIns="127" tIns="127" rIns="127" bIns="127" rtlCol="0" anchor="t">
            <a:normAutofit/>
          </a:bodyPr>
          <a:lstStyle/>
          <a:p>
            <a:pPr indent="0" marL="0">
              <a:buNone/>
            </a:pPr>
            <a:r>
              <a:rPr lang="en-US" sz="1120" dirty="0">
                <a:solidFill>
                  <a:srgbClr val="334155"/>
                </a:solidFill>
              </a:rPr>
              <a:t>avoid LLM deciding safety paths</a:t>
            </a:r>
            <a:endParaRPr lang="en-US" sz="1120" dirty="0"/>
          </a:p>
        </p:txBody>
      </p:sp>
      <p:sp>
        <p:nvSpPr>
          <p:cNvPr id="14" name="Shape 12"/>
          <p:cNvSpPr/>
          <p:nvPr/>
        </p:nvSpPr>
        <p:spPr>
          <a:xfrm>
            <a:off x="685800" y="3291840"/>
            <a:ext cx="3337560" cy="1234440"/>
          </a:xfrm>
          <a:prstGeom prst="roundRect">
            <a:avLst>
              <a:gd name="adj" fmla="val 5926"/>
            </a:avLst>
          </a:prstGeom>
          <a:solidFill>
            <a:srgbClr val="CCFBF1"/>
          </a:solidFill>
          <a:ln w="12700">
            <a:solidFill>
              <a:srgbClr val="0E7C7B"/>
            </a:solidFill>
            <a:prstDash val="solid"/>
          </a:ln>
        </p:spPr>
      </p:sp>
      <p:sp>
        <p:nvSpPr>
          <p:cNvPr id="15" name="Text 13"/>
          <p:cNvSpPr/>
          <p:nvPr/>
        </p:nvSpPr>
        <p:spPr>
          <a:xfrm>
            <a:off x="832104" y="3401568"/>
            <a:ext cx="3044952" cy="256032"/>
          </a:xfrm>
          <a:prstGeom prst="rect">
            <a:avLst/>
          </a:prstGeom>
          <a:noFill/>
          <a:ln/>
        </p:spPr>
        <p:txBody>
          <a:bodyPr wrap="square" lIns="0" tIns="0" rIns="0" bIns="0" rtlCol="0" anchor="ctr">
            <a:normAutofit/>
          </a:bodyPr>
          <a:lstStyle/>
          <a:p>
            <a:pPr indent="0" marL="0">
              <a:buNone/>
            </a:pPr>
            <a:r>
              <a:rPr lang="en-US" sz="1530" b="1" dirty="0">
                <a:solidFill>
                  <a:srgbClr val="0B1F3A"/>
                </a:solidFill>
              </a:rPr>
              <a:t>R4 · Extract exact facts by code</a:t>
            </a:r>
            <a:endParaRPr lang="en-US" sz="1530" dirty="0"/>
          </a:p>
        </p:txBody>
      </p:sp>
      <p:sp>
        <p:nvSpPr>
          <p:cNvPr id="16" name="Text 14"/>
          <p:cNvSpPr/>
          <p:nvPr/>
        </p:nvSpPr>
        <p:spPr>
          <a:xfrm>
            <a:off x="832104" y="3712464"/>
            <a:ext cx="3044952" cy="704088"/>
          </a:xfrm>
          <a:prstGeom prst="rect">
            <a:avLst/>
          </a:prstGeom>
          <a:noFill/>
          <a:ln/>
        </p:spPr>
        <p:txBody>
          <a:bodyPr wrap="square" lIns="127" tIns="127" rIns="127" bIns="127" rtlCol="0" anchor="t">
            <a:normAutofit/>
          </a:bodyPr>
          <a:lstStyle/>
          <a:p>
            <a:pPr indent="0" marL="0">
              <a:buNone/>
            </a:pPr>
            <a:r>
              <a:rPr lang="en-US" sz="1120" dirty="0">
                <a:solidFill>
                  <a:srgbClr val="334155"/>
                </a:solidFill>
              </a:rPr>
              <a:t>protect numbers, units and qualifiers</a:t>
            </a:r>
            <a:endParaRPr lang="en-US" sz="1120" dirty="0"/>
          </a:p>
        </p:txBody>
      </p:sp>
      <p:sp>
        <p:nvSpPr>
          <p:cNvPr id="17" name="Shape 15"/>
          <p:cNvSpPr/>
          <p:nvPr/>
        </p:nvSpPr>
        <p:spPr>
          <a:xfrm>
            <a:off x="4480560" y="3291840"/>
            <a:ext cx="3337560" cy="1234440"/>
          </a:xfrm>
          <a:prstGeom prst="roundRect">
            <a:avLst>
              <a:gd name="adj" fmla="val 5926"/>
            </a:avLst>
          </a:prstGeom>
          <a:solidFill>
            <a:srgbClr val="FEF3C7"/>
          </a:solidFill>
          <a:ln w="12700">
            <a:solidFill>
              <a:srgbClr val="F59E0B"/>
            </a:solidFill>
            <a:prstDash val="solid"/>
          </a:ln>
        </p:spPr>
      </p:sp>
      <p:sp>
        <p:nvSpPr>
          <p:cNvPr id="18" name="Text 16"/>
          <p:cNvSpPr/>
          <p:nvPr/>
        </p:nvSpPr>
        <p:spPr>
          <a:xfrm>
            <a:off x="4626864" y="3401568"/>
            <a:ext cx="3044952" cy="256032"/>
          </a:xfrm>
          <a:prstGeom prst="rect">
            <a:avLst/>
          </a:prstGeom>
          <a:noFill/>
          <a:ln/>
        </p:spPr>
        <p:txBody>
          <a:bodyPr wrap="square" lIns="0" tIns="0" rIns="0" bIns="0" rtlCol="0" anchor="ctr">
            <a:normAutofit/>
          </a:bodyPr>
          <a:lstStyle/>
          <a:p>
            <a:pPr indent="0" marL="0">
              <a:buNone/>
            </a:pPr>
            <a:r>
              <a:rPr lang="en-US" sz="1530" b="1" dirty="0">
                <a:solidFill>
                  <a:srgbClr val="0B1F3A"/>
                </a:solidFill>
              </a:rPr>
              <a:t>R5 · Compose only when needed</a:t>
            </a:r>
            <a:endParaRPr lang="en-US" sz="1530" dirty="0"/>
          </a:p>
        </p:txBody>
      </p:sp>
      <p:sp>
        <p:nvSpPr>
          <p:cNvPr id="19" name="Text 17"/>
          <p:cNvSpPr/>
          <p:nvPr/>
        </p:nvSpPr>
        <p:spPr>
          <a:xfrm>
            <a:off x="4626864" y="3712464"/>
            <a:ext cx="3044952" cy="704088"/>
          </a:xfrm>
          <a:prstGeom prst="rect">
            <a:avLst/>
          </a:prstGeom>
          <a:noFill/>
          <a:ln/>
        </p:spPr>
        <p:txBody>
          <a:bodyPr wrap="square" lIns="127" tIns="127" rIns="127" bIns="127" rtlCol="0" anchor="t">
            <a:normAutofit/>
          </a:bodyPr>
          <a:lstStyle/>
          <a:p>
            <a:pPr indent="0" marL="0">
              <a:buNone/>
            </a:pPr>
            <a:r>
              <a:rPr lang="en-US" sz="1120" dirty="0">
                <a:solidFill>
                  <a:srgbClr val="334155"/>
                </a:solidFill>
              </a:rPr>
              <a:t>use LLM for synthesis, not control</a:t>
            </a:r>
            <a:endParaRPr lang="en-US" sz="1120" dirty="0"/>
          </a:p>
        </p:txBody>
      </p:sp>
      <p:sp>
        <p:nvSpPr>
          <p:cNvPr id="20" name="Shape 18"/>
          <p:cNvSpPr/>
          <p:nvPr/>
        </p:nvSpPr>
        <p:spPr>
          <a:xfrm>
            <a:off x="8275320" y="3291840"/>
            <a:ext cx="3337560" cy="1234440"/>
          </a:xfrm>
          <a:prstGeom prst="roundRect">
            <a:avLst>
              <a:gd name="adj" fmla="val 5926"/>
            </a:avLst>
          </a:prstGeom>
          <a:solidFill>
            <a:srgbClr val="FEE2E2"/>
          </a:solidFill>
          <a:ln w="12700">
            <a:solidFill>
              <a:srgbClr val="DC2626"/>
            </a:solidFill>
            <a:prstDash val="solid"/>
          </a:ln>
        </p:spPr>
      </p:sp>
      <p:sp>
        <p:nvSpPr>
          <p:cNvPr id="21" name="Text 19"/>
          <p:cNvSpPr/>
          <p:nvPr/>
        </p:nvSpPr>
        <p:spPr>
          <a:xfrm>
            <a:off x="8421624" y="3401568"/>
            <a:ext cx="3044952" cy="256032"/>
          </a:xfrm>
          <a:prstGeom prst="rect">
            <a:avLst/>
          </a:prstGeom>
          <a:noFill/>
          <a:ln/>
        </p:spPr>
        <p:txBody>
          <a:bodyPr wrap="square" lIns="0" tIns="0" rIns="0" bIns="0" rtlCol="0" anchor="ctr">
            <a:normAutofit/>
          </a:bodyPr>
          <a:lstStyle/>
          <a:p>
            <a:pPr indent="0" marL="0">
              <a:buNone/>
            </a:pPr>
            <a:r>
              <a:rPr lang="en-US" sz="1530" b="1" dirty="0">
                <a:solidFill>
                  <a:srgbClr val="0B1F3A"/>
                </a:solidFill>
              </a:rPr>
              <a:t>R6 · Refuse or hand off cleanly</a:t>
            </a:r>
            <a:endParaRPr lang="en-US" sz="1530" dirty="0"/>
          </a:p>
        </p:txBody>
      </p:sp>
      <p:sp>
        <p:nvSpPr>
          <p:cNvPr id="22" name="Text 20"/>
          <p:cNvSpPr/>
          <p:nvPr/>
        </p:nvSpPr>
        <p:spPr>
          <a:xfrm>
            <a:off x="8421624" y="3712464"/>
            <a:ext cx="3044952" cy="704088"/>
          </a:xfrm>
          <a:prstGeom prst="rect">
            <a:avLst/>
          </a:prstGeom>
          <a:noFill/>
          <a:ln/>
        </p:spPr>
        <p:txBody>
          <a:bodyPr wrap="square" lIns="127" tIns="127" rIns="127" bIns="127" rtlCol="0" anchor="t">
            <a:normAutofit/>
          </a:bodyPr>
          <a:lstStyle/>
          <a:p>
            <a:pPr indent="0" marL="0">
              <a:buNone/>
            </a:pPr>
            <a:r>
              <a:rPr lang="en-US" sz="1120" dirty="0">
                <a:solidFill>
                  <a:srgbClr val="334155"/>
                </a:solidFill>
              </a:rPr>
              <a:t>avoid unsupported diagnosis/recommendation</a:t>
            </a:r>
            <a:endParaRPr lang="en-US" sz="1120" dirty="0"/>
          </a:p>
        </p:txBody>
      </p:sp>
      <p:sp>
        <p:nvSpPr>
          <p:cNvPr id="23" name="Shape 21"/>
          <p:cNvSpPr/>
          <p:nvPr/>
        </p:nvSpPr>
        <p:spPr>
          <a:xfrm>
            <a:off x="914400" y="5623560"/>
            <a:ext cx="9875520" cy="658368"/>
          </a:xfrm>
          <a:prstGeom prst="roundRect">
            <a:avLst>
              <a:gd name="adj" fmla="val 11111"/>
            </a:avLst>
          </a:prstGeom>
          <a:solidFill>
            <a:srgbClr val="FFEDD5"/>
          </a:solidFill>
          <a:ln w="12700">
            <a:solidFill>
              <a:srgbClr val="F97316"/>
            </a:solidFill>
            <a:prstDash val="solid"/>
          </a:ln>
        </p:spPr>
      </p:sp>
      <p:sp>
        <p:nvSpPr>
          <p:cNvPr id="24" name="Text 22"/>
          <p:cNvSpPr/>
          <p:nvPr/>
        </p:nvSpPr>
        <p:spPr>
          <a:xfrm>
            <a:off x="1060704" y="5669280"/>
            <a:ext cx="9582912" cy="566928"/>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Only after these requirements are clear do the technical choices make sense.</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Decision map: requirement → architecture choice</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This is the evidence chain reviewers need to see.</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658368" y="1207008"/>
            <a:ext cx="4800600" cy="384048"/>
          </a:xfrm>
          <a:prstGeom prst="roundRect">
            <a:avLst>
              <a:gd name="adj" fmla="val 19048"/>
            </a:avLst>
          </a:prstGeom>
          <a:solidFill>
            <a:srgbClr val="0B1F3A"/>
          </a:solidFill>
          <a:ln w="12700">
            <a:solidFill>
              <a:srgbClr val="0B1F3A"/>
            </a:solidFill>
            <a:prstDash val="solid"/>
          </a:ln>
        </p:spPr>
      </p:sp>
      <p:sp>
        <p:nvSpPr>
          <p:cNvPr id="6" name="Text 4"/>
          <p:cNvSpPr/>
          <p:nvPr/>
        </p:nvSpPr>
        <p:spPr>
          <a:xfrm>
            <a:off x="749808" y="1280160"/>
            <a:ext cx="4617720" cy="23774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REQUIREMENT</a:t>
            </a:r>
            <a:endParaRPr lang="en-US" sz="1250" dirty="0"/>
          </a:p>
        </p:txBody>
      </p:sp>
      <p:sp>
        <p:nvSpPr>
          <p:cNvPr id="7" name="Shape 5"/>
          <p:cNvSpPr/>
          <p:nvPr/>
        </p:nvSpPr>
        <p:spPr>
          <a:xfrm>
            <a:off x="6190488" y="1207008"/>
            <a:ext cx="5440680" cy="384048"/>
          </a:xfrm>
          <a:prstGeom prst="roundRect">
            <a:avLst>
              <a:gd name="adj" fmla="val 19048"/>
            </a:avLst>
          </a:prstGeom>
          <a:solidFill>
            <a:srgbClr val="0B1F3A"/>
          </a:solidFill>
          <a:ln w="12700">
            <a:solidFill>
              <a:srgbClr val="0B1F3A"/>
            </a:solidFill>
            <a:prstDash val="solid"/>
          </a:ln>
        </p:spPr>
      </p:sp>
      <p:sp>
        <p:nvSpPr>
          <p:cNvPr id="8" name="Text 6"/>
          <p:cNvSpPr/>
          <p:nvPr/>
        </p:nvSpPr>
        <p:spPr>
          <a:xfrm>
            <a:off x="6281928" y="1280160"/>
            <a:ext cx="5257800" cy="23774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ARCHITECTURE DECISION</a:t>
            </a:r>
            <a:endParaRPr lang="en-US" sz="1250" dirty="0"/>
          </a:p>
        </p:txBody>
      </p:sp>
      <p:sp>
        <p:nvSpPr>
          <p:cNvPr id="9" name="Shape 7"/>
          <p:cNvSpPr/>
          <p:nvPr/>
        </p:nvSpPr>
        <p:spPr>
          <a:xfrm>
            <a:off x="658368" y="2139696"/>
            <a:ext cx="10972800" cy="0"/>
          </a:xfrm>
          <a:prstGeom prst="line">
            <a:avLst/>
          </a:prstGeom>
          <a:noFill/>
          <a:ln w="6350">
            <a:solidFill>
              <a:srgbClr val="E5E7EB"/>
            </a:solidFill>
            <a:prstDash val="solid"/>
          </a:ln>
        </p:spPr>
      </p:sp>
      <p:sp>
        <p:nvSpPr>
          <p:cNvPr id="10" name="Text 8"/>
          <p:cNvSpPr/>
          <p:nvPr/>
        </p:nvSpPr>
        <p:spPr>
          <a:xfrm>
            <a:off x="786384" y="1751076"/>
            <a:ext cx="4572000" cy="283464"/>
          </a:xfrm>
          <a:prstGeom prst="rect">
            <a:avLst/>
          </a:prstGeom>
          <a:noFill/>
          <a:ln/>
        </p:spPr>
        <p:txBody>
          <a:bodyPr wrap="square" lIns="508" tIns="508" rIns="508" bIns="508" rtlCol="0" anchor="ctr">
            <a:normAutofit/>
          </a:bodyPr>
          <a:lstStyle/>
          <a:p>
            <a:pPr indent="0" marL="0">
              <a:buNone/>
            </a:pPr>
            <a:r>
              <a:rPr lang="en-US" sz="1180" b="1" dirty="0">
                <a:solidFill>
                  <a:srgbClr val="334155"/>
                </a:solidFill>
              </a:rPr>
              <a:t>Need exact current evidence</a:t>
            </a:r>
            <a:endParaRPr lang="en-US" sz="1180" dirty="0"/>
          </a:p>
        </p:txBody>
      </p:sp>
      <p:sp>
        <p:nvSpPr>
          <p:cNvPr id="11" name="Shape 9"/>
          <p:cNvSpPr/>
          <p:nvPr/>
        </p:nvSpPr>
        <p:spPr>
          <a:xfrm>
            <a:off x="5577840" y="1929384"/>
            <a:ext cx="493776" cy="0"/>
          </a:xfrm>
          <a:prstGeom prst="line">
            <a:avLst/>
          </a:prstGeom>
          <a:noFill/>
          <a:ln w="12700">
            <a:solidFill>
              <a:srgbClr val="64748B"/>
            </a:solidFill>
            <a:prstDash val="solid"/>
            <a:headEnd type="none"/>
            <a:tailEnd type="triangle"/>
          </a:ln>
        </p:spPr>
      </p:sp>
      <p:sp>
        <p:nvSpPr>
          <p:cNvPr id="12" name="Text 10"/>
          <p:cNvSpPr/>
          <p:nvPr/>
        </p:nvSpPr>
        <p:spPr>
          <a:xfrm>
            <a:off x="6327648" y="1751076"/>
            <a:ext cx="5120640" cy="283464"/>
          </a:xfrm>
          <a:prstGeom prst="rect">
            <a:avLst/>
          </a:prstGeom>
          <a:noFill/>
          <a:ln/>
        </p:spPr>
        <p:txBody>
          <a:bodyPr wrap="square" lIns="508" tIns="508" rIns="508" bIns="508" rtlCol="0" anchor="ctr">
            <a:normAutofit/>
          </a:bodyPr>
          <a:lstStyle/>
          <a:p>
            <a:pPr indent="0" marL="0">
              <a:buNone/>
            </a:pPr>
            <a:r>
              <a:rPr lang="en-US" sz="1180" b="1" dirty="0">
                <a:solidFill>
                  <a:srgbClr val="1F4E79"/>
                </a:solidFill>
              </a:rPr>
              <a:t>Versioned source store + one active document version</a:t>
            </a:r>
            <a:endParaRPr lang="en-US" sz="1180" dirty="0"/>
          </a:p>
        </p:txBody>
      </p:sp>
      <p:sp>
        <p:nvSpPr>
          <p:cNvPr id="13" name="Shape 11"/>
          <p:cNvSpPr/>
          <p:nvPr/>
        </p:nvSpPr>
        <p:spPr>
          <a:xfrm>
            <a:off x="658368" y="2670048"/>
            <a:ext cx="10972800" cy="0"/>
          </a:xfrm>
          <a:prstGeom prst="line">
            <a:avLst/>
          </a:prstGeom>
          <a:noFill/>
          <a:ln w="6350">
            <a:solidFill>
              <a:srgbClr val="E5E7EB"/>
            </a:solidFill>
            <a:prstDash val="solid"/>
          </a:ln>
        </p:spPr>
      </p:sp>
      <p:sp>
        <p:nvSpPr>
          <p:cNvPr id="14" name="Text 12"/>
          <p:cNvSpPr/>
          <p:nvPr/>
        </p:nvSpPr>
        <p:spPr>
          <a:xfrm>
            <a:off x="786384" y="2281428"/>
            <a:ext cx="4572000" cy="283464"/>
          </a:xfrm>
          <a:prstGeom prst="rect">
            <a:avLst/>
          </a:prstGeom>
          <a:noFill/>
          <a:ln/>
        </p:spPr>
        <p:txBody>
          <a:bodyPr wrap="square" lIns="508" tIns="508" rIns="508" bIns="508" rtlCol="0" anchor="ctr">
            <a:normAutofit/>
          </a:bodyPr>
          <a:lstStyle/>
          <a:p>
            <a:pPr indent="0" marL="0">
              <a:buNone/>
            </a:pPr>
            <a:r>
              <a:rPr lang="en-US" sz="1180" b="1" dirty="0">
                <a:solidFill>
                  <a:srgbClr val="334155"/>
                </a:solidFill>
              </a:rPr>
              <a:t>Need offline assessment and production deployment</a:t>
            </a:r>
            <a:endParaRPr lang="en-US" sz="1180" dirty="0"/>
          </a:p>
        </p:txBody>
      </p:sp>
      <p:sp>
        <p:nvSpPr>
          <p:cNvPr id="15" name="Shape 13"/>
          <p:cNvSpPr/>
          <p:nvPr/>
        </p:nvSpPr>
        <p:spPr>
          <a:xfrm>
            <a:off x="5577840" y="2459736"/>
            <a:ext cx="493776" cy="0"/>
          </a:xfrm>
          <a:prstGeom prst="line">
            <a:avLst/>
          </a:prstGeom>
          <a:noFill/>
          <a:ln w="12700">
            <a:solidFill>
              <a:srgbClr val="64748B"/>
            </a:solidFill>
            <a:prstDash val="solid"/>
            <a:headEnd type="none"/>
            <a:tailEnd type="triangle"/>
          </a:ln>
        </p:spPr>
      </p:sp>
      <p:sp>
        <p:nvSpPr>
          <p:cNvPr id="16" name="Text 14"/>
          <p:cNvSpPr/>
          <p:nvPr/>
        </p:nvSpPr>
        <p:spPr>
          <a:xfrm>
            <a:off x="6327648" y="2281428"/>
            <a:ext cx="5120640" cy="283464"/>
          </a:xfrm>
          <a:prstGeom prst="rect">
            <a:avLst/>
          </a:prstGeom>
          <a:noFill/>
          <a:ln/>
        </p:spPr>
        <p:txBody>
          <a:bodyPr wrap="square" lIns="508" tIns="508" rIns="508" bIns="508" rtlCol="0" anchor="ctr">
            <a:normAutofit/>
          </a:bodyPr>
          <a:lstStyle/>
          <a:p>
            <a:pPr indent="0" marL="0">
              <a:buNone/>
            </a:pPr>
            <a:r>
              <a:rPr lang="en-US" sz="1180" b="1" dirty="0">
                <a:solidFill>
                  <a:srgbClr val="1F4E79"/>
                </a:solidFill>
              </a:rPr>
              <a:t>KnowledgeRepository with SQLite and PostgreSQL/pgvector adapters</a:t>
            </a:r>
            <a:endParaRPr lang="en-US" sz="1180" dirty="0"/>
          </a:p>
        </p:txBody>
      </p:sp>
      <p:sp>
        <p:nvSpPr>
          <p:cNvPr id="17" name="Shape 15"/>
          <p:cNvSpPr/>
          <p:nvPr/>
        </p:nvSpPr>
        <p:spPr>
          <a:xfrm>
            <a:off x="658368" y="3200400"/>
            <a:ext cx="10972800" cy="0"/>
          </a:xfrm>
          <a:prstGeom prst="line">
            <a:avLst/>
          </a:prstGeom>
          <a:noFill/>
          <a:ln w="6350">
            <a:solidFill>
              <a:srgbClr val="E5E7EB"/>
            </a:solidFill>
            <a:prstDash val="solid"/>
          </a:ln>
        </p:spPr>
      </p:sp>
      <p:sp>
        <p:nvSpPr>
          <p:cNvPr id="18" name="Text 16"/>
          <p:cNvSpPr/>
          <p:nvPr/>
        </p:nvSpPr>
        <p:spPr>
          <a:xfrm>
            <a:off x="786384" y="2811780"/>
            <a:ext cx="4572000" cy="283464"/>
          </a:xfrm>
          <a:prstGeom prst="rect">
            <a:avLst/>
          </a:prstGeom>
          <a:noFill/>
          <a:ln/>
        </p:spPr>
        <p:txBody>
          <a:bodyPr wrap="square" lIns="508" tIns="508" rIns="508" bIns="508" rtlCol="0" anchor="ctr">
            <a:normAutofit/>
          </a:bodyPr>
          <a:lstStyle/>
          <a:p>
            <a:pPr indent="0" marL="0">
              <a:buNone/>
            </a:pPr>
            <a:r>
              <a:rPr lang="en-US" sz="1180" b="1" dirty="0">
                <a:solidFill>
                  <a:srgbClr val="334155"/>
                </a:solidFill>
              </a:rPr>
              <a:t>Need no access leakage</a:t>
            </a:r>
            <a:endParaRPr lang="en-US" sz="1180" dirty="0"/>
          </a:p>
        </p:txBody>
      </p:sp>
      <p:sp>
        <p:nvSpPr>
          <p:cNvPr id="19" name="Shape 17"/>
          <p:cNvSpPr/>
          <p:nvPr/>
        </p:nvSpPr>
        <p:spPr>
          <a:xfrm>
            <a:off x="5577840" y="2990088"/>
            <a:ext cx="493776" cy="0"/>
          </a:xfrm>
          <a:prstGeom prst="line">
            <a:avLst/>
          </a:prstGeom>
          <a:noFill/>
          <a:ln w="12700">
            <a:solidFill>
              <a:srgbClr val="64748B"/>
            </a:solidFill>
            <a:prstDash val="solid"/>
            <a:headEnd type="none"/>
            <a:tailEnd type="triangle"/>
          </a:ln>
        </p:spPr>
      </p:sp>
      <p:sp>
        <p:nvSpPr>
          <p:cNvPr id="20" name="Text 18"/>
          <p:cNvSpPr/>
          <p:nvPr/>
        </p:nvSpPr>
        <p:spPr>
          <a:xfrm>
            <a:off x="6327648" y="2811780"/>
            <a:ext cx="5120640" cy="283464"/>
          </a:xfrm>
          <a:prstGeom prst="rect">
            <a:avLst/>
          </a:prstGeom>
          <a:noFill/>
          <a:ln/>
        </p:spPr>
        <p:txBody>
          <a:bodyPr wrap="square" lIns="508" tIns="508" rIns="508" bIns="508" rtlCol="0" anchor="ctr">
            <a:normAutofit/>
          </a:bodyPr>
          <a:lstStyle/>
          <a:p>
            <a:pPr indent="0" marL="0">
              <a:buNone/>
            </a:pPr>
            <a:r>
              <a:rPr lang="en-US" sz="1180" b="1" dirty="0">
                <a:solidFill>
                  <a:srgbClr val="1F4E79"/>
                </a:solidFill>
              </a:rPr>
              <a:t>Audience tags filtered inside retrieval</a:t>
            </a:r>
            <a:endParaRPr lang="en-US" sz="1180" dirty="0"/>
          </a:p>
        </p:txBody>
      </p:sp>
      <p:sp>
        <p:nvSpPr>
          <p:cNvPr id="21" name="Shape 19"/>
          <p:cNvSpPr/>
          <p:nvPr/>
        </p:nvSpPr>
        <p:spPr>
          <a:xfrm>
            <a:off x="658368" y="3730752"/>
            <a:ext cx="10972800" cy="0"/>
          </a:xfrm>
          <a:prstGeom prst="line">
            <a:avLst/>
          </a:prstGeom>
          <a:noFill/>
          <a:ln w="6350">
            <a:solidFill>
              <a:srgbClr val="E5E7EB"/>
            </a:solidFill>
            <a:prstDash val="solid"/>
          </a:ln>
        </p:spPr>
      </p:sp>
      <p:sp>
        <p:nvSpPr>
          <p:cNvPr id="22" name="Text 20"/>
          <p:cNvSpPr/>
          <p:nvPr/>
        </p:nvSpPr>
        <p:spPr>
          <a:xfrm>
            <a:off x="786384" y="3342132"/>
            <a:ext cx="4572000" cy="283464"/>
          </a:xfrm>
          <a:prstGeom prst="rect">
            <a:avLst/>
          </a:prstGeom>
          <a:noFill/>
          <a:ln/>
        </p:spPr>
        <p:txBody>
          <a:bodyPr wrap="square" lIns="508" tIns="508" rIns="508" bIns="508" rtlCol="0" anchor="ctr">
            <a:normAutofit/>
          </a:bodyPr>
          <a:lstStyle/>
          <a:p>
            <a:pPr indent="0" marL="0">
              <a:buNone/>
            </a:pPr>
            <a:r>
              <a:rPr lang="en-US" sz="1180" b="1" dirty="0">
                <a:solidFill>
                  <a:srgbClr val="334155"/>
                </a:solidFill>
              </a:rPr>
              <a:t>Need exact datasheet values</a:t>
            </a:r>
            <a:endParaRPr lang="en-US" sz="1180" dirty="0"/>
          </a:p>
        </p:txBody>
      </p:sp>
      <p:sp>
        <p:nvSpPr>
          <p:cNvPr id="23" name="Shape 21"/>
          <p:cNvSpPr/>
          <p:nvPr/>
        </p:nvSpPr>
        <p:spPr>
          <a:xfrm>
            <a:off x="5577840" y="3520440"/>
            <a:ext cx="493776" cy="0"/>
          </a:xfrm>
          <a:prstGeom prst="line">
            <a:avLst/>
          </a:prstGeom>
          <a:noFill/>
          <a:ln w="12700">
            <a:solidFill>
              <a:srgbClr val="64748B"/>
            </a:solidFill>
            <a:prstDash val="solid"/>
            <a:headEnd type="none"/>
            <a:tailEnd type="triangle"/>
          </a:ln>
        </p:spPr>
      </p:sp>
      <p:sp>
        <p:nvSpPr>
          <p:cNvPr id="24" name="Text 22"/>
          <p:cNvSpPr/>
          <p:nvPr/>
        </p:nvSpPr>
        <p:spPr>
          <a:xfrm>
            <a:off x="6327648" y="3342132"/>
            <a:ext cx="5120640" cy="283464"/>
          </a:xfrm>
          <a:prstGeom prst="rect">
            <a:avLst/>
          </a:prstGeom>
          <a:noFill/>
          <a:ln/>
        </p:spPr>
        <p:txBody>
          <a:bodyPr wrap="square" lIns="508" tIns="508" rIns="508" bIns="508" rtlCol="0" anchor="ctr">
            <a:normAutofit/>
          </a:bodyPr>
          <a:lstStyle/>
          <a:p>
            <a:pPr indent="0" marL="0">
              <a:buNone/>
            </a:pPr>
            <a:r>
              <a:rPr lang="en-US" sz="1180" b="1" dirty="0">
                <a:solidFill>
                  <a:srgbClr val="1F4E79"/>
                </a:solidFill>
              </a:rPr>
              <a:t>Extract path by code; no model paraphrase</a:t>
            </a:r>
            <a:endParaRPr lang="en-US" sz="1180" dirty="0"/>
          </a:p>
        </p:txBody>
      </p:sp>
      <p:sp>
        <p:nvSpPr>
          <p:cNvPr id="25" name="Shape 23"/>
          <p:cNvSpPr/>
          <p:nvPr/>
        </p:nvSpPr>
        <p:spPr>
          <a:xfrm>
            <a:off x="658368" y="4261104"/>
            <a:ext cx="10972800" cy="0"/>
          </a:xfrm>
          <a:prstGeom prst="line">
            <a:avLst/>
          </a:prstGeom>
          <a:noFill/>
          <a:ln w="6350">
            <a:solidFill>
              <a:srgbClr val="E5E7EB"/>
            </a:solidFill>
            <a:prstDash val="solid"/>
          </a:ln>
        </p:spPr>
      </p:sp>
      <p:sp>
        <p:nvSpPr>
          <p:cNvPr id="26" name="Text 24"/>
          <p:cNvSpPr/>
          <p:nvPr/>
        </p:nvSpPr>
        <p:spPr>
          <a:xfrm>
            <a:off x="786384" y="3872484"/>
            <a:ext cx="4572000" cy="283464"/>
          </a:xfrm>
          <a:prstGeom prst="rect">
            <a:avLst/>
          </a:prstGeom>
          <a:noFill/>
          <a:ln/>
        </p:spPr>
        <p:txBody>
          <a:bodyPr wrap="square" lIns="508" tIns="508" rIns="508" bIns="508" rtlCol="0" anchor="ctr">
            <a:normAutofit/>
          </a:bodyPr>
          <a:lstStyle/>
          <a:p>
            <a:pPr indent="0" marL="0">
              <a:buNone/>
            </a:pPr>
            <a:r>
              <a:rPr lang="en-US" sz="1180" b="1" dirty="0">
                <a:solidFill>
                  <a:srgbClr val="334155"/>
                </a:solidFill>
              </a:rPr>
              <a:t>Need synthesis across sources</a:t>
            </a:r>
            <a:endParaRPr lang="en-US" sz="1180" dirty="0"/>
          </a:p>
        </p:txBody>
      </p:sp>
      <p:sp>
        <p:nvSpPr>
          <p:cNvPr id="27" name="Shape 25"/>
          <p:cNvSpPr/>
          <p:nvPr/>
        </p:nvSpPr>
        <p:spPr>
          <a:xfrm>
            <a:off x="5577840" y="4050792"/>
            <a:ext cx="493776" cy="0"/>
          </a:xfrm>
          <a:prstGeom prst="line">
            <a:avLst/>
          </a:prstGeom>
          <a:noFill/>
          <a:ln w="12700">
            <a:solidFill>
              <a:srgbClr val="64748B"/>
            </a:solidFill>
            <a:prstDash val="solid"/>
            <a:headEnd type="none"/>
            <a:tailEnd type="triangle"/>
          </a:ln>
        </p:spPr>
      </p:sp>
      <p:sp>
        <p:nvSpPr>
          <p:cNvPr id="28" name="Text 26"/>
          <p:cNvSpPr/>
          <p:nvPr/>
        </p:nvSpPr>
        <p:spPr>
          <a:xfrm>
            <a:off x="6327648" y="3872484"/>
            <a:ext cx="5120640" cy="283464"/>
          </a:xfrm>
          <a:prstGeom prst="rect">
            <a:avLst/>
          </a:prstGeom>
          <a:noFill/>
          <a:ln/>
        </p:spPr>
        <p:txBody>
          <a:bodyPr wrap="square" lIns="508" tIns="508" rIns="508" bIns="508" rtlCol="0" anchor="ctr">
            <a:normAutofit/>
          </a:bodyPr>
          <a:lstStyle/>
          <a:p>
            <a:pPr indent="0" marL="0">
              <a:buNone/>
            </a:pPr>
            <a:r>
              <a:rPr lang="en-US" sz="1180" b="1" dirty="0">
                <a:solidFill>
                  <a:srgbClr val="1F4E79"/>
                </a:solidFill>
              </a:rPr>
              <a:t>Compose path with local LLM and citations</a:t>
            </a:r>
            <a:endParaRPr lang="en-US" sz="1180" dirty="0"/>
          </a:p>
        </p:txBody>
      </p:sp>
      <p:sp>
        <p:nvSpPr>
          <p:cNvPr id="29" name="Shape 27"/>
          <p:cNvSpPr/>
          <p:nvPr/>
        </p:nvSpPr>
        <p:spPr>
          <a:xfrm>
            <a:off x="658368" y="4791456"/>
            <a:ext cx="10972800" cy="0"/>
          </a:xfrm>
          <a:prstGeom prst="line">
            <a:avLst/>
          </a:prstGeom>
          <a:noFill/>
          <a:ln w="6350">
            <a:solidFill>
              <a:srgbClr val="E5E7EB"/>
            </a:solidFill>
            <a:prstDash val="solid"/>
          </a:ln>
        </p:spPr>
      </p:sp>
      <p:sp>
        <p:nvSpPr>
          <p:cNvPr id="30" name="Text 28"/>
          <p:cNvSpPr/>
          <p:nvPr/>
        </p:nvSpPr>
        <p:spPr>
          <a:xfrm>
            <a:off x="786384" y="4402836"/>
            <a:ext cx="4572000" cy="283464"/>
          </a:xfrm>
          <a:prstGeom prst="rect">
            <a:avLst/>
          </a:prstGeom>
          <a:noFill/>
          <a:ln/>
        </p:spPr>
        <p:txBody>
          <a:bodyPr wrap="square" lIns="508" tIns="508" rIns="508" bIns="508" rtlCol="0" anchor="ctr">
            <a:normAutofit/>
          </a:bodyPr>
          <a:lstStyle/>
          <a:p>
            <a:pPr indent="0" marL="0">
              <a:buNone/>
            </a:pPr>
            <a:r>
              <a:rPr lang="en-US" sz="1180" b="1" dirty="0">
                <a:solidFill>
                  <a:srgbClr val="334155"/>
                </a:solidFill>
              </a:rPr>
              <a:t>Need safe failure</a:t>
            </a:r>
            <a:endParaRPr lang="en-US" sz="1180" dirty="0"/>
          </a:p>
        </p:txBody>
      </p:sp>
      <p:sp>
        <p:nvSpPr>
          <p:cNvPr id="31" name="Shape 29"/>
          <p:cNvSpPr/>
          <p:nvPr/>
        </p:nvSpPr>
        <p:spPr>
          <a:xfrm>
            <a:off x="5577840" y="4581144"/>
            <a:ext cx="493776" cy="0"/>
          </a:xfrm>
          <a:prstGeom prst="line">
            <a:avLst/>
          </a:prstGeom>
          <a:noFill/>
          <a:ln w="12700">
            <a:solidFill>
              <a:srgbClr val="64748B"/>
            </a:solidFill>
            <a:prstDash val="solid"/>
            <a:headEnd type="none"/>
            <a:tailEnd type="triangle"/>
          </a:ln>
        </p:spPr>
      </p:sp>
      <p:sp>
        <p:nvSpPr>
          <p:cNvPr id="32" name="Text 30"/>
          <p:cNvSpPr/>
          <p:nvPr/>
        </p:nvSpPr>
        <p:spPr>
          <a:xfrm>
            <a:off x="6327648" y="4402836"/>
            <a:ext cx="5120640" cy="283464"/>
          </a:xfrm>
          <a:prstGeom prst="rect">
            <a:avLst/>
          </a:prstGeom>
          <a:noFill/>
          <a:ln/>
        </p:spPr>
        <p:txBody>
          <a:bodyPr wrap="square" lIns="508" tIns="508" rIns="508" bIns="508" rtlCol="0" anchor="ctr">
            <a:normAutofit/>
          </a:bodyPr>
          <a:lstStyle/>
          <a:p>
            <a:pPr indent="0" marL="0">
              <a:buNone/>
            </a:pPr>
            <a:r>
              <a:rPr lang="en-US" sz="1180" b="1" dirty="0">
                <a:solidFill>
                  <a:srgbClr val="1F4E79"/>
                </a:solidFill>
              </a:rPr>
              <a:t>Refusal / cited hand-off when evidence is insufficient</a:t>
            </a:r>
            <a:endParaRPr lang="en-US" sz="1180" dirty="0"/>
          </a:p>
        </p:txBody>
      </p:sp>
      <p:sp>
        <p:nvSpPr>
          <p:cNvPr id="33" name="Shape 31"/>
          <p:cNvSpPr/>
          <p:nvPr/>
        </p:nvSpPr>
        <p:spPr>
          <a:xfrm>
            <a:off x="658368" y="5321808"/>
            <a:ext cx="10972800" cy="0"/>
          </a:xfrm>
          <a:prstGeom prst="line">
            <a:avLst/>
          </a:prstGeom>
          <a:noFill/>
          <a:ln w="6350">
            <a:solidFill>
              <a:srgbClr val="E5E7EB"/>
            </a:solidFill>
            <a:prstDash val="solid"/>
          </a:ln>
        </p:spPr>
      </p:sp>
      <p:sp>
        <p:nvSpPr>
          <p:cNvPr id="34" name="Text 32"/>
          <p:cNvSpPr/>
          <p:nvPr/>
        </p:nvSpPr>
        <p:spPr>
          <a:xfrm>
            <a:off x="786384" y="4933188"/>
            <a:ext cx="4572000" cy="283464"/>
          </a:xfrm>
          <a:prstGeom prst="rect">
            <a:avLst/>
          </a:prstGeom>
          <a:noFill/>
          <a:ln/>
        </p:spPr>
        <p:txBody>
          <a:bodyPr wrap="square" lIns="508" tIns="508" rIns="508" bIns="508" rtlCol="0" anchor="ctr">
            <a:normAutofit/>
          </a:bodyPr>
          <a:lstStyle/>
          <a:p>
            <a:pPr indent="0" marL="0">
              <a:buNone/>
            </a:pPr>
            <a:r>
              <a:rPr lang="en-US" sz="1180" b="1" dirty="0">
                <a:solidFill>
                  <a:srgbClr val="334155"/>
                </a:solidFill>
              </a:rPr>
              <a:t>Need future image support</a:t>
            </a:r>
            <a:endParaRPr lang="en-US" sz="1180" dirty="0"/>
          </a:p>
        </p:txBody>
      </p:sp>
      <p:sp>
        <p:nvSpPr>
          <p:cNvPr id="35" name="Shape 33"/>
          <p:cNvSpPr/>
          <p:nvPr/>
        </p:nvSpPr>
        <p:spPr>
          <a:xfrm>
            <a:off x="5577840" y="5111496"/>
            <a:ext cx="493776" cy="0"/>
          </a:xfrm>
          <a:prstGeom prst="line">
            <a:avLst/>
          </a:prstGeom>
          <a:noFill/>
          <a:ln w="12700">
            <a:solidFill>
              <a:srgbClr val="64748B"/>
            </a:solidFill>
            <a:prstDash val="solid"/>
            <a:headEnd type="none"/>
            <a:tailEnd type="triangle"/>
          </a:ln>
        </p:spPr>
      </p:sp>
      <p:sp>
        <p:nvSpPr>
          <p:cNvPr id="36" name="Text 34"/>
          <p:cNvSpPr/>
          <p:nvPr/>
        </p:nvSpPr>
        <p:spPr>
          <a:xfrm>
            <a:off x="6327648" y="4933188"/>
            <a:ext cx="5120640" cy="283464"/>
          </a:xfrm>
          <a:prstGeom prst="rect">
            <a:avLst/>
          </a:prstGeom>
          <a:noFill/>
          <a:ln/>
        </p:spPr>
        <p:txBody>
          <a:bodyPr wrap="square" lIns="508" tIns="508" rIns="508" bIns="508" rtlCol="0" anchor="ctr">
            <a:normAutofit/>
          </a:bodyPr>
          <a:lstStyle/>
          <a:p>
            <a:pPr indent="0" marL="0">
              <a:buNone/>
            </a:pPr>
            <a:r>
              <a:rPr lang="en-US" sz="1180" b="1" dirty="0">
                <a:solidFill>
                  <a:srgbClr val="1F4E79"/>
                </a:solidFill>
              </a:rPr>
              <a:t>Vision extracts observations; product choice stays in existing pipeline</a:t>
            </a:r>
            <a:endParaRPr lang="en-US" sz="1180" dirty="0"/>
          </a:p>
        </p:txBody>
      </p:sp>
      <p:sp>
        <p:nvSpPr>
          <p:cNvPr id="37" name="Shape 35"/>
          <p:cNvSpPr/>
          <p:nvPr/>
        </p:nvSpPr>
        <p:spPr>
          <a:xfrm>
            <a:off x="960120" y="5504688"/>
            <a:ext cx="9875520" cy="475488"/>
          </a:xfrm>
          <a:prstGeom prst="roundRect">
            <a:avLst>
              <a:gd name="adj" fmla="val 15385"/>
            </a:avLst>
          </a:prstGeom>
          <a:solidFill>
            <a:srgbClr val="CCFBF1"/>
          </a:solidFill>
          <a:ln w="12700">
            <a:solidFill>
              <a:srgbClr val="0E7C7B"/>
            </a:solidFill>
            <a:prstDash val="solid"/>
          </a:ln>
        </p:spPr>
      </p:sp>
      <p:sp>
        <p:nvSpPr>
          <p:cNvPr id="38" name="Text 36"/>
          <p:cNvSpPr/>
          <p:nvPr/>
        </p:nvSpPr>
        <p:spPr>
          <a:xfrm>
            <a:off x="1106424" y="5550408"/>
            <a:ext cx="9582912" cy="384048"/>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Architecture is the consequence of the requirements, not a diagram drawn after the code.</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Architecture revealed: the knowledge pipeline</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How Lime Green content becomes an auditable, searchable knowledge base.</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502920" y="1965960"/>
            <a:ext cx="1508760" cy="731520"/>
          </a:xfrm>
          <a:prstGeom prst="roundRect">
            <a:avLst>
              <a:gd name="adj" fmla="val 10000"/>
            </a:avLst>
          </a:prstGeom>
          <a:solidFill>
            <a:srgbClr val="DBEAFE"/>
          </a:solidFill>
          <a:ln w="12700">
            <a:solidFill>
              <a:srgbClr val="1F4E79"/>
            </a:solidFill>
            <a:prstDash val="solid"/>
          </a:ln>
        </p:spPr>
      </p:sp>
      <p:sp>
        <p:nvSpPr>
          <p:cNvPr id="6" name="Text 4"/>
          <p:cNvSpPr/>
          <p:nvPr/>
        </p:nvSpPr>
        <p:spPr>
          <a:xfrm>
            <a:off x="649224" y="2075688"/>
            <a:ext cx="1216152" cy="256032"/>
          </a:xfrm>
          <a:prstGeom prst="rect">
            <a:avLst/>
          </a:prstGeom>
          <a:noFill/>
          <a:ln/>
        </p:spPr>
        <p:txBody>
          <a:bodyPr wrap="square" lIns="0" tIns="0" rIns="0" bIns="0" rtlCol="0" anchor="ctr">
            <a:normAutofit/>
          </a:bodyPr>
          <a:lstStyle/>
          <a:p>
            <a:pPr indent="0" marL="0">
              <a:buNone/>
            </a:pPr>
            <a:r>
              <a:rPr lang="en-US" sz="1300" b="1" dirty="0">
                <a:solidFill>
                  <a:srgbClr val="0B1F3A"/>
                </a:solidFill>
              </a:rPr>
              <a:t>Sources</a:t>
            </a:r>
            <a:endParaRPr lang="en-US" sz="1300" dirty="0"/>
          </a:p>
        </p:txBody>
      </p:sp>
      <p:sp>
        <p:nvSpPr>
          <p:cNvPr id="7" name="Text 5"/>
          <p:cNvSpPr/>
          <p:nvPr/>
        </p:nvSpPr>
        <p:spPr>
          <a:xfrm>
            <a:off x="649224" y="2386584"/>
            <a:ext cx="121615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website + staff</a:t>
            </a:r>
            <a:endParaRPr lang="en-US" sz="880" dirty="0"/>
          </a:p>
        </p:txBody>
      </p:sp>
      <p:sp>
        <p:nvSpPr>
          <p:cNvPr id="8" name="Shape 6"/>
          <p:cNvSpPr/>
          <p:nvPr/>
        </p:nvSpPr>
        <p:spPr>
          <a:xfrm>
            <a:off x="2148840" y="2331720"/>
            <a:ext cx="429768" cy="0"/>
          </a:xfrm>
          <a:prstGeom prst="line">
            <a:avLst/>
          </a:prstGeom>
          <a:noFill/>
          <a:ln w="16510">
            <a:solidFill>
              <a:srgbClr val="64748B"/>
            </a:solidFill>
            <a:prstDash val="solid"/>
            <a:headEnd type="none"/>
            <a:tailEnd type="triangle"/>
          </a:ln>
        </p:spPr>
      </p:sp>
      <p:sp>
        <p:nvSpPr>
          <p:cNvPr id="9" name="Shape 7"/>
          <p:cNvSpPr/>
          <p:nvPr/>
        </p:nvSpPr>
        <p:spPr>
          <a:xfrm>
            <a:off x="2697480" y="1965960"/>
            <a:ext cx="1508760" cy="731520"/>
          </a:xfrm>
          <a:prstGeom prst="roundRect">
            <a:avLst>
              <a:gd name="adj" fmla="val 10000"/>
            </a:avLst>
          </a:prstGeom>
          <a:solidFill>
            <a:srgbClr val="FEF3C7"/>
          </a:solidFill>
          <a:ln w="12700">
            <a:solidFill>
              <a:srgbClr val="F59E0B"/>
            </a:solidFill>
            <a:prstDash val="solid"/>
          </a:ln>
        </p:spPr>
      </p:sp>
      <p:sp>
        <p:nvSpPr>
          <p:cNvPr id="10" name="Text 8"/>
          <p:cNvSpPr/>
          <p:nvPr/>
        </p:nvSpPr>
        <p:spPr>
          <a:xfrm>
            <a:off x="2843784" y="2075688"/>
            <a:ext cx="1216152" cy="256032"/>
          </a:xfrm>
          <a:prstGeom prst="rect">
            <a:avLst/>
          </a:prstGeom>
          <a:noFill/>
          <a:ln/>
        </p:spPr>
        <p:txBody>
          <a:bodyPr wrap="square" lIns="0" tIns="0" rIns="0" bIns="0" rtlCol="0" anchor="ctr">
            <a:normAutofit/>
          </a:bodyPr>
          <a:lstStyle/>
          <a:p>
            <a:pPr indent="0" marL="0">
              <a:buNone/>
            </a:pPr>
            <a:r>
              <a:rPr lang="en-US" sz="1300" b="1" dirty="0">
                <a:solidFill>
                  <a:srgbClr val="0B1F3A"/>
                </a:solidFill>
              </a:rPr>
              <a:t>Change</a:t>
            </a:r>
            <a:endParaRPr lang="en-US" sz="1300" dirty="0"/>
          </a:p>
        </p:txBody>
      </p:sp>
      <p:sp>
        <p:nvSpPr>
          <p:cNvPr id="11" name="Text 9"/>
          <p:cNvSpPr/>
          <p:nvPr/>
        </p:nvSpPr>
        <p:spPr>
          <a:xfrm>
            <a:off x="2843784" y="2386584"/>
            <a:ext cx="121615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lastmod + hash</a:t>
            </a:r>
            <a:endParaRPr lang="en-US" sz="880" dirty="0"/>
          </a:p>
        </p:txBody>
      </p:sp>
      <p:sp>
        <p:nvSpPr>
          <p:cNvPr id="12" name="Shape 10"/>
          <p:cNvSpPr/>
          <p:nvPr/>
        </p:nvSpPr>
        <p:spPr>
          <a:xfrm>
            <a:off x="4343400" y="2331720"/>
            <a:ext cx="429768" cy="0"/>
          </a:xfrm>
          <a:prstGeom prst="line">
            <a:avLst/>
          </a:prstGeom>
          <a:noFill/>
          <a:ln w="16510">
            <a:solidFill>
              <a:srgbClr val="64748B"/>
            </a:solidFill>
            <a:prstDash val="solid"/>
            <a:headEnd type="none"/>
            <a:tailEnd type="triangle"/>
          </a:ln>
        </p:spPr>
      </p:sp>
      <p:sp>
        <p:nvSpPr>
          <p:cNvPr id="13" name="Shape 11"/>
          <p:cNvSpPr/>
          <p:nvPr/>
        </p:nvSpPr>
        <p:spPr>
          <a:xfrm>
            <a:off x="4892040" y="1965960"/>
            <a:ext cx="1508760" cy="731520"/>
          </a:xfrm>
          <a:prstGeom prst="roundRect">
            <a:avLst>
              <a:gd name="adj" fmla="val 10000"/>
            </a:avLst>
          </a:prstGeom>
          <a:solidFill>
            <a:srgbClr val="DCFCE7"/>
          </a:solidFill>
          <a:ln w="12700">
            <a:solidFill>
              <a:srgbClr val="2E7D32"/>
            </a:solidFill>
            <a:prstDash val="solid"/>
          </a:ln>
        </p:spPr>
      </p:sp>
      <p:sp>
        <p:nvSpPr>
          <p:cNvPr id="14" name="Text 12"/>
          <p:cNvSpPr/>
          <p:nvPr/>
        </p:nvSpPr>
        <p:spPr>
          <a:xfrm>
            <a:off x="5038344" y="2075688"/>
            <a:ext cx="1216152" cy="256032"/>
          </a:xfrm>
          <a:prstGeom prst="rect">
            <a:avLst/>
          </a:prstGeom>
          <a:noFill/>
          <a:ln/>
        </p:spPr>
        <p:txBody>
          <a:bodyPr wrap="square" lIns="0" tIns="0" rIns="0" bIns="0" rtlCol="0" anchor="ctr">
            <a:normAutofit/>
          </a:bodyPr>
          <a:lstStyle/>
          <a:p>
            <a:pPr indent="0" marL="0">
              <a:buNone/>
            </a:pPr>
            <a:r>
              <a:rPr lang="en-US" sz="1300" b="1" dirty="0">
                <a:solidFill>
                  <a:srgbClr val="0B1F3A"/>
                </a:solidFill>
              </a:rPr>
              <a:t>Index</a:t>
            </a:r>
            <a:endParaRPr lang="en-US" sz="1300" dirty="0"/>
          </a:p>
        </p:txBody>
      </p:sp>
      <p:sp>
        <p:nvSpPr>
          <p:cNvPr id="15" name="Text 13"/>
          <p:cNvSpPr/>
          <p:nvPr/>
        </p:nvSpPr>
        <p:spPr>
          <a:xfrm>
            <a:off x="5038344" y="2386584"/>
            <a:ext cx="121615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extract + chunk</a:t>
            </a:r>
            <a:endParaRPr lang="en-US" sz="880" dirty="0"/>
          </a:p>
        </p:txBody>
      </p:sp>
      <p:sp>
        <p:nvSpPr>
          <p:cNvPr id="16" name="Shape 14"/>
          <p:cNvSpPr/>
          <p:nvPr/>
        </p:nvSpPr>
        <p:spPr>
          <a:xfrm>
            <a:off x="6537960" y="2331720"/>
            <a:ext cx="429768" cy="0"/>
          </a:xfrm>
          <a:prstGeom prst="line">
            <a:avLst/>
          </a:prstGeom>
          <a:noFill/>
          <a:ln w="16510">
            <a:solidFill>
              <a:srgbClr val="64748B"/>
            </a:solidFill>
            <a:prstDash val="solid"/>
            <a:headEnd type="none"/>
            <a:tailEnd type="triangle"/>
          </a:ln>
        </p:spPr>
      </p:sp>
      <p:sp>
        <p:nvSpPr>
          <p:cNvPr id="17" name="Shape 15"/>
          <p:cNvSpPr/>
          <p:nvPr/>
        </p:nvSpPr>
        <p:spPr>
          <a:xfrm>
            <a:off x="7086600" y="1965960"/>
            <a:ext cx="1691640" cy="731520"/>
          </a:xfrm>
          <a:prstGeom prst="roundRect">
            <a:avLst>
              <a:gd name="adj" fmla="val 10000"/>
            </a:avLst>
          </a:prstGeom>
          <a:solidFill>
            <a:srgbClr val="EDE9FE"/>
          </a:solidFill>
          <a:ln w="12700">
            <a:solidFill>
              <a:srgbClr val="6B4E9E"/>
            </a:solidFill>
            <a:prstDash val="solid"/>
          </a:ln>
        </p:spPr>
      </p:sp>
      <p:sp>
        <p:nvSpPr>
          <p:cNvPr id="18" name="Text 16"/>
          <p:cNvSpPr/>
          <p:nvPr/>
        </p:nvSpPr>
        <p:spPr>
          <a:xfrm>
            <a:off x="7232904" y="2075688"/>
            <a:ext cx="1399032" cy="256032"/>
          </a:xfrm>
          <a:prstGeom prst="rect">
            <a:avLst/>
          </a:prstGeom>
          <a:noFill/>
          <a:ln/>
        </p:spPr>
        <p:txBody>
          <a:bodyPr wrap="square" lIns="0" tIns="0" rIns="0" bIns="0" rtlCol="0" anchor="ctr">
            <a:normAutofit/>
          </a:bodyPr>
          <a:lstStyle/>
          <a:p>
            <a:pPr indent="0" marL="0">
              <a:buNone/>
            </a:pPr>
            <a:r>
              <a:rPr lang="en-US" sz="1300" b="1" dirty="0">
                <a:solidFill>
                  <a:srgbClr val="0B1F3A"/>
                </a:solidFill>
              </a:rPr>
              <a:t>Embeddings</a:t>
            </a:r>
            <a:endParaRPr lang="en-US" sz="1300" dirty="0"/>
          </a:p>
        </p:txBody>
      </p:sp>
      <p:sp>
        <p:nvSpPr>
          <p:cNvPr id="19" name="Text 17"/>
          <p:cNvSpPr/>
          <p:nvPr/>
        </p:nvSpPr>
        <p:spPr>
          <a:xfrm>
            <a:off x="7232904" y="2386584"/>
            <a:ext cx="139903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local model</a:t>
            </a:r>
            <a:endParaRPr lang="en-US" sz="880" dirty="0"/>
          </a:p>
        </p:txBody>
      </p:sp>
      <p:sp>
        <p:nvSpPr>
          <p:cNvPr id="20" name="Shape 18"/>
          <p:cNvSpPr/>
          <p:nvPr/>
        </p:nvSpPr>
        <p:spPr>
          <a:xfrm>
            <a:off x="8915400" y="2331720"/>
            <a:ext cx="429768" cy="0"/>
          </a:xfrm>
          <a:prstGeom prst="line">
            <a:avLst/>
          </a:prstGeom>
          <a:noFill/>
          <a:ln w="16510">
            <a:solidFill>
              <a:srgbClr val="64748B"/>
            </a:solidFill>
            <a:prstDash val="solid"/>
            <a:headEnd type="none"/>
            <a:tailEnd type="triangle"/>
          </a:ln>
        </p:spPr>
      </p:sp>
      <p:sp>
        <p:nvSpPr>
          <p:cNvPr id="21" name="Shape 19"/>
          <p:cNvSpPr/>
          <p:nvPr/>
        </p:nvSpPr>
        <p:spPr>
          <a:xfrm>
            <a:off x="9464040" y="1965960"/>
            <a:ext cx="1920240" cy="731520"/>
          </a:xfrm>
          <a:prstGeom prst="roundRect">
            <a:avLst>
              <a:gd name="adj" fmla="val 10000"/>
            </a:avLst>
          </a:prstGeom>
          <a:solidFill>
            <a:srgbClr val="CCFBF1"/>
          </a:solidFill>
          <a:ln w="12700">
            <a:solidFill>
              <a:srgbClr val="0E7C7B"/>
            </a:solidFill>
            <a:prstDash val="solid"/>
          </a:ln>
        </p:spPr>
      </p:sp>
      <p:sp>
        <p:nvSpPr>
          <p:cNvPr id="22" name="Text 20"/>
          <p:cNvSpPr/>
          <p:nvPr/>
        </p:nvSpPr>
        <p:spPr>
          <a:xfrm>
            <a:off x="9610344" y="2075688"/>
            <a:ext cx="1627632" cy="256032"/>
          </a:xfrm>
          <a:prstGeom prst="rect">
            <a:avLst/>
          </a:prstGeom>
          <a:noFill/>
          <a:ln/>
        </p:spPr>
        <p:txBody>
          <a:bodyPr wrap="square" lIns="0" tIns="0" rIns="0" bIns="0" rtlCol="0" anchor="ctr">
            <a:normAutofit/>
          </a:bodyPr>
          <a:lstStyle/>
          <a:p>
            <a:pPr indent="0" marL="0">
              <a:buNone/>
            </a:pPr>
            <a:r>
              <a:rPr lang="en-US" sz="1300" b="1" dirty="0">
                <a:solidFill>
                  <a:srgbClr val="0B1F3A"/>
                </a:solidFill>
              </a:rPr>
              <a:t>Snapshot</a:t>
            </a:r>
            <a:endParaRPr lang="en-US" sz="1300" dirty="0"/>
          </a:p>
        </p:txBody>
      </p:sp>
      <p:sp>
        <p:nvSpPr>
          <p:cNvPr id="23" name="Text 21"/>
          <p:cNvSpPr/>
          <p:nvPr/>
        </p:nvSpPr>
        <p:spPr>
          <a:xfrm>
            <a:off x="9610344" y="2386584"/>
            <a:ext cx="162763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atomic publish</a:t>
            </a:r>
            <a:endParaRPr lang="en-US" sz="880" dirty="0"/>
          </a:p>
        </p:txBody>
      </p:sp>
      <p:sp>
        <p:nvSpPr>
          <p:cNvPr id="24" name="Shape 22"/>
          <p:cNvSpPr/>
          <p:nvPr/>
        </p:nvSpPr>
        <p:spPr>
          <a:xfrm>
            <a:off x="1097280" y="3703320"/>
            <a:ext cx="4572000" cy="1143000"/>
          </a:xfrm>
          <a:prstGeom prst="roundRect">
            <a:avLst>
              <a:gd name="adj" fmla="val 6400"/>
            </a:avLst>
          </a:prstGeom>
          <a:solidFill>
            <a:srgbClr val="FFFFFF"/>
          </a:solidFill>
          <a:ln w="12700">
            <a:solidFill>
              <a:srgbClr val="E2E8F0"/>
            </a:solidFill>
            <a:prstDash val="solid"/>
          </a:ln>
        </p:spPr>
      </p:sp>
      <p:sp>
        <p:nvSpPr>
          <p:cNvPr id="25" name="Text 23"/>
          <p:cNvSpPr/>
          <p:nvPr/>
        </p:nvSpPr>
        <p:spPr>
          <a:xfrm>
            <a:off x="1243584" y="3813048"/>
            <a:ext cx="427939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Why this exists</a:t>
            </a:r>
            <a:endParaRPr lang="en-US" sz="1600" dirty="0"/>
          </a:p>
        </p:txBody>
      </p:sp>
      <p:sp>
        <p:nvSpPr>
          <p:cNvPr id="26" name="Text 24"/>
          <p:cNvSpPr/>
          <p:nvPr/>
        </p:nvSpPr>
        <p:spPr>
          <a:xfrm>
            <a:off x="1243584" y="4123944"/>
            <a:ext cx="4279392" cy="612648"/>
          </a:xfrm>
          <a:prstGeom prst="rect">
            <a:avLst/>
          </a:prstGeom>
          <a:noFill/>
          <a:ln/>
        </p:spPr>
        <p:txBody>
          <a:bodyPr wrap="square" lIns="127" tIns="127" rIns="127" bIns="127" rtlCol="0" anchor="t">
            <a:normAutofit/>
          </a:bodyPr>
          <a:lstStyle/>
          <a:p>
            <a:pPr indent="0" marL="0">
              <a:buNone/>
            </a:pPr>
            <a:r>
              <a:rPr lang="en-US" sz="1200" dirty="0">
                <a:solidFill>
                  <a:srgbClr val="334155"/>
                </a:solidFill>
              </a:rPr>
              <a:t>Technical documents change, and a RAG system must not mix old and new specifications. Delta ingestion keeps the index fresh without reprocessing unchanged documents.</a:t>
            </a:r>
            <a:endParaRPr lang="en-US" sz="1200" dirty="0"/>
          </a:p>
        </p:txBody>
      </p:sp>
      <p:sp>
        <p:nvSpPr>
          <p:cNvPr id="27" name="Shape 25"/>
          <p:cNvSpPr/>
          <p:nvPr/>
        </p:nvSpPr>
        <p:spPr>
          <a:xfrm>
            <a:off x="6537960" y="3703320"/>
            <a:ext cx="4572000" cy="1143000"/>
          </a:xfrm>
          <a:prstGeom prst="roundRect">
            <a:avLst>
              <a:gd name="adj" fmla="val 6400"/>
            </a:avLst>
          </a:prstGeom>
          <a:solidFill>
            <a:srgbClr val="FFFFFF"/>
          </a:solidFill>
          <a:ln w="12700">
            <a:solidFill>
              <a:srgbClr val="E2E8F0"/>
            </a:solidFill>
            <a:prstDash val="solid"/>
          </a:ln>
        </p:spPr>
      </p:sp>
      <p:sp>
        <p:nvSpPr>
          <p:cNvPr id="28" name="Text 26"/>
          <p:cNvSpPr/>
          <p:nvPr/>
        </p:nvSpPr>
        <p:spPr>
          <a:xfrm>
            <a:off x="6684264" y="3813048"/>
            <a:ext cx="427939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What this proves</a:t>
            </a:r>
            <a:endParaRPr lang="en-US" sz="1600" dirty="0"/>
          </a:p>
        </p:txBody>
      </p:sp>
      <p:sp>
        <p:nvSpPr>
          <p:cNvPr id="29" name="Text 27"/>
          <p:cNvSpPr/>
          <p:nvPr/>
        </p:nvSpPr>
        <p:spPr>
          <a:xfrm>
            <a:off x="6684264" y="4123944"/>
            <a:ext cx="4279392" cy="612648"/>
          </a:xfrm>
          <a:prstGeom prst="rect">
            <a:avLst/>
          </a:prstGeom>
          <a:noFill/>
          <a:ln/>
        </p:spPr>
        <p:txBody>
          <a:bodyPr wrap="square" lIns="127" tIns="127" rIns="127" bIns="127" rtlCol="0" anchor="t">
            <a:normAutofit/>
          </a:bodyPr>
          <a:lstStyle/>
          <a:p>
            <a:pPr indent="0" marL="0">
              <a:buNone/>
            </a:pPr>
            <a:r>
              <a:rPr lang="en-US" sz="1200" dirty="0">
                <a:solidFill>
                  <a:srgbClr val="334155"/>
                </a:solidFill>
              </a:rPr>
              <a:t>The system has a controlled publishing model: source evidence, versions, active snapshot, and a way to explain which knowledge was used for each answer.</a:t>
            </a:r>
            <a:endParaRPr lang="en-US" sz="120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Architecture revealed: the answering pipeline</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How a question becomes extract, compose, refusal or hand-off.</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594360" y="1371600"/>
            <a:ext cx="1828800" cy="731520"/>
          </a:xfrm>
          <a:prstGeom prst="roundRect">
            <a:avLst>
              <a:gd name="adj" fmla="val 10000"/>
            </a:avLst>
          </a:prstGeom>
          <a:solidFill>
            <a:srgbClr val="FEF3C7"/>
          </a:solidFill>
          <a:ln w="12700">
            <a:solidFill>
              <a:srgbClr val="F59E0B"/>
            </a:solidFill>
            <a:prstDash val="solid"/>
          </a:ln>
        </p:spPr>
      </p:sp>
      <p:sp>
        <p:nvSpPr>
          <p:cNvPr id="6" name="Text 4"/>
          <p:cNvSpPr/>
          <p:nvPr/>
        </p:nvSpPr>
        <p:spPr>
          <a:xfrm>
            <a:off x="740664" y="1481328"/>
            <a:ext cx="153619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Question</a:t>
            </a:r>
            <a:endParaRPr lang="en-US" sz="1400" dirty="0"/>
          </a:p>
        </p:txBody>
      </p:sp>
      <p:sp>
        <p:nvSpPr>
          <p:cNvPr id="7" name="Text 5"/>
          <p:cNvSpPr/>
          <p:nvPr/>
        </p:nvSpPr>
        <p:spPr>
          <a:xfrm>
            <a:off x="740664" y="1792224"/>
            <a:ext cx="153619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from CLI/UI/web</a:t>
            </a:r>
            <a:endParaRPr lang="en-US" sz="880" dirty="0"/>
          </a:p>
        </p:txBody>
      </p:sp>
      <p:sp>
        <p:nvSpPr>
          <p:cNvPr id="8" name="Shape 6"/>
          <p:cNvSpPr/>
          <p:nvPr/>
        </p:nvSpPr>
        <p:spPr>
          <a:xfrm>
            <a:off x="2560320" y="1737360"/>
            <a:ext cx="411480" cy="0"/>
          </a:xfrm>
          <a:prstGeom prst="line">
            <a:avLst/>
          </a:prstGeom>
          <a:noFill/>
          <a:ln w="16510">
            <a:solidFill>
              <a:srgbClr val="64748B"/>
            </a:solidFill>
            <a:prstDash val="solid"/>
            <a:headEnd type="none"/>
            <a:tailEnd type="triangle"/>
          </a:ln>
        </p:spPr>
      </p:sp>
      <p:sp>
        <p:nvSpPr>
          <p:cNvPr id="9" name="Shape 7"/>
          <p:cNvSpPr/>
          <p:nvPr/>
        </p:nvSpPr>
        <p:spPr>
          <a:xfrm>
            <a:off x="3090672" y="1371600"/>
            <a:ext cx="1828800" cy="731520"/>
          </a:xfrm>
          <a:prstGeom prst="roundRect">
            <a:avLst>
              <a:gd name="adj" fmla="val 10000"/>
            </a:avLst>
          </a:prstGeom>
          <a:solidFill>
            <a:srgbClr val="CCFBF1"/>
          </a:solidFill>
          <a:ln w="12700">
            <a:solidFill>
              <a:srgbClr val="0E7C7B"/>
            </a:solidFill>
            <a:prstDash val="solid"/>
          </a:ln>
        </p:spPr>
      </p:sp>
      <p:sp>
        <p:nvSpPr>
          <p:cNvPr id="10" name="Text 8"/>
          <p:cNvSpPr/>
          <p:nvPr/>
        </p:nvSpPr>
        <p:spPr>
          <a:xfrm>
            <a:off x="3236976" y="1481328"/>
            <a:ext cx="153619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Audience</a:t>
            </a:r>
            <a:endParaRPr lang="en-US" sz="1400" dirty="0"/>
          </a:p>
        </p:txBody>
      </p:sp>
      <p:sp>
        <p:nvSpPr>
          <p:cNvPr id="11" name="Text 9"/>
          <p:cNvSpPr/>
          <p:nvPr/>
        </p:nvSpPr>
        <p:spPr>
          <a:xfrm>
            <a:off x="3236976" y="1792224"/>
            <a:ext cx="153619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public/trade/staff</a:t>
            </a:r>
            <a:endParaRPr lang="en-US" sz="880" dirty="0"/>
          </a:p>
        </p:txBody>
      </p:sp>
      <p:sp>
        <p:nvSpPr>
          <p:cNvPr id="12" name="Shape 10"/>
          <p:cNvSpPr/>
          <p:nvPr/>
        </p:nvSpPr>
        <p:spPr>
          <a:xfrm>
            <a:off x="5047488" y="1737360"/>
            <a:ext cx="420624" cy="0"/>
          </a:xfrm>
          <a:prstGeom prst="line">
            <a:avLst/>
          </a:prstGeom>
          <a:noFill/>
          <a:ln w="16510">
            <a:solidFill>
              <a:srgbClr val="64748B"/>
            </a:solidFill>
            <a:prstDash val="solid"/>
            <a:headEnd type="none"/>
            <a:tailEnd type="triangle"/>
          </a:ln>
        </p:spPr>
      </p:sp>
      <p:sp>
        <p:nvSpPr>
          <p:cNvPr id="13" name="Shape 11"/>
          <p:cNvSpPr/>
          <p:nvPr/>
        </p:nvSpPr>
        <p:spPr>
          <a:xfrm>
            <a:off x="5577840" y="1371600"/>
            <a:ext cx="1828800" cy="731520"/>
          </a:xfrm>
          <a:prstGeom prst="roundRect">
            <a:avLst>
              <a:gd name="adj" fmla="val 10000"/>
            </a:avLst>
          </a:prstGeom>
          <a:solidFill>
            <a:srgbClr val="DCFCE7"/>
          </a:solidFill>
          <a:ln w="12700">
            <a:solidFill>
              <a:srgbClr val="2E7D32"/>
            </a:solidFill>
            <a:prstDash val="solid"/>
          </a:ln>
        </p:spPr>
      </p:sp>
      <p:sp>
        <p:nvSpPr>
          <p:cNvPr id="14" name="Text 12"/>
          <p:cNvSpPr/>
          <p:nvPr/>
        </p:nvSpPr>
        <p:spPr>
          <a:xfrm>
            <a:off x="5724144" y="1481328"/>
            <a:ext cx="153619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Retrieve</a:t>
            </a:r>
            <a:endParaRPr lang="en-US" sz="1400" dirty="0"/>
          </a:p>
        </p:txBody>
      </p:sp>
      <p:sp>
        <p:nvSpPr>
          <p:cNvPr id="15" name="Text 13"/>
          <p:cNvSpPr/>
          <p:nvPr/>
        </p:nvSpPr>
        <p:spPr>
          <a:xfrm>
            <a:off x="5724144" y="1792224"/>
            <a:ext cx="153619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current allowed evidence</a:t>
            </a:r>
            <a:endParaRPr lang="en-US" sz="880" dirty="0"/>
          </a:p>
        </p:txBody>
      </p:sp>
      <p:sp>
        <p:nvSpPr>
          <p:cNvPr id="16" name="Shape 14"/>
          <p:cNvSpPr/>
          <p:nvPr/>
        </p:nvSpPr>
        <p:spPr>
          <a:xfrm>
            <a:off x="7543800" y="1737360"/>
            <a:ext cx="411480" cy="0"/>
          </a:xfrm>
          <a:prstGeom prst="line">
            <a:avLst/>
          </a:prstGeom>
          <a:noFill/>
          <a:ln w="16510">
            <a:solidFill>
              <a:srgbClr val="64748B"/>
            </a:solidFill>
            <a:prstDash val="solid"/>
            <a:headEnd type="none"/>
            <a:tailEnd type="triangle"/>
          </a:ln>
        </p:spPr>
      </p:sp>
      <p:sp>
        <p:nvSpPr>
          <p:cNvPr id="17" name="Shape 15"/>
          <p:cNvSpPr/>
          <p:nvPr/>
        </p:nvSpPr>
        <p:spPr>
          <a:xfrm>
            <a:off x="8074152" y="1371600"/>
            <a:ext cx="1828800" cy="731520"/>
          </a:xfrm>
          <a:prstGeom prst="roundRect">
            <a:avLst>
              <a:gd name="adj" fmla="val 10000"/>
            </a:avLst>
          </a:prstGeom>
          <a:solidFill>
            <a:srgbClr val="EDE9FE"/>
          </a:solidFill>
          <a:ln w="12700">
            <a:solidFill>
              <a:srgbClr val="6B4E9E"/>
            </a:solidFill>
            <a:prstDash val="solid"/>
          </a:ln>
        </p:spPr>
      </p:sp>
      <p:sp>
        <p:nvSpPr>
          <p:cNvPr id="18" name="Text 16"/>
          <p:cNvSpPr/>
          <p:nvPr/>
        </p:nvSpPr>
        <p:spPr>
          <a:xfrm>
            <a:off x="8220456" y="1481328"/>
            <a:ext cx="153619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Router</a:t>
            </a:r>
            <a:endParaRPr lang="en-US" sz="1400" dirty="0"/>
          </a:p>
        </p:txBody>
      </p:sp>
      <p:sp>
        <p:nvSpPr>
          <p:cNvPr id="19" name="Text 17"/>
          <p:cNvSpPr/>
          <p:nvPr/>
        </p:nvSpPr>
        <p:spPr>
          <a:xfrm>
            <a:off x="8220456" y="1792224"/>
            <a:ext cx="153619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deterministic path</a:t>
            </a:r>
            <a:endParaRPr lang="en-US" sz="880" dirty="0"/>
          </a:p>
        </p:txBody>
      </p:sp>
      <p:sp>
        <p:nvSpPr>
          <p:cNvPr id="20" name="Shape 18"/>
          <p:cNvSpPr/>
          <p:nvPr/>
        </p:nvSpPr>
        <p:spPr>
          <a:xfrm>
            <a:off x="10040112" y="1737360"/>
            <a:ext cx="411480" cy="0"/>
          </a:xfrm>
          <a:prstGeom prst="line">
            <a:avLst/>
          </a:prstGeom>
          <a:noFill/>
          <a:ln w="16510">
            <a:solidFill>
              <a:srgbClr val="64748B"/>
            </a:solidFill>
            <a:prstDash val="solid"/>
            <a:headEnd type="none"/>
            <a:tailEnd type="triangle"/>
          </a:ln>
        </p:spPr>
      </p:sp>
      <p:sp>
        <p:nvSpPr>
          <p:cNvPr id="21" name="Shape 19"/>
          <p:cNvSpPr/>
          <p:nvPr/>
        </p:nvSpPr>
        <p:spPr>
          <a:xfrm>
            <a:off x="10561320" y="1371600"/>
            <a:ext cx="1097280" cy="731520"/>
          </a:xfrm>
          <a:prstGeom prst="roundRect">
            <a:avLst>
              <a:gd name="adj" fmla="val 10000"/>
            </a:avLst>
          </a:prstGeom>
          <a:solidFill>
            <a:srgbClr val="DBEAFE"/>
          </a:solidFill>
          <a:ln w="12700">
            <a:solidFill>
              <a:srgbClr val="1F4E79"/>
            </a:solidFill>
            <a:prstDash val="solid"/>
          </a:ln>
        </p:spPr>
      </p:sp>
      <p:sp>
        <p:nvSpPr>
          <p:cNvPr id="22" name="Text 20"/>
          <p:cNvSpPr/>
          <p:nvPr/>
        </p:nvSpPr>
        <p:spPr>
          <a:xfrm>
            <a:off x="10707624" y="1481328"/>
            <a:ext cx="804672" cy="256032"/>
          </a:xfrm>
          <a:prstGeom prst="rect">
            <a:avLst/>
          </a:prstGeom>
          <a:noFill/>
          <a:ln/>
        </p:spPr>
        <p:txBody>
          <a:bodyPr wrap="square" lIns="0" tIns="0" rIns="0" bIns="0" rtlCol="0" anchor="ctr">
            <a:normAutofit/>
          </a:bodyPr>
          <a:lstStyle/>
          <a:p>
            <a:pPr indent="0" marL="0">
              <a:buNone/>
            </a:pPr>
            <a:r>
              <a:rPr lang="en-US" sz="1300" b="1" dirty="0">
                <a:solidFill>
                  <a:srgbClr val="0B1F3A"/>
                </a:solidFill>
              </a:rPr>
              <a:t>Reply</a:t>
            </a:r>
            <a:endParaRPr lang="en-US" sz="1300" dirty="0"/>
          </a:p>
        </p:txBody>
      </p:sp>
      <p:sp>
        <p:nvSpPr>
          <p:cNvPr id="23" name="Text 21"/>
          <p:cNvSpPr/>
          <p:nvPr/>
        </p:nvSpPr>
        <p:spPr>
          <a:xfrm>
            <a:off x="10707624" y="1792224"/>
            <a:ext cx="804672" cy="201168"/>
          </a:xfrm>
          <a:prstGeom prst="rect">
            <a:avLst/>
          </a:prstGeom>
          <a:noFill/>
          <a:ln/>
        </p:spPr>
        <p:txBody>
          <a:bodyPr wrap="square" lIns="127" tIns="127" rIns="127" bIns="127" rtlCol="0" anchor="ctr">
            <a:normAutofit/>
          </a:bodyPr>
          <a:lstStyle/>
          <a:p>
            <a:pPr indent="0" marL="0">
              <a:buNone/>
            </a:pPr>
            <a:r>
              <a:rPr lang="en-US" sz="880" dirty="0">
                <a:solidFill>
                  <a:srgbClr val="334155"/>
                </a:solidFill>
              </a:rPr>
              <a:t>cited</a:t>
            </a:r>
            <a:endParaRPr lang="en-US" sz="880" dirty="0"/>
          </a:p>
        </p:txBody>
      </p:sp>
      <p:sp>
        <p:nvSpPr>
          <p:cNvPr id="24" name="Shape 22"/>
          <p:cNvSpPr/>
          <p:nvPr/>
        </p:nvSpPr>
        <p:spPr>
          <a:xfrm>
            <a:off x="777240" y="3063240"/>
            <a:ext cx="2286000" cy="914400"/>
          </a:xfrm>
          <a:prstGeom prst="roundRect">
            <a:avLst>
              <a:gd name="adj" fmla="val 8000"/>
            </a:avLst>
          </a:prstGeom>
          <a:solidFill>
            <a:srgbClr val="DCFCE7"/>
          </a:solidFill>
          <a:ln w="12700">
            <a:solidFill>
              <a:srgbClr val="2E7D32"/>
            </a:solidFill>
            <a:prstDash val="solid"/>
          </a:ln>
        </p:spPr>
      </p:sp>
      <p:sp>
        <p:nvSpPr>
          <p:cNvPr id="25" name="Text 23"/>
          <p:cNvSpPr/>
          <p:nvPr/>
        </p:nvSpPr>
        <p:spPr>
          <a:xfrm>
            <a:off x="923544" y="3172968"/>
            <a:ext cx="19933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Extract</a:t>
            </a:r>
            <a:endParaRPr lang="en-US" sz="1500" dirty="0"/>
          </a:p>
        </p:txBody>
      </p:sp>
      <p:sp>
        <p:nvSpPr>
          <p:cNvPr id="26" name="Text 24"/>
          <p:cNvSpPr/>
          <p:nvPr/>
        </p:nvSpPr>
        <p:spPr>
          <a:xfrm>
            <a:off x="923544" y="3483864"/>
            <a:ext cx="1993392" cy="384048"/>
          </a:xfrm>
          <a:prstGeom prst="rect">
            <a:avLst/>
          </a:prstGeom>
          <a:noFill/>
          <a:ln/>
        </p:spPr>
        <p:txBody>
          <a:bodyPr wrap="square" lIns="127" tIns="127" rIns="127" bIns="127" rtlCol="0" anchor="t">
            <a:normAutofit/>
          </a:bodyPr>
          <a:lstStyle/>
          <a:p>
            <a:pPr indent="0" marL="0">
              <a:buNone/>
            </a:pPr>
            <a:r>
              <a:rPr lang="en-US" sz="960" dirty="0">
                <a:solidFill>
                  <a:srgbClr val="334155"/>
                </a:solidFill>
              </a:rPr>
              <a:t>copy factual source text by code</a:t>
            </a:r>
            <a:endParaRPr lang="en-US" sz="960" dirty="0"/>
          </a:p>
        </p:txBody>
      </p:sp>
      <p:sp>
        <p:nvSpPr>
          <p:cNvPr id="27" name="Shape 25"/>
          <p:cNvSpPr/>
          <p:nvPr/>
        </p:nvSpPr>
        <p:spPr>
          <a:xfrm>
            <a:off x="3337560" y="3063240"/>
            <a:ext cx="2286000" cy="914400"/>
          </a:xfrm>
          <a:prstGeom prst="roundRect">
            <a:avLst>
              <a:gd name="adj" fmla="val 8000"/>
            </a:avLst>
          </a:prstGeom>
          <a:solidFill>
            <a:srgbClr val="EDE9FE"/>
          </a:solidFill>
          <a:ln w="12700">
            <a:solidFill>
              <a:srgbClr val="6B4E9E"/>
            </a:solidFill>
            <a:prstDash val="solid"/>
          </a:ln>
        </p:spPr>
      </p:sp>
      <p:sp>
        <p:nvSpPr>
          <p:cNvPr id="28" name="Text 26"/>
          <p:cNvSpPr/>
          <p:nvPr/>
        </p:nvSpPr>
        <p:spPr>
          <a:xfrm>
            <a:off x="3483864" y="3172968"/>
            <a:ext cx="19933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Compose</a:t>
            </a:r>
            <a:endParaRPr lang="en-US" sz="1500" dirty="0"/>
          </a:p>
        </p:txBody>
      </p:sp>
      <p:sp>
        <p:nvSpPr>
          <p:cNvPr id="29" name="Text 27"/>
          <p:cNvSpPr/>
          <p:nvPr/>
        </p:nvSpPr>
        <p:spPr>
          <a:xfrm>
            <a:off x="3483864" y="3483864"/>
            <a:ext cx="1993392" cy="384048"/>
          </a:xfrm>
          <a:prstGeom prst="rect">
            <a:avLst/>
          </a:prstGeom>
          <a:noFill/>
          <a:ln/>
        </p:spPr>
        <p:txBody>
          <a:bodyPr wrap="square" lIns="127" tIns="127" rIns="127" bIns="127" rtlCol="0" anchor="t">
            <a:normAutofit/>
          </a:bodyPr>
          <a:lstStyle/>
          <a:p>
            <a:pPr indent="0" marL="0">
              <a:buNone/>
            </a:pPr>
            <a:r>
              <a:rPr lang="en-US" sz="960" dirty="0">
                <a:solidFill>
                  <a:srgbClr val="334155"/>
                </a:solidFill>
              </a:rPr>
              <a:t>local LLM synthesises only retrieved passages</a:t>
            </a:r>
            <a:endParaRPr lang="en-US" sz="960" dirty="0"/>
          </a:p>
        </p:txBody>
      </p:sp>
      <p:sp>
        <p:nvSpPr>
          <p:cNvPr id="30" name="Shape 28"/>
          <p:cNvSpPr/>
          <p:nvPr/>
        </p:nvSpPr>
        <p:spPr>
          <a:xfrm>
            <a:off x="5897880" y="3063240"/>
            <a:ext cx="2286000" cy="914400"/>
          </a:xfrm>
          <a:prstGeom prst="roundRect">
            <a:avLst>
              <a:gd name="adj" fmla="val 8000"/>
            </a:avLst>
          </a:prstGeom>
          <a:solidFill>
            <a:srgbClr val="FEE2E2"/>
          </a:solidFill>
          <a:ln w="12700">
            <a:solidFill>
              <a:srgbClr val="DC2626"/>
            </a:solidFill>
            <a:prstDash val="solid"/>
          </a:ln>
        </p:spPr>
      </p:sp>
      <p:sp>
        <p:nvSpPr>
          <p:cNvPr id="31" name="Text 29"/>
          <p:cNvSpPr/>
          <p:nvPr/>
        </p:nvSpPr>
        <p:spPr>
          <a:xfrm>
            <a:off x="6044184" y="3172968"/>
            <a:ext cx="19933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Refuse</a:t>
            </a:r>
            <a:endParaRPr lang="en-US" sz="1500" dirty="0"/>
          </a:p>
        </p:txBody>
      </p:sp>
      <p:sp>
        <p:nvSpPr>
          <p:cNvPr id="32" name="Text 30"/>
          <p:cNvSpPr/>
          <p:nvPr/>
        </p:nvSpPr>
        <p:spPr>
          <a:xfrm>
            <a:off x="6044184" y="3483864"/>
            <a:ext cx="1993392" cy="384048"/>
          </a:xfrm>
          <a:prstGeom prst="rect">
            <a:avLst/>
          </a:prstGeom>
          <a:noFill/>
          <a:ln/>
        </p:spPr>
        <p:txBody>
          <a:bodyPr wrap="square" lIns="127" tIns="127" rIns="127" bIns="127" rtlCol="0" anchor="t">
            <a:normAutofit/>
          </a:bodyPr>
          <a:lstStyle/>
          <a:p>
            <a:pPr indent="0" marL="0">
              <a:buNone/>
            </a:pPr>
            <a:r>
              <a:rPr lang="en-US" sz="960" dirty="0">
                <a:solidFill>
                  <a:srgbClr val="334155"/>
                </a:solidFill>
              </a:rPr>
              <a:t>not enough evidence or out of scope</a:t>
            </a:r>
            <a:endParaRPr lang="en-US" sz="960" dirty="0"/>
          </a:p>
        </p:txBody>
      </p:sp>
      <p:sp>
        <p:nvSpPr>
          <p:cNvPr id="33" name="Shape 31"/>
          <p:cNvSpPr/>
          <p:nvPr/>
        </p:nvSpPr>
        <p:spPr>
          <a:xfrm>
            <a:off x="8458200" y="3063240"/>
            <a:ext cx="2286000" cy="914400"/>
          </a:xfrm>
          <a:prstGeom prst="roundRect">
            <a:avLst>
              <a:gd name="adj" fmla="val 8000"/>
            </a:avLst>
          </a:prstGeom>
          <a:solidFill>
            <a:srgbClr val="FEF3C7"/>
          </a:solidFill>
          <a:ln w="12700">
            <a:solidFill>
              <a:srgbClr val="F59E0B"/>
            </a:solidFill>
            <a:prstDash val="solid"/>
          </a:ln>
        </p:spPr>
      </p:sp>
      <p:sp>
        <p:nvSpPr>
          <p:cNvPr id="34" name="Text 32"/>
          <p:cNvSpPr/>
          <p:nvPr/>
        </p:nvSpPr>
        <p:spPr>
          <a:xfrm>
            <a:off x="8604504" y="3172968"/>
            <a:ext cx="19933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Hand-off</a:t>
            </a:r>
            <a:endParaRPr lang="en-US" sz="1500" dirty="0"/>
          </a:p>
        </p:txBody>
      </p:sp>
      <p:sp>
        <p:nvSpPr>
          <p:cNvPr id="35" name="Text 33"/>
          <p:cNvSpPr/>
          <p:nvPr/>
        </p:nvSpPr>
        <p:spPr>
          <a:xfrm>
            <a:off x="8604504" y="3483864"/>
            <a:ext cx="1993392" cy="384048"/>
          </a:xfrm>
          <a:prstGeom prst="rect">
            <a:avLst/>
          </a:prstGeom>
          <a:noFill/>
          <a:ln/>
        </p:spPr>
        <p:txBody>
          <a:bodyPr wrap="square" lIns="127" tIns="127" rIns="127" bIns="127" rtlCol="0" anchor="t">
            <a:normAutofit/>
          </a:bodyPr>
          <a:lstStyle/>
          <a:p>
            <a:pPr indent="0" marL="0">
              <a:buNone/>
            </a:pPr>
            <a:r>
              <a:rPr lang="en-US" sz="960" dirty="0">
                <a:solidFill>
                  <a:srgbClr val="334155"/>
                </a:solidFill>
              </a:rPr>
              <a:t>published causes + contact route</a:t>
            </a:r>
            <a:endParaRPr lang="en-US" sz="960" dirty="0"/>
          </a:p>
        </p:txBody>
      </p:sp>
      <p:sp>
        <p:nvSpPr>
          <p:cNvPr id="36" name="Shape 34"/>
          <p:cNvSpPr/>
          <p:nvPr/>
        </p:nvSpPr>
        <p:spPr>
          <a:xfrm>
            <a:off x="960120" y="5285232"/>
            <a:ext cx="9875520" cy="685800"/>
          </a:xfrm>
          <a:prstGeom prst="roundRect">
            <a:avLst>
              <a:gd name="adj" fmla="val 10667"/>
            </a:avLst>
          </a:prstGeom>
          <a:solidFill>
            <a:srgbClr val="EDE9FE"/>
          </a:solidFill>
          <a:ln w="12700">
            <a:solidFill>
              <a:srgbClr val="6B4E9E"/>
            </a:solidFill>
            <a:prstDash val="solid"/>
          </a:ln>
        </p:spPr>
      </p:sp>
      <p:sp>
        <p:nvSpPr>
          <p:cNvPr id="37" name="Text 35"/>
          <p:cNvSpPr/>
          <p:nvPr/>
        </p:nvSpPr>
        <p:spPr>
          <a:xfrm>
            <a:off x="1106424" y="5330952"/>
            <a:ext cx="9582912" cy="594360"/>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The model does not decide whether to answer. Code decides whether evidence is enough.</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Storage decision: practical now, production-ready later</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One interface lets the same system satisfy offline assessment and deployment constraints.</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777240" y="1371600"/>
            <a:ext cx="3063240" cy="3291840"/>
          </a:xfrm>
          <a:prstGeom prst="roundRect">
            <a:avLst>
              <a:gd name="adj" fmla="val 2388"/>
            </a:avLst>
          </a:prstGeom>
          <a:solidFill>
            <a:srgbClr val="DCFCE7"/>
          </a:solidFill>
          <a:ln w="12700">
            <a:solidFill>
              <a:srgbClr val="2E7D32"/>
            </a:solidFill>
            <a:prstDash val="solid"/>
          </a:ln>
        </p:spPr>
      </p:sp>
      <p:sp>
        <p:nvSpPr>
          <p:cNvPr id="6" name="Text 4"/>
          <p:cNvSpPr/>
          <p:nvPr/>
        </p:nvSpPr>
        <p:spPr>
          <a:xfrm>
            <a:off x="923544" y="1481328"/>
            <a:ext cx="2770632" cy="256032"/>
          </a:xfrm>
          <a:prstGeom prst="rect">
            <a:avLst/>
          </a:prstGeom>
          <a:noFill/>
          <a:ln/>
        </p:spPr>
        <p:txBody>
          <a:bodyPr wrap="square" lIns="0" tIns="0" rIns="0" bIns="0" rtlCol="0" anchor="ctr">
            <a:normAutofit/>
          </a:bodyPr>
          <a:lstStyle/>
          <a:p>
            <a:pPr indent="0" marL="0">
              <a:buNone/>
            </a:pPr>
            <a:r>
              <a:rPr lang="en-US" sz="1800" b="1" dirty="0">
                <a:solidFill>
                  <a:srgbClr val="0B1F3A"/>
                </a:solidFill>
              </a:rPr>
              <a:t>Assessment constraint</a:t>
            </a:r>
            <a:endParaRPr lang="en-US" sz="1800" dirty="0"/>
          </a:p>
        </p:txBody>
      </p:sp>
      <p:sp>
        <p:nvSpPr>
          <p:cNvPr id="7" name="Text 5"/>
          <p:cNvSpPr/>
          <p:nvPr/>
        </p:nvSpPr>
        <p:spPr>
          <a:xfrm>
            <a:off x="923544" y="1792224"/>
            <a:ext cx="2770632" cy="2761488"/>
          </a:xfrm>
          <a:prstGeom prst="rect">
            <a:avLst/>
          </a:prstGeom>
          <a:noFill/>
          <a:ln/>
        </p:spPr>
        <p:txBody>
          <a:bodyPr wrap="square" lIns="127" tIns="127" rIns="127" bIns="127" rtlCol="0" anchor="t">
            <a:normAutofit/>
          </a:bodyPr>
          <a:lstStyle/>
          <a:p>
            <a:pPr indent="0" marL="0">
              <a:buNone/>
            </a:pPr>
            <a:r>
              <a:rPr lang="en-US" sz="1300" dirty="0">
                <a:solidFill>
                  <a:srgbClr val="334155"/>
                </a:solidFill>
              </a:rPr>
              <a:t>Must run from a clean clone/offline path.</a:t>
            </a:r>
            <a:endParaRPr lang="en-US" sz="1300" dirty="0"/>
          </a:p>
          <a:p>
            <a:pPr indent="0" marL="0">
              <a:buNone/>
            </a:pPr>
            <a:endParaRPr lang="en-US" sz="1300" dirty="0"/>
          </a:p>
          <a:p>
            <a:pPr indent="0" marL="0">
              <a:buNone/>
            </a:pPr>
            <a:r>
              <a:rPr lang="en-US" sz="1300" dirty="0">
                <a:solidFill>
                  <a:srgbClr val="334155"/>
                </a:solidFill>
              </a:rPr>
              <a:t>Use SQLite because it is one local file, simple to ship, and requires no external database service.</a:t>
            </a:r>
            <a:endParaRPr lang="en-US" sz="1300" dirty="0"/>
          </a:p>
        </p:txBody>
      </p:sp>
      <p:sp>
        <p:nvSpPr>
          <p:cNvPr id="8" name="Shape 6"/>
          <p:cNvSpPr/>
          <p:nvPr/>
        </p:nvSpPr>
        <p:spPr>
          <a:xfrm>
            <a:off x="4572000" y="1371600"/>
            <a:ext cx="3063240" cy="3291840"/>
          </a:xfrm>
          <a:prstGeom prst="roundRect">
            <a:avLst>
              <a:gd name="adj" fmla="val 2388"/>
            </a:avLst>
          </a:prstGeom>
          <a:solidFill>
            <a:srgbClr val="DBEAFE"/>
          </a:solidFill>
          <a:ln w="12700">
            <a:solidFill>
              <a:srgbClr val="1F4E79"/>
            </a:solidFill>
            <a:prstDash val="solid"/>
          </a:ln>
        </p:spPr>
      </p:sp>
      <p:sp>
        <p:nvSpPr>
          <p:cNvPr id="9" name="Text 7"/>
          <p:cNvSpPr/>
          <p:nvPr/>
        </p:nvSpPr>
        <p:spPr>
          <a:xfrm>
            <a:off x="4718304" y="1481328"/>
            <a:ext cx="2770632" cy="256032"/>
          </a:xfrm>
          <a:prstGeom prst="rect">
            <a:avLst/>
          </a:prstGeom>
          <a:noFill/>
          <a:ln/>
        </p:spPr>
        <p:txBody>
          <a:bodyPr wrap="square" lIns="0" tIns="0" rIns="0" bIns="0" rtlCol="0" anchor="ctr">
            <a:normAutofit/>
          </a:bodyPr>
          <a:lstStyle/>
          <a:p>
            <a:pPr indent="0" marL="0">
              <a:buNone/>
            </a:pPr>
            <a:r>
              <a:rPr lang="en-US" sz="1800" b="1" dirty="0">
                <a:solidFill>
                  <a:srgbClr val="0B1F3A"/>
                </a:solidFill>
              </a:rPr>
              <a:t>Production constraint</a:t>
            </a:r>
            <a:endParaRPr lang="en-US" sz="1800" dirty="0"/>
          </a:p>
        </p:txBody>
      </p:sp>
      <p:sp>
        <p:nvSpPr>
          <p:cNvPr id="10" name="Text 8"/>
          <p:cNvSpPr/>
          <p:nvPr/>
        </p:nvSpPr>
        <p:spPr>
          <a:xfrm>
            <a:off x="4718304" y="1792224"/>
            <a:ext cx="2770632" cy="2761488"/>
          </a:xfrm>
          <a:prstGeom prst="rect">
            <a:avLst/>
          </a:prstGeom>
          <a:noFill/>
          <a:ln/>
        </p:spPr>
        <p:txBody>
          <a:bodyPr wrap="square" lIns="127" tIns="127" rIns="127" bIns="127" rtlCol="0" anchor="t">
            <a:normAutofit/>
          </a:bodyPr>
          <a:lstStyle/>
          <a:p>
            <a:pPr indent="0" marL="0">
              <a:buNone/>
            </a:pPr>
            <a:r>
              <a:rPr lang="en-US" sz="1300" dirty="0">
                <a:solidFill>
                  <a:srgbClr val="334155"/>
                </a:solidFill>
              </a:rPr>
              <a:t>Needs multi-user service behaviour, strong querying, and vector search with metadata filters.</a:t>
            </a:r>
            <a:endParaRPr lang="en-US" sz="1300" dirty="0"/>
          </a:p>
          <a:p>
            <a:pPr indent="0" marL="0">
              <a:buNone/>
            </a:pPr>
            <a:endParaRPr lang="en-US" sz="1300" dirty="0"/>
          </a:p>
          <a:p>
            <a:pPr indent="0" marL="0">
              <a:buNone/>
            </a:pPr>
            <a:r>
              <a:rPr lang="en-US" sz="1300" dirty="0">
                <a:solidFill>
                  <a:srgbClr val="334155"/>
                </a:solidFill>
              </a:rPr>
              <a:t>Use PostgreSQL + pgvector.</a:t>
            </a:r>
            <a:endParaRPr lang="en-US" sz="1300" dirty="0"/>
          </a:p>
        </p:txBody>
      </p:sp>
      <p:sp>
        <p:nvSpPr>
          <p:cNvPr id="11" name="Shape 9"/>
          <p:cNvSpPr/>
          <p:nvPr/>
        </p:nvSpPr>
        <p:spPr>
          <a:xfrm>
            <a:off x="8366760" y="1371600"/>
            <a:ext cx="3063240" cy="3291840"/>
          </a:xfrm>
          <a:prstGeom prst="roundRect">
            <a:avLst>
              <a:gd name="adj" fmla="val 2388"/>
            </a:avLst>
          </a:prstGeom>
          <a:solidFill>
            <a:srgbClr val="EDE9FE"/>
          </a:solidFill>
          <a:ln w="12700">
            <a:solidFill>
              <a:srgbClr val="6B4E9E"/>
            </a:solidFill>
            <a:prstDash val="solid"/>
          </a:ln>
        </p:spPr>
      </p:sp>
      <p:sp>
        <p:nvSpPr>
          <p:cNvPr id="12" name="Text 10"/>
          <p:cNvSpPr/>
          <p:nvPr/>
        </p:nvSpPr>
        <p:spPr>
          <a:xfrm>
            <a:off x="8513064" y="1481328"/>
            <a:ext cx="2770632" cy="256032"/>
          </a:xfrm>
          <a:prstGeom prst="rect">
            <a:avLst/>
          </a:prstGeom>
          <a:noFill/>
          <a:ln/>
        </p:spPr>
        <p:txBody>
          <a:bodyPr wrap="square" lIns="0" tIns="0" rIns="0" bIns="0" rtlCol="0" anchor="ctr">
            <a:normAutofit/>
          </a:bodyPr>
          <a:lstStyle/>
          <a:p>
            <a:pPr indent="0" marL="0">
              <a:buNone/>
            </a:pPr>
            <a:r>
              <a:rPr lang="en-US" sz="1800" b="1" dirty="0">
                <a:solidFill>
                  <a:srgbClr val="0B1F3A"/>
                </a:solidFill>
              </a:rPr>
              <a:t>Design decision</a:t>
            </a:r>
            <a:endParaRPr lang="en-US" sz="1800" dirty="0"/>
          </a:p>
        </p:txBody>
      </p:sp>
      <p:sp>
        <p:nvSpPr>
          <p:cNvPr id="13" name="Text 11"/>
          <p:cNvSpPr/>
          <p:nvPr/>
        </p:nvSpPr>
        <p:spPr>
          <a:xfrm>
            <a:off x="8513064" y="1792224"/>
            <a:ext cx="2770632" cy="2761488"/>
          </a:xfrm>
          <a:prstGeom prst="rect">
            <a:avLst/>
          </a:prstGeom>
          <a:noFill/>
          <a:ln/>
        </p:spPr>
        <p:txBody>
          <a:bodyPr wrap="square" lIns="127" tIns="127" rIns="127" bIns="127" rtlCol="0" anchor="t">
            <a:normAutofit/>
          </a:bodyPr>
          <a:lstStyle/>
          <a:p>
            <a:pPr indent="0" marL="0">
              <a:buNone/>
            </a:pPr>
            <a:r>
              <a:rPr lang="en-US" sz="1300" dirty="0">
                <a:solidFill>
                  <a:srgbClr val="334155"/>
                </a:solidFill>
              </a:rPr>
              <a:t>Both adapters implement the same KnowledgeRepository contract.</a:t>
            </a:r>
            <a:endParaRPr lang="en-US" sz="1300" dirty="0"/>
          </a:p>
          <a:p>
            <a:pPr indent="0" marL="0">
              <a:buNone/>
            </a:pPr>
            <a:endParaRPr lang="en-US" sz="1300" dirty="0"/>
          </a:p>
          <a:p>
            <a:pPr indent="0" marL="0">
              <a:buNone/>
            </a:pPr>
            <a:r>
              <a:rPr lang="en-US" sz="1300" dirty="0">
                <a:solidFill>
                  <a:srgbClr val="334155"/>
                </a:solidFill>
              </a:rPr>
              <a:t>The answer engine remains storage-agnostic.</a:t>
            </a:r>
            <a:endParaRPr lang="en-US" sz="1300" dirty="0"/>
          </a:p>
        </p:txBody>
      </p:sp>
      <p:sp>
        <p:nvSpPr>
          <p:cNvPr id="14" name="Shape 12"/>
          <p:cNvSpPr/>
          <p:nvPr/>
        </p:nvSpPr>
        <p:spPr>
          <a:xfrm>
            <a:off x="868680" y="5376672"/>
            <a:ext cx="10058400" cy="658368"/>
          </a:xfrm>
          <a:prstGeom prst="roundRect">
            <a:avLst>
              <a:gd name="adj" fmla="val 11111"/>
            </a:avLst>
          </a:prstGeom>
          <a:solidFill>
            <a:srgbClr val="DBEAFE"/>
          </a:solidFill>
          <a:ln w="12700">
            <a:solidFill>
              <a:srgbClr val="1F4E79"/>
            </a:solidFill>
            <a:prstDash val="solid"/>
          </a:ln>
        </p:spPr>
      </p:sp>
      <p:sp>
        <p:nvSpPr>
          <p:cNvPr id="15" name="Text 13"/>
          <p:cNvSpPr/>
          <p:nvPr/>
        </p:nvSpPr>
        <p:spPr>
          <a:xfrm>
            <a:off x="1014984" y="5422392"/>
            <a:ext cx="9765792" cy="566928"/>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This is not over-engineering. It is separating the assessment runtime from the deployment architecture without creating two products.</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Image support follows the same safety logic</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A photo helps fill context; it does not replace technical judgement.</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822960" y="1828800"/>
            <a:ext cx="1783080" cy="713232"/>
          </a:xfrm>
          <a:prstGeom prst="roundRect">
            <a:avLst>
              <a:gd name="adj" fmla="val 10256"/>
            </a:avLst>
          </a:prstGeom>
          <a:solidFill>
            <a:srgbClr val="FEF3C7"/>
          </a:solidFill>
          <a:ln w="12700">
            <a:solidFill>
              <a:srgbClr val="F59E0B"/>
            </a:solidFill>
            <a:prstDash val="solid"/>
          </a:ln>
        </p:spPr>
      </p:sp>
      <p:sp>
        <p:nvSpPr>
          <p:cNvPr id="6" name="Text 4"/>
          <p:cNvSpPr/>
          <p:nvPr/>
        </p:nvSpPr>
        <p:spPr>
          <a:xfrm>
            <a:off x="969264" y="1938528"/>
            <a:ext cx="149047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Photo</a:t>
            </a:r>
            <a:endParaRPr lang="en-US" sz="1400" dirty="0"/>
          </a:p>
        </p:txBody>
      </p:sp>
      <p:sp>
        <p:nvSpPr>
          <p:cNvPr id="7" name="Text 5"/>
          <p:cNvSpPr/>
          <p:nvPr/>
        </p:nvSpPr>
        <p:spPr>
          <a:xfrm>
            <a:off x="969264" y="2249424"/>
            <a:ext cx="1490472" cy="182880"/>
          </a:xfrm>
          <a:prstGeom prst="rect">
            <a:avLst/>
          </a:prstGeom>
          <a:noFill/>
          <a:ln/>
        </p:spPr>
        <p:txBody>
          <a:bodyPr wrap="square" lIns="127" tIns="127" rIns="127" bIns="127" rtlCol="0" anchor="t">
            <a:normAutofit/>
          </a:bodyPr>
          <a:lstStyle/>
          <a:p>
            <a:pPr indent="0" marL="0">
              <a:buNone/>
            </a:pPr>
            <a:r>
              <a:rPr lang="en-US" sz="900" dirty="0">
                <a:solidFill>
                  <a:srgbClr val="334155"/>
                </a:solidFill>
              </a:rPr>
              <a:t>old wall</a:t>
            </a:r>
            <a:endParaRPr lang="en-US" sz="900" dirty="0"/>
          </a:p>
        </p:txBody>
      </p:sp>
      <p:sp>
        <p:nvSpPr>
          <p:cNvPr id="8" name="Shape 6"/>
          <p:cNvSpPr/>
          <p:nvPr/>
        </p:nvSpPr>
        <p:spPr>
          <a:xfrm>
            <a:off x="2743200" y="2185416"/>
            <a:ext cx="594360" cy="0"/>
          </a:xfrm>
          <a:prstGeom prst="line">
            <a:avLst/>
          </a:prstGeom>
          <a:noFill/>
          <a:ln w="16510">
            <a:solidFill>
              <a:srgbClr val="64748B"/>
            </a:solidFill>
            <a:prstDash val="solid"/>
            <a:headEnd type="none"/>
            <a:tailEnd type="triangle"/>
          </a:ln>
        </p:spPr>
      </p:sp>
      <p:sp>
        <p:nvSpPr>
          <p:cNvPr id="9" name="Shape 7"/>
          <p:cNvSpPr/>
          <p:nvPr/>
        </p:nvSpPr>
        <p:spPr>
          <a:xfrm>
            <a:off x="3474720" y="1828800"/>
            <a:ext cx="1828800" cy="713232"/>
          </a:xfrm>
          <a:prstGeom prst="roundRect">
            <a:avLst>
              <a:gd name="adj" fmla="val 10256"/>
            </a:avLst>
          </a:prstGeom>
          <a:solidFill>
            <a:srgbClr val="EDE9FE"/>
          </a:solidFill>
          <a:ln w="12700">
            <a:solidFill>
              <a:srgbClr val="6B4E9E"/>
            </a:solidFill>
            <a:prstDash val="solid"/>
          </a:ln>
        </p:spPr>
      </p:sp>
      <p:sp>
        <p:nvSpPr>
          <p:cNvPr id="10" name="Text 8"/>
          <p:cNvSpPr/>
          <p:nvPr/>
        </p:nvSpPr>
        <p:spPr>
          <a:xfrm>
            <a:off x="3621024" y="1938528"/>
            <a:ext cx="153619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Vision model</a:t>
            </a:r>
            <a:endParaRPr lang="en-US" sz="1400" dirty="0"/>
          </a:p>
        </p:txBody>
      </p:sp>
      <p:sp>
        <p:nvSpPr>
          <p:cNvPr id="11" name="Text 9"/>
          <p:cNvSpPr/>
          <p:nvPr/>
        </p:nvSpPr>
        <p:spPr>
          <a:xfrm>
            <a:off x="3621024" y="2249424"/>
            <a:ext cx="1536192" cy="182880"/>
          </a:xfrm>
          <a:prstGeom prst="rect">
            <a:avLst/>
          </a:prstGeom>
          <a:noFill/>
          <a:ln/>
        </p:spPr>
        <p:txBody>
          <a:bodyPr wrap="square" lIns="127" tIns="127" rIns="127" bIns="127" rtlCol="0" anchor="t">
            <a:normAutofit/>
          </a:bodyPr>
          <a:lstStyle/>
          <a:p>
            <a:pPr indent="0" marL="0">
              <a:buNone/>
            </a:pPr>
            <a:r>
              <a:rPr lang="en-US" sz="900" dirty="0">
                <a:solidFill>
                  <a:srgbClr val="334155"/>
                </a:solidFill>
              </a:rPr>
              <a:t>perception only</a:t>
            </a:r>
            <a:endParaRPr lang="en-US" sz="900" dirty="0"/>
          </a:p>
        </p:txBody>
      </p:sp>
      <p:sp>
        <p:nvSpPr>
          <p:cNvPr id="12" name="Shape 10"/>
          <p:cNvSpPr/>
          <p:nvPr/>
        </p:nvSpPr>
        <p:spPr>
          <a:xfrm>
            <a:off x="5440680" y="2185416"/>
            <a:ext cx="594360" cy="0"/>
          </a:xfrm>
          <a:prstGeom prst="line">
            <a:avLst/>
          </a:prstGeom>
          <a:noFill/>
          <a:ln w="16510">
            <a:solidFill>
              <a:srgbClr val="64748B"/>
            </a:solidFill>
            <a:prstDash val="solid"/>
            <a:headEnd type="none"/>
            <a:tailEnd type="triangle"/>
          </a:ln>
        </p:spPr>
      </p:sp>
      <p:sp>
        <p:nvSpPr>
          <p:cNvPr id="13" name="Shape 11"/>
          <p:cNvSpPr/>
          <p:nvPr/>
        </p:nvSpPr>
        <p:spPr>
          <a:xfrm>
            <a:off x="6172200" y="1828800"/>
            <a:ext cx="2057400" cy="713232"/>
          </a:xfrm>
          <a:prstGeom prst="roundRect">
            <a:avLst>
              <a:gd name="adj" fmla="val 10256"/>
            </a:avLst>
          </a:prstGeom>
          <a:solidFill>
            <a:srgbClr val="CCFBF1"/>
          </a:solidFill>
          <a:ln w="12700">
            <a:solidFill>
              <a:srgbClr val="0E7C7B"/>
            </a:solidFill>
            <a:prstDash val="solid"/>
          </a:ln>
        </p:spPr>
      </p:sp>
      <p:sp>
        <p:nvSpPr>
          <p:cNvPr id="14" name="Text 12"/>
          <p:cNvSpPr/>
          <p:nvPr/>
        </p:nvSpPr>
        <p:spPr>
          <a:xfrm>
            <a:off x="6318504" y="1938528"/>
            <a:ext cx="176479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Observations</a:t>
            </a:r>
            <a:endParaRPr lang="en-US" sz="1400" dirty="0"/>
          </a:p>
        </p:txBody>
      </p:sp>
      <p:sp>
        <p:nvSpPr>
          <p:cNvPr id="15" name="Text 13"/>
          <p:cNvSpPr/>
          <p:nvPr/>
        </p:nvSpPr>
        <p:spPr>
          <a:xfrm>
            <a:off x="6318504" y="2249424"/>
            <a:ext cx="1764792" cy="182880"/>
          </a:xfrm>
          <a:prstGeom prst="rect">
            <a:avLst/>
          </a:prstGeom>
          <a:noFill/>
          <a:ln/>
        </p:spPr>
        <p:txBody>
          <a:bodyPr wrap="square" lIns="127" tIns="127" rIns="127" bIns="127" rtlCol="0" anchor="t">
            <a:normAutofit/>
          </a:bodyPr>
          <a:lstStyle/>
          <a:p>
            <a:pPr indent="0" marL="0">
              <a:buNone/>
            </a:pPr>
            <a:r>
              <a:rPr lang="en-US" sz="880" dirty="0">
                <a:solidFill>
                  <a:srgbClr val="334155"/>
                </a:solidFill>
              </a:rPr>
              <a:t>value · confidence · region</a:t>
            </a:r>
            <a:endParaRPr lang="en-US" sz="880" dirty="0"/>
          </a:p>
        </p:txBody>
      </p:sp>
      <p:sp>
        <p:nvSpPr>
          <p:cNvPr id="16" name="Shape 14"/>
          <p:cNvSpPr/>
          <p:nvPr/>
        </p:nvSpPr>
        <p:spPr>
          <a:xfrm>
            <a:off x="8366760" y="2185416"/>
            <a:ext cx="594360" cy="0"/>
          </a:xfrm>
          <a:prstGeom prst="line">
            <a:avLst/>
          </a:prstGeom>
          <a:noFill/>
          <a:ln w="16510">
            <a:solidFill>
              <a:srgbClr val="64748B"/>
            </a:solidFill>
            <a:prstDash val="solid"/>
            <a:headEnd type="none"/>
            <a:tailEnd type="triangle"/>
          </a:ln>
        </p:spPr>
      </p:sp>
      <p:sp>
        <p:nvSpPr>
          <p:cNvPr id="17" name="Shape 15"/>
          <p:cNvSpPr/>
          <p:nvPr/>
        </p:nvSpPr>
        <p:spPr>
          <a:xfrm>
            <a:off x="9098280" y="1828800"/>
            <a:ext cx="2286000" cy="713232"/>
          </a:xfrm>
          <a:prstGeom prst="roundRect">
            <a:avLst>
              <a:gd name="adj" fmla="val 10256"/>
            </a:avLst>
          </a:prstGeom>
          <a:solidFill>
            <a:srgbClr val="DCFCE7"/>
          </a:solidFill>
          <a:ln w="12700">
            <a:solidFill>
              <a:srgbClr val="2E7D32"/>
            </a:solidFill>
            <a:prstDash val="solid"/>
          </a:ln>
        </p:spPr>
      </p:sp>
      <p:sp>
        <p:nvSpPr>
          <p:cNvPr id="18" name="Text 16"/>
          <p:cNvSpPr/>
          <p:nvPr/>
        </p:nvSpPr>
        <p:spPr>
          <a:xfrm>
            <a:off x="9244584" y="1938528"/>
            <a:ext cx="1993392" cy="256032"/>
          </a:xfrm>
          <a:prstGeom prst="rect">
            <a:avLst/>
          </a:prstGeom>
          <a:noFill/>
          <a:ln/>
        </p:spPr>
        <p:txBody>
          <a:bodyPr wrap="square" lIns="0" tIns="0" rIns="0" bIns="0" rtlCol="0" anchor="ctr">
            <a:normAutofit/>
          </a:bodyPr>
          <a:lstStyle/>
          <a:p>
            <a:pPr indent="0" marL="0">
              <a:buNone/>
            </a:pPr>
            <a:r>
              <a:rPr lang="en-US" sz="1400" b="1" dirty="0">
                <a:solidFill>
                  <a:srgbClr val="0B1F3A"/>
                </a:solidFill>
              </a:rPr>
              <a:t>Existing pipeline</a:t>
            </a:r>
            <a:endParaRPr lang="en-US" sz="1400" dirty="0"/>
          </a:p>
        </p:txBody>
      </p:sp>
      <p:sp>
        <p:nvSpPr>
          <p:cNvPr id="19" name="Text 17"/>
          <p:cNvSpPr/>
          <p:nvPr/>
        </p:nvSpPr>
        <p:spPr>
          <a:xfrm>
            <a:off x="9244584" y="2249424"/>
            <a:ext cx="1993392" cy="182880"/>
          </a:xfrm>
          <a:prstGeom prst="rect">
            <a:avLst/>
          </a:prstGeom>
          <a:noFill/>
          <a:ln/>
        </p:spPr>
        <p:txBody>
          <a:bodyPr wrap="square" lIns="127" tIns="127" rIns="127" bIns="127" rtlCol="0" anchor="t">
            <a:normAutofit/>
          </a:bodyPr>
          <a:lstStyle/>
          <a:p>
            <a:pPr indent="0" marL="0">
              <a:buNone/>
            </a:pPr>
            <a:r>
              <a:rPr lang="en-US" sz="900" dirty="0">
                <a:solidFill>
                  <a:srgbClr val="334155"/>
                </a:solidFill>
              </a:rPr>
              <a:t>retrieve · route · verify</a:t>
            </a:r>
            <a:endParaRPr lang="en-US" sz="900" dirty="0"/>
          </a:p>
        </p:txBody>
      </p:sp>
      <p:sp>
        <p:nvSpPr>
          <p:cNvPr id="20" name="Shape 18"/>
          <p:cNvSpPr/>
          <p:nvPr/>
        </p:nvSpPr>
        <p:spPr>
          <a:xfrm>
            <a:off x="1097280" y="3383280"/>
            <a:ext cx="4526280" cy="1143000"/>
          </a:xfrm>
          <a:prstGeom prst="roundRect">
            <a:avLst>
              <a:gd name="adj" fmla="val 6400"/>
            </a:avLst>
          </a:prstGeom>
          <a:solidFill>
            <a:srgbClr val="FFFFFF"/>
          </a:solidFill>
          <a:ln w="12700">
            <a:solidFill>
              <a:srgbClr val="E2E8F0"/>
            </a:solidFill>
            <a:prstDash val="solid"/>
          </a:ln>
        </p:spPr>
      </p:sp>
      <p:sp>
        <p:nvSpPr>
          <p:cNvPr id="21" name="Text 19"/>
          <p:cNvSpPr/>
          <p:nvPr/>
        </p:nvSpPr>
        <p:spPr>
          <a:xfrm>
            <a:off x="1243584" y="3493008"/>
            <a:ext cx="423367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What the VLM may do</a:t>
            </a:r>
            <a:endParaRPr lang="en-US" sz="1600" dirty="0"/>
          </a:p>
        </p:txBody>
      </p:sp>
      <p:sp>
        <p:nvSpPr>
          <p:cNvPr id="22" name="Text 20"/>
          <p:cNvSpPr/>
          <p:nvPr/>
        </p:nvSpPr>
        <p:spPr>
          <a:xfrm>
            <a:off x="1243584" y="3803904"/>
            <a:ext cx="4233672" cy="612648"/>
          </a:xfrm>
          <a:prstGeom prst="rect">
            <a:avLst/>
          </a:prstGeom>
          <a:noFill/>
          <a:ln/>
        </p:spPr>
        <p:txBody>
          <a:bodyPr wrap="square" lIns="127" tIns="127" rIns="127" bIns="127" rtlCol="0" anchor="t">
            <a:normAutofit/>
          </a:bodyPr>
          <a:lstStyle/>
          <a:p>
            <a:pPr indent="0" marL="0">
              <a:buNone/>
            </a:pPr>
            <a:r>
              <a:rPr lang="en-US" sz="1170" dirty="0">
                <a:solidFill>
                  <a:srgbClr val="334155"/>
                </a:solidFill>
              </a:rPr>
              <a:t>Identify visible context such as likely substrate, coating, cracking, deterioration, moisture evidence, and what cannot be determined from the image.</a:t>
            </a:r>
            <a:endParaRPr lang="en-US" sz="1170" dirty="0"/>
          </a:p>
        </p:txBody>
      </p:sp>
      <p:sp>
        <p:nvSpPr>
          <p:cNvPr id="23" name="Shape 21"/>
          <p:cNvSpPr/>
          <p:nvPr/>
        </p:nvSpPr>
        <p:spPr>
          <a:xfrm>
            <a:off x="6583680" y="3383280"/>
            <a:ext cx="4526280" cy="1143000"/>
          </a:xfrm>
          <a:prstGeom prst="roundRect">
            <a:avLst>
              <a:gd name="adj" fmla="val 6400"/>
            </a:avLst>
          </a:prstGeom>
          <a:solidFill>
            <a:srgbClr val="FFFFFF"/>
          </a:solidFill>
          <a:ln w="12700">
            <a:solidFill>
              <a:srgbClr val="E2E8F0"/>
            </a:solidFill>
            <a:prstDash val="solid"/>
          </a:ln>
        </p:spPr>
      </p:sp>
      <p:sp>
        <p:nvSpPr>
          <p:cNvPr id="24" name="Text 22"/>
          <p:cNvSpPr/>
          <p:nvPr/>
        </p:nvSpPr>
        <p:spPr>
          <a:xfrm>
            <a:off x="6729984" y="3493008"/>
            <a:ext cx="4233672" cy="256032"/>
          </a:xfrm>
          <a:prstGeom prst="rect">
            <a:avLst/>
          </a:prstGeom>
          <a:noFill/>
          <a:ln/>
        </p:spPr>
        <p:txBody>
          <a:bodyPr wrap="square" lIns="0" tIns="0" rIns="0" bIns="0" rtlCol="0" anchor="ctr">
            <a:normAutofit/>
          </a:bodyPr>
          <a:lstStyle/>
          <a:p>
            <a:pPr indent="0" marL="0">
              <a:buNone/>
            </a:pPr>
            <a:r>
              <a:rPr lang="en-US" sz="1600" b="1" dirty="0">
                <a:solidFill>
                  <a:srgbClr val="0B1F3A"/>
                </a:solidFill>
              </a:rPr>
              <a:t>What it must not do</a:t>
            </a:r>
            <a:endParaRPr lang="en-US" sz="1600" dirty="0"/>
          </a:p>
        </p:txBody>
      </p:sp>
      <p:sp>
        <p:nvSpPr>
          <p:cNvPr id="25" name="Text 23"/>
          <p:cNvSpPr/>
          <p:nvPr/>
        </p:nvSpPr>
        <p:spPr>
          <a:xfrm>
            <a:off x="6729984" y="3803904"/>
            <a:ext cx="4233672" cy="612648"/>
          </a:xfrm>
          <a:prstGeom prst="rect">
            <a:avLst/>
          </a:prstGeom>
          <a:noFill/>
          <a:ln/>
        </p:spPr>
        <p:txBody>
          <a:bodyPr wrap="square" lIns="127" tIns="127" rIns="127" bIns="127" rtlCol="0" anchor="t">
            <a:normAutofit/>
          </a:bodyPr>
          <a:lstStyle/>
          <a:p>
            <a:pPr indent="0" marL="0">
              <a:buNone/>
            </a:pPr>
            <a:r>
              <a:rPr lang="en-US" sz="1170" dirty="0">
                <a:solidFill>
                  <a:srgbClr val="334155"/>
                </a:solidFill>
              </a:rPr>
              <a:t>It must not diagnose with certainty or directly recommend a product. Product advice still requires retrieved evidence and guardrails.</a:t>
            </a:r>
            <a:endParaRPr lang="en-US" sz="1170" dirty="0"/>
          </a:p>
        </p:txBody>
      </p:sp>
      <p:sp>
        <p:nvSpPr>
          <p:cNvPr id="26" name="Shape 24"/>
          <p:cNvSpPr/>
          <p:nvPr/>
        </p:nvSpPr>
        <p:spPr>
          <a:xfrm>
            <a:off x="914400" y="5486400"/>
            <a:ext cx="9875520" cy="658368"/>
          </a:xfrm>
          <a:prstGeom prst="roundRect">
            <a:avLst>
              <a:gd name="adj" fmla="val 11111"/>
            </a:avLst>
          </a:prstGeom>
          <a:solidFill>
            <a:srgbClr val="EDE9FE"/>
          </a:solidFill>
          <a:ln w="12700">
            <a:solidFill>
              <a:srgbClr val="6B4E9E"/>
            </a:solidFill>
            <a:prstDash val="solid"/>
          </a:ln>
        </p:spPr>
      </p:sp>
      <p:sp>
        <p:nvSpPr>
          <p:cNvPr id="27" name="Text 25"/>
          <p:cNvSpPr/>
          <p:nvPr/>
        </p:nvSpPr>
        <p:spPr>
          <a:xfrm>
            <a:off x="1060704" y="5532120"/>
            <a:ext cx="9582912" cy="566928"/>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Vision is a context-acquisition layer, not a product-recommendation engine.</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Evaluation is derived from the same chain</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The tests should prove the system handles the jobs and failure modes, not just that code runs.</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Shape 3"/>
          <p:cNvSpPr/>
          <p:nvPr/>
        </p:nvSpPr>
        <p:spPr>
          <a:xfrm>
            <a:off x="685800" y="1874520"/>
            <a:ext cx="1600200" cy="960120"/>
          </a:xfrm>
          <a:prstGeom prst="roundRect">
            <a:avLst>
              <a:gd name="adj" fmla="val 7619"/>
            </a:avLst>
          </a:prstGeom>
          <a:solidFill>
            <a:srgbClr val="DBEAFE"/>
          </a:solidFill>
          <a:ln w="12700">
            <a:solidFill>
              <a:srgbClr val="1F4E79"/>
            </a:solidFill>
            <a:prstDash val="solid"/>
          </a:ln>
        </p:spPr>
      </p:sp>
      <p:sp>
        <p:nvSpPr>
          <p:cNvPr id="6" name="Text 4"/>
          <p:cNvSpPr/>
          <p:nvPr/>
        </p:nvSpPr>
        <p:spPr>
          <a:xfrm>
            <a:off x="832104" y="1984248"/>
            <a:ext cx="13075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JTBD</a:t>
            </a:r>
            <a:endParaRPr lang="en-US" sz="1500" dirty="0"/>
          </a:p>
        </p:txBody>
      </p:sp>
      <p:sp>
        <p:nvSpPr>
          <p:cNvPr id="7" name="Text 5"/>
          <p:cNvSpPr/>
          <p:nvPr/>
        </p:nvSpPr>
        <p:spPr>
          <a:xfrm>
            <a:off x="832104" y="2295144"/>
            <a:ext cx="1307592" cy="429768"/>
          </a:xfrm>
          <a:prstGeom prst="rect">
            <a:avLst/>
          </a:prstGeom>
          <a:noFill/>
          <a:ln/>
        </p:spPr>
        <p:txBody>
          <a:bodyPr wrap="square" lIns="127" tIns="127" rIns="127" bIns="127" rtlCol="0" anchor="ctr">
            <a:normAutofit/>
          </a:bodyPr>
          <a:lstStyle/>
          <a:p>
            <a:pPr indent="0" marL="0">
              <a:buNone/>
            </a:pPr>
            <a:r>
              <a:rPr lang="en-US" sz="930" dirty="0">
                <a:solidFill>
                  <a:srgbClr val="334155"/>
                </a:solidFill>
              </a:rPr>
              <a:t>select / verify / lookup</a:t>
            </a:r>
            <a:endParaRPr lang="en-US" sz="930" dirty="0"/>
          </a:p>
        </p:txBody>
      </p:sp>
      <p:sp>
        <p:nvSpPr>
          <p:cNvPr id="8" name="Shape 6"/>
          <p:cNvSpPr/>
          <p:nvPr/>
        </p:nvSpPr>
        <p:spPr>
          <a:xfrm>
            <a:off x="2395728" y="2359152"/>
            <a:ext cx="466344" cy="0"/>
          </a:xfrm>
          <a:prstGeom prst="line">
            <a:avLst/>
          </a:prstGeom>
          <a:noFill/>
          <a:ln w="16510">
            <a:solidFill>
              <a:srgbClr val="64748B"/>
            </a:solidFill>
            <a:prstDash val="solid"/>
            <a:headEnd type="none"/>
            <a:tailEnd type="triangle"/>
          </a:ln>
        </p:spPr>
      </p:sp>
      <p:sp>
        <p:nvSpPr>
          <p:cNvPr id="9" name="Shape 7"/>
          <p:cNvSpPr/>
          <p:nvPr/>
        </p:nvSpPr>
        <p:spPr>
          <a:xfrm>
            <a:off x="2971800" y="1874520"/>
            <a:ext cx="1600200" cy="960120"/>
          </a:xfrm>
          <a:prstGeom prst="roundRect">
            <a:avLst>
              <a:gd name="adj" fmla="val 7619"/>
            </a:avLst>
          </a:prstGeom>
          <a:solidFill>
            <a:srgbClr val="DCFCE7"/>
          </a:solidFill>
          <a:ln w="12700">
            <a:solidFill>
              <a:srgbClr val="2E7D32"/>
            </a:solidFill>
            <a:prstDash val="solid"/>
          </a:ln>
        </p:spPr>
      </p:sp>
      <p:sp>
        <p:nvSpPr>
          <p:cNvPr id="10" name="Text 8"/>
          <p:cNvSpPr/>
          <p:nvPr/>
        </p:nvSpPr>
        <p:spPr>
          <a:xfrm>
            <a:off x="3118104" y="1984248"/>
            <a:ext cx="13075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Query</a:t>
            </a:r>
            <a:endParaRPr lang="en-US" sz="1500" dirty="0"/>
          </a:p>
        </p:txBody>
      </p:sp>
      <p:sp>
        <p:nvSpPr>
          <p:cNvPr id="11" name="Text 9"/>
          <p:cNvSpPr/>
          <p:nvPr/>
        </p:nvSpPr>
        <p:spPr>
          <a:xfrm>
            <a:off x="3118104" y="2295144"/>
            <a:ext cx="1307592" cy="429768"/>
          </a:xfrm>
          <a:prstGeom prst="rect">
            <a:avLst/>
          </a:prstGeom>
          <a:noFill/>
          <a:ln/>
        </p:spPr>
        <p:txBody>
          <a:bodyPr wrap="square" lIns="127" tIns="127" rIns="127" bIns="127" rtlCol="0" anchor="ctr">
            <a:normAutofit/>
          </a:bodyPr>
          <a:lstStyle/>
          <a:p>
            <a:pPr indent="0" marL="0">
              <a:buNone/>
            </a:pPr>
            <a:r>
              <a:rPr lang="en-US" sz="930" dirty="0">
                <a:solidFill>
                  <a:srgbClr val="334155"/>
                </a:solidFill>
              </a:rPr>
              <a:t>realistic examples</a:t>
            </a:r>
            <a:endParaRPr lang="en-US" sz="930" dirty="0"/>
          </a:p>
        </p:txBody>
      </p:sp>
      <p:sp>
        <p:nvSpPr>
          <p:cNvPr id="12" name="Shape 10"/>
          <p:cNvSpPr/>
          <p:nvPr/>
        </p:nvSpPr>
        <p:spPr>
          <a:xfrm>
            <a:off x="4681728" y="2359152"/>
            <a:ext cx="466344" cy="0"/>
          </a:xfrm>
          <a:prstGeom prst="line">
            <a:avLst/>
          </a:prstGeom>
          <a:noFill/>
          <a:ln w="16510">
            <a:solidFill>
              <a:srgbClr val="64748B"/>
            </a:solidFill>
            <a:prstDash val="solid"/>
            <a:headEnd type="none"/>
            <a:tailEnd type="triangle"/>
          </a:ln>
        </p:spPr>
      </p:sp>
      <p:sp>
        <p:nvSpPr>
          <p:cNvPr id="13" name="Shape 11"/>
          <p:cNvSpPr/>
          <p:nvPr/>
        </p:nvSpPr>
        <p:spPr>
          <a:xfrm>
            <a:off x="5257800" y="1874520"/>
            <a:ext cx="1600200" cy="960120"/>
          </a:xfrm>
          <a:prstGeom prst="roundRect">
            <a:avLst>
              <a:gd name="adj" fmla="val 7619"/>
            </a:avLst>
          </a:prstGeom>
          <a:solidFill>
            <a:srgbClr val="DBEAFE"/>
          </a:solidFill>
          <a:ln w="12700">
            <a:solidFill>
              <a:srgbClr val="1F4E79"/>
            </a:solidFill>
            <a:prstDash val="solid"/>
          </a:ln>
        </p:spPr>
      </p:sp>
      <p:sp>
        <p:nvSpPr>
          <p:cNvPr id="14" name="Text 12"/>
          <p:cNvSpPr/>
          <p:nvPr/>
        </p:nvSpPr>
        <p:spPr>
          <a:xfrm>
            <a:off x="5404104" y="1984248"/>
            <a:ext cx="13075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Risk</a:t>
            </a:r>
            <a:endParaRPr lang="en-US" sz="1500" dirty="0"/>
          </a:p>
        </p:txBody>
      </p:sp>
      <p:sp>
        <p:nvSpPr>
          <p:cNvPr id="15" name="Text 13"/>
          <p:cNvSpPr/>
          <p:nvPr/>
        </p:nvSpPr>
        <p:spPr>
          <a:xfrm>
            <a:off x="5404104" y="2295144"/>
            <a:ext cx="1307592" cy="429768"/>
          </a:xfrm>
          <a:prstGeom prst="rect">
            <a:avLst/>
          </a:prstGeom>
          <a:noFill/>
          <a:ln/>
        </p:spPr>
        <p:txBody>
          <a:bodyPr wrap="square" lIns="127" tIns="127" rIns="127" bIns="127" rtlCol="0" anchor="ctr">
            <a:normAutofit/>
          </a:bodyPr>
          <a:lstStyle/>
          <a:p>
            <a:pPr indent="0" marL="0">
              <a:buNone/>
            </a:pPr>
            <a:r>
              <a:rPr lang="en-US" sz="930" dirty="0">
                <a:solidFill>
                  <a:srgbClr val="334155"/>
                </a:solidFill>
              </a:rPr>
              <a:t>wrong or unsafe answer</a:t>
            </a:r>
            <a:endParaRPr lang="en-US" sz="930" dirty="0"/>
          </a:p>
        </p:txBody>
      </p:sp>
      <p:sp>
        <p:nvSpPr>
          <p:cNvPr id="16" name="Shape 14"/>
          <p:cNvSpPr/>
          <p:nvPr/>
        </p:nvSpPr>
        <p:spPr>
          <a:xfrm>
            <a:off x="6967728" y="2359152"/>
            <a:ext cx="466344" cy="0"/>
          </a:xfrm>
          <a:prstGeom prst="line">
            <a:avLst/>
          </a:prstGeom>
          <a:noFill/>
          <a:ln w="16510">
            <a:solidFill>
              <a:srgbClr val="64748B"/>
            </a:solidFill>
            <a:prstDash val="solid"/>
            <a:headEnd type="none"/>
            <a:tailEnd type="triangle"/>
          </a:ln>
        </p:spPr>
      </p:sp>
      <p:sp>
        <p:nvSpPr>
          <p:cNvPr id="17" name="Shape 15"/>
          <p:cNvSpPr/>
          <p:nvPr/>
        </p:nvSpPr>
        <p:spPr>
          <a:xfrm>
            <a:off x="7543800" y="1874520"/>
            <a:ext cx="1600200" cy="960120"/>
          </a:xfrm>
          <a:prstGeom prst="roundRect">
            <a:avLst>
              <a:gd name="adj" fmla="val 7619"/>
            </a:avLst>
          </a:prstGeom>
          <a:solidFill>
            <a:srgbClr val="DCFCE7"/>
          </a:solidFill>
          <a:ln w="12700">
            <a:solidFill>
              <a:srgbClr val="2E7D32"/>
            </a:solidFill>
            <a:prstDash val="solid"/>
          </a:ln>
        </p:spPr>
      </p:sp>
      <p:sp>
        <p:nvSpPr>
          <p:cNvPr id="18" name="Text 16"/>
          <p:cNvSpPr/>
          <p:nvPr/>
        </p:nvSpPr>
        <p:spPr>
          <a:xfrm>
            <a:off x="7690104" y="1984248"/>
            <a:ext cx="13075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Test</a:t>
            </a:r>
            <a:endParaRPr lang="en-US" sz="1500" dirty="0"/>
          </a:p>
        </p:txBody>
      </p:sp>
      <p:sp>
        <p:nvSpPr>
          <p:cNvPr id="19" name="Text 17"/>
          <p:cNvSpPr/>
          <p:nvPr/>
        </p:nvSpPr>
        <p:spPr>
          <a:xfrm>
            <a:off x="7690104" y="2295144"/>
            <a:ext cx="1307592" cy="429768"/>
          </a:xfrm>
          <a:prstGeom prst="rect">
            <a:avLst/>
          </a:prstGeom>
          <a:noFill/>
          <a:ln/>
        </p:spPr>
        <p:txBody>
          <a:bodyPr wrap="square" lIns="127" tIns="127" rIns="127" bIns="127" rtlCol="0" anchor="ctr">
            <a:normAutofit/>
          </a:bodyPr>
          <a:lstStyle/>
          <a:p>
            <a:pPr indent="0" marL="0">
              <a:buNone/>
            </a:pPr>
            <a:r>
              <a:rPr lang="en-US" sz="930" dirty="0">
                <a:solidFill>
                  <a:srgbClr val="334155"/>
                </a:solidFill>
              </a:rPr>
              <a:t>expected safe behaviour</a:t>
            </a:r>
            <a:endParaRPr lang="en-US" sz="930" dirty="0"/>
          </a:p>
        </p:txBody>
      </p:sp>
      <p:sp>
        <p:nvSpPr>
          <p:cNvPr id="20" name="Shape 18"/>
          <p:cNvSpPr/>
          <p:nvPr/>
        </p:nvSpPr>
        <p:spPr>
          <a:xfrm>
            <a:off x="9253728" y="2359152"/>
            <a:ext cx="466344" cy="0"/>
          </a:xfrm>
          <a:prstGeom prst="line">
            <a:avLst/>
          </a:prstGeom>
          <a:noFill/>
          <a:ln w="16510">
            <a:solidFill>
              <a:srgbClr val="64748B"/>
            </a:solidFill>
            <a:prstDash val="solid"/>
            <a:headEnd type="none"/>
            <a:tailEnd type="triangle"/>
          </a:ln>
        </p:spPr>
      </p:sp>
      <p:sp>
        <p:nvSpPr>
          <p:cNvPr id="21" name="Shape 19"/>
          <p:cNvSpPr/>
          <p:nvPr/>
        </p:nvSpPr>
        <p:spPr>
          <a:xfrm>
            <a:off x="9829800" y="1874520"/>
            <a:ext cx="1600200" cy="960120"/>
          </a:xfrm>
          <a:prstGeom prst="roundRect">
            <a:avLst>
              <a:gd name="adj" fmla="val 7619"/>
            </a:avLst>
          </a:prstGeom>
          <a:solidFill>
            <a:srgbClr val="DBEAFE"/>
          </a:solidFill>
          <a:ln w="12700">
            <a:solidFill>
              <a:srgbClr val="1F4E79"/>
            </a:solidFill>
            <a:prstDash val="solid"/>
          </a:ln>
        </p:spPr>
      </p:sp>
      <p:sp>
        <p:nvSpPr>
          <p:cNvPr id="22" name="Text 20"/>
          <p:cNvSpPr/>
          <p:nvPr/>
        </p:nvSpPr>
        <p:spPr>
          <a:xfrm>
            <a:off x="9976104" y="1984248"/>
            <a:ext cx="1307592" cy="256032"/>
          </a:xfrm>
          <a:prstGeom prst="rect">
            <a:avLst/>
          </a:prstGeom>
          <a:noFill/>
          <a:ln/>
        </p:spPr>
        <p:txBody>
          <a:bodyPr wrap="square" lIns="0" tIns="0" rIns="0" bIns="0" rtlCol="0" anchor="ctr">
            <a:normAutofit/>
          </a:bodyPr>
          <a:lstStyle/>
          <a:p>
            <a:pPr indent="0" marL="0">
              <a:buNone/>
            </a:pPr>
            <a:r>
              <a:rPr lang="en-US" sz="1500" b="1" dirty="0">
                <a:solidFill>
                  <a:srgbClr val="0B1F3A"/>
                </a:solidFill>
              </a:rPr>
              <a:t>Evidence</a:t>
            </a:r>
            <a:endParaRPr lang="en-US" sz="1500" dirty="0"/>
          </a:p>
        </p:txBody>
      </p:sp>
      <p:sp>
        <p:nvSpPr>
          <p:cNvPr id="23" name="Text 21"/>
          <p:cNvSpPr/>
          <p:nvPr/>
        </p:nvSpPr>
        <p:spPr>
          <a:xfrm>
            <a:off x="9976104" y="2295144"/>
            <a:ext cx="1307592" cy="429768"/>
          </a:xfrm>
          <a:prstGeom prst="rect">
            <a:avLst/>
          </a:prstGeom>
          <a:noFill/>
          <a:ln/>
        </p:spPr>
        <p:txBody>
          <a:bodyPr wrap="square" lIns="127" tIns="127" rIns="127" bIns="127" rtlCol="0" anchor="ctr">
            <a:normAutofit/>
          </a:bodyPr>
          <a:lstStyle/>
          <a:p>
            <a:pPr indent="0" marL="0">
              <a:buNone/>
            </a:pPr>
            <a:r>
              <a:rPr lang="en-US" sz="930" dirty="0">
                <a:solidFill>
                  <a:srgbClr val="334155"/>
                </a:solidFill>
              </a:rPr>
              <a:t>pass/fail + diagnostics</a:t>
            </a:r>
            <a:endParaRPr lang="en-US" sz="930" dirty="0"/>
          </a:p>
        </p:txBody>
      </p:sp>
      <p:sp>
        <p:nvSpPr>
          <p:cNvPr id="24" name="Shape 22"/>
          <p:cNvSpPr/>
          <p:nvPr/>
        </p:nvSpPr>
        <p:spPr>
          <a:xfrm>
            <a:off x="868680" y="3749040"/>
            <a:ext cx="2331720" cy="329184"/>
          </a:xfrm>
          <a:prstGeom prst="roundRect">
            <a:avLst>
              <a:gd name="adj" fmla="val 19444"/>
            </a:avLst>
          </a:prstGeom>
          <a:solidFill>
            <a:srgbClr val="F1F5F9"/>
          </a:solidFill>
          <a:ln w="12700">
            <a:solidFill>
              <a:srgbClr val="F1F5F9"/>
            </a:solidFill>
            <a:prstDash val="solid"/>
          </a:ln>
        </p:spPr>
      </p:sp>
      <p:sp>
        <p:nvSpPr>
          <p:cNvPr id="25" name="Text 23"/>
          <p:cNvSpPr/>
          <p:nvPr/>
        </p:nvSpPr>
        <p:spPr>
          <a:xfrm>
            <a:off x="923544" y="3813048"/>
            <a:ext cx="2221992" cy="219456"/>
          </a:xfrm>
          <a:prstGeom prst="rect">
            <a:avLst/>
          </a:prstGeom>
          <a:noFill/>
          <a:ln/>
        </p:spPr>
        <p:txBody>
          <a:bodyPr wrap="square" lIns="0" tIns="0" rIns="0" bIns="0" rtlCol="0" anchor="ctr">
            <a:normAutofit/>
          </a:bodyPr>
          <a:lstStyle/>
          <a:p>
            <a:pPr algn="ctr" indent="0" marL="0">
              <a:buNone/>
            </a:pPr>
            <a:r>
              <a:rPr lang="en-US" sz="1040" b="1" dirty="0">
                <a:solidFill>
                  <a:srgbClr val="334155"/>
                </a:solidFill>
              </a:rPr>
              <a:t>exact datasheet lookup</a:t>
            </a:r>
            <a:endParaRPr lang="en-US" sz="1040" dirty="0"/>
          </a:p>
        </p:txBody>
      </p:sp>
      <p:sp>
        <p:nvSpPr>
          <p:cNvPr id="26" name="Shape 24"/>
          <p:cNvSpPr/>
          <p:nvPr/>
        </p:nvSpPr>
        <p:spPr>
          <a:xfrm>
            <a:off x="3657600" y="3749040"/>
            <a:ext cx="2331720" cy="329184"/>
          </a:xfrm>
          <a:prstGeom prst="roundRect">
            <a:avLst>
              <a:gd name="adj" fmla="val 19444"/>
            </a:avLst>
          </a:prstGeom>
          <a:solidFill>
            <a:srgbClr val="F1F5F9"/>
          </a:solidFill>
          <a:ln w="12700">
            <a:solidFill>
              <a:srgbClr val="F1F5F9"/>
            </a:solidFill>
            <a:prstDash val="solid"/>
          </a:ln>
        </p:spPr>
      </p:sp>
      <p:sp>
        <p:nvSpPr>
          <p:cNvPr id="27" name="Text 25"/>
          <p:cNvSpPr/>
          <p:nvPr/>
        </p:nvSpPr>
        <p:spPr>
          <a:xfrm>
            <a:off x="3712464" y="3813048"/>
            <a:ext cx="2221992" cy="219456"/>
          </a:xfrm>
          <a:prstGeom prst="rect">
            <a:avLst/>
          </a:prstGeom>
          <a:noFill/>
          <a:ln/>
        </p:spPr>
        <p:txBody>
          <a:bodyPr wrap="square" lIns="0" tIns="0" rIns="0" bIns="0" rtlCol="0" anchor="ctr">
            <a:normAutofit/>
          </a:bodyPr>
          <a:lstStyle/>
          <a:p>
            <a:pPr algn="ctr" indent="0" marL="0">
              <a:buNone/>
            </a:pPr>
            <a:r>
              <a:rPr lang="en-US" sz="1040" b="1" dirty="0">
                <a:solidFill>
                  <a:srgbClr val="334155"/>
                </a:solidFill>
              </a:rPr>
              <a:t>near-miss refusal</a:t>
            </a:r>
            <a:endParaRPr lang="en-US" sz="1040" dirty="0"/>
          </a:p>
        </p:txBody>
      </p:sp>
      <p:sp>
        <p:nvSpPr>
          <p:cNvPr id="28" name="Shape 26"/>
          <p:cNvSpPr/>
          <p:nvPr/>
        </p:nvSpPr>
        <p:spPr>
          <a:xfrm>
            <a:off x="6446520" y="3749040"/>
            <a:ext cx="2331720" cy="329184"/>
          </a:xfrm>
          <a:prstGeom prst="roundRect">
            <a:avLst>
              <a:gd name="adj" fmla="val 19444"/>
            </a:avLst>
          </a:prstGeom>
          <a:solidFill>
            <a:srgbClr val="F1F5F9"/>
          </a:solidFill>
          <a:ln w="12700">
            <a:solidFill>
              <a:srgbClr val="F1F5F9"/>
            </a:solidFill>
            <a:prstDash val="solid"/>
          </a:ln>
        </p:spPr>
      </p:sp>
      <p:sp>
        <p:nvSpPr>
          <p:cNvPr id="29" name="Text 27"/>
          <p:cNvSpPr/>
          <p:nvPr/>
        </p:nvSpPr>
        <p:spPr>
          <a:xfrm>
            <a:off x="6501384" y="3813048"/>
            <a:ext cx="2221992" cy="219456"/>
          </a:xfrm>
          <a:prstGeom prst="rect">
            <a:avLst/>
          </a:prstGeom>
          <a:noFill/>
          <a:ln/>
        </p:spPr>
        <p:txBody>
          <a:bodyPr wrap="square" lIns="0" tIns="0" rIns="0" bIns="0" rtlCol="0" anchor="ctr">
            <a:normAutofit/>
          </a:bodyPr>
          <a:lstStyle/>
          <a:p>
            <a:pPr algn="ctr" indent="0" marL="0">
              <a:buNone/>
            </a:pPr>
            <a:r>
              <a:rPr lang="en-US" sz="1040" b="1" dirty="0">
                <a:solidFill>
                  <a:srgbClr val="334155"/>
                </a:solidFill>
              </a:rPr>
              <a:t>staff-only isolation</a:t>
            </a:r>
            <a:endParaRPr lang="en-US" sz="1040" dirty="0"/>
          </a:p>
        </p:txBody>
      </p:sp>
      <p:sp>
        <p:nvSpPr>
          <p:cNvPr id="30" name="Shape 28"/>
          <p:cNvSpPr/>
          <p:nvPr/>
        </p:nvSpPr>
        <p:spPr>
          <a:xfrm>
            <a:off x="9235440" y="3749040"/>
            <a:ext cx="2331720" cy="329184"/>
          </a:xfrm>
          <a:prstGeom prst="roundRect">
            <a:avLst>
              <a:gd name="adj" fmla="val 19444"/>
            </a:avLst>
          </a:prstGeom>
          <a:solidFill>
            <a:srgbClr val="F1F5F9"/>
          </a:solidFill>
          <a:ln w="12700">
            <a:solidFill>
              <a:srgbClr val="F1F5F9"/>
            </a:solidFill>
            <a:prstDash val="solid"/>
          </a:ln>
        </p:spPr>
      </p:sp>
      <p:sp>
        <p:nvSpPr>
          <p:cNvPr id="31" name="Text 29"/>
          <p:cNvSpPr/>
          <p:nvPr/>
        </p:nvSpPr>
        <p:spPr>
          <a:xfrm>
            <a:off x="9290304" y="3813048"/>
            <a:ext cx="2221992" cy="219456"/>
          </a:xfrm>
          <a:prstGeom prst="rect">
            <a:avLst/>
          </a:prstGeom>
          <a:noFill/>
          <a:ln/>
        </p:spPr>
        <p:txBody>
          <a:bodyPr wrap="square" lIns="0" tIns="0" rIns="0" bIns="0" rtlCol="0" anchor="ctr">
            <a:normAutofit/>
          </a:bodyPr>
          <a:lstStyle/>
          <a:p>
            <a:pPr algn="ctr" indent="0" marL="0">
              <a:buNone/>
            </a:pPr>
            <a:r>
              <a:rPr lang="en-US" sz="1040" b="1" dirty="0">
                <a:solidFill>
                  <a:srgbClr val="334155"/>
                </a:solidFill>
              </a:rPr>
              <a:t>superseded datasheet</a:t>
            </a:r>
            <a:endParaRPr lang="en-US" sz="1040" dirty="0"/>
          </a:p>
        </p:txBody>
      </p:sp>
      <p:sp>
        <p:nvSpPr>
          <p:cNvPr id="32" name="Shape 30"/>
          <p:cNvSpPr/>
          <p:nvPr/>
        </p:nvSpPr>
        <p:spPr>
          <a:xfrm>
            <a:off x="868680" y="4279392"/>
            <a:ext cx="2331720" cy="329184"/>
          </a:xfrm>
          <a:prstGeom prst="roundRect">
            <a:avLst>
              <a:gd name="adj" fmla="val 19444"/>
            </a:avLst>
          </a:prstGeom>
          <a:solidFill>
            <a:srgbClr val="F1F5F9"/>
          </a:solidFill>
          <a:ln w="12700">
            <a:solidFill>
              <a:srgbClr val="F1F5F9"/>
            </a:solidFill>
            <a:prstDash val="solid"/>
          </a:ln>
        </p:spPr>
      </p:sp>
      <p:sp>
        <p:nvSpPr>
          <p:cNvPr id="33" name="Text 31"/>
          <p:cNvSpPr/>
          <p:nvPr/>
        </p:nvSpPr>
        <p:spPr>
          <a:xfrm>
            <a:off x="923544" y="4343400"/>
            <a:ext cx="2221992" cy="219456"/>
          </a:xfrm>
          <a:prstGeom prst="rect">
            <a:avLst/>
          </a:prstGeom>
          <a:noFill/>
          <a:ln/>
        </p:spPr>
        <p:txBody>
          <a:bodyPr wrap="square" lIns="0" tIns="0" rIns="0" bIns="0" rtlCol="0" anchor="ctr">
            <a:normAutofit/>
          </a:bodyPr>
          <a:lstStyle/>
          <a:p>
            <a:pPr algn="ctr" indent="0" marL="0">
              <a:buNone/>
            </a:pPr>
            <a:r>
              <a:rPr lang="en-US" sz="1040" b="1" dirty="0">
                <a:solidFill>
                  <a:srgbClr val="334155"/>
                </a:solidFill>
              </a:rPr>
              <a:t>missing substrate ask-back</a:t>
            </a:r>
            <a:endParaRPr lang="en-US" sz="1040" dirty="0"/>
          </a:p>
        </p:txBody>
      </p:sp>
      <p:sp>
        <p:nvSpPr>
          <p:cNvPr id="34" name="Shape 32"/>
          <p:cNvSpPr/>
          <p:nvPr/>
        </p:nvSpPr>
        <p:spPr>
          <a:xfrm>
            <a:off x="3657600" y="4279392"/>
            <a:ext cx="2331720" cy="329184"/>
          </a:xfrm>
          <a:prstGeom prst="roundRect">
            <a:avLst>
              <a:gd name="adj" fmla="val 19444"/>
            </a:avLst>
          </a:prstGeom>
          <a:solidFill>
            <a:srgbClr val="F1F5F9"/>
          </a:solidFill>
          <a:ln w="12700">
            <a:solidFill>
              <a:srgbClr val="F1F5F9"/>
            </a:solidFill>
            <a:prstDash val="solid"/>
          </a:ln>
        </p:spPr>
      </p:sp>
      <p:sp>
        <p:nvSpPr>
          <p:cNvPr id="35" name="Text 33"/>
          <p:cNvSpPr/>
          <p:nvPr/>
        </p:nvSpPr>
        <p:spPr>
          <a:xfrm>
            <a:off x="3712464" y="4343400"/>
            <a:ext cx="2221992" cy="219456"/>
          </a:xfrm>
          <a:prstGeom prst="rect">
            <a:avLst/>
          </a:prstGeom>
          <a:noFill/>
          <a:ln/>
        </p:spPr>
        <p:txBody>
          <a:bodyPr wrap="square" lIns="0" tIns="0" rIns="0" bIns="0" rtlCol="0" anchor="ctr">
            <a:normAutofit/>
          </a:bodyPr>
          <a:lstStyle/>
          <a:p>
            <a:pPr algn="ctr" indent="0" marL="0">
              <a:buNone/>
            </a:pPr>
            <a:r>
              <a:rPr lang="en-US" sz="1040" b="1" dirty="0">
                <a:solidFill>
                  <a:srgbClr val="334155"/>
                </a:solidFill>
              </a:rPr>
              <a:t>calculation restriction</a:t>
            </a:r>
            <a:endParaRPr lang="en-US" sz="1040" dirty="0"/>
          </a:p>
        </p:txBody>
      </p:sp>
      <p:sp>
        <p:nvSpPr>
          <p:cNvPr id="36" name="Shape 34"/>
          <p:cNvSpPr/>
          <p:nvPr/>
        </p:nvSpPr>
        <p:spPr>
          <a:xfrm>
            <a:off x="6446520" y="4279392"/>
            <a:ext cx="2331720" cy="329184"/>
          </a:xfrm>
          <a:prstGeom prst="roundRect">
            <a:avLst>
              <a:gd name="adj" fmla="val 19444"/>
            </a:avLst>
          </a:prstGeom>
          <a:solidFill>
            <a:srgbClr val="F1F5F9"/>
          </a:solidFill>
          <a:ln w="12700">
            <a:solidFill>
              <a:srgbClr val="F1F5F9"/>
            </a:solidFill>
            <a:prstDash val="solid"/>
          </a:ln>
        </p:spPr>
      </p:sp>
      <p:sp>
        <p:nvSpPr>
          <p:cNvPr id="37" name="Text 35"/>
          <p:cNvSpPr/>
          <p:nvPr/>
        </p:nvSpPr>
        <p:spPr>
          <a:xfrm>
            <a:off x="6501384" y="4343400"/>
            <a:ext cx="2221992" cy="219456"/>
          </a:xfrm>
          <a:prstGeom prst="rect">
            <a:avLst/>
          </a:prstGeom>
          <a:noFill/>
          <a:ln/>
        </p:spPr>
        <p:txBody>
          <a:bodyPr wrap="square" lIns="0" tIns="0" rIns="0" bIns="0" rtlCol="0" anchor="ctr">
            <a:normAutofit/>
          </a:bodyPr>
          <a:lstStyle/>
          <a:p>
            <a:pPr algn="ctr" indent="0" marL="0">
              <a:buNone/>
            </a:pPr>
            <a:r>
              <a:rPr lang="en-US" sz="1040" b="1" dirty="0">
                <a:solidFill>
                  <a:srgbClr val="334155"/>
                </a:solidFill>
              </a:rPr>
              <a:t>published deferral</a:t>
            </a:r>
            <a:endParaRPr lang="en-US" sz="1040" dirty="0"/>
          </a:p>
        </p:txBody>
      </p:sp>
      <p:sp>
        <p:nvSpPr>
          <p:cNvPr id="38" name="Shape 36"/>
          <p:cNvSpPr/>
          <p:nvPr/>
        </p:nvSpPr>
        <p:spPr>
          <a:xfrm>
            <a:off x="9235440" y="4279392"/>
            <a:ext cx="2331720" cy="329184"/>
          </a:xfrm>
          <a:prstGeom prst="roundRect">
            <a:avLst>
              <a:gd name="adj" fmla="val 19444"/>
            </a:avLst>
          </a:prstGeom>
          <a:solidFill>
            <a:srgbClr val="F1F5F9"/>
          </a:solidFill>
          <a:ln w="12700">
            <a:solidFill>
              <a:srgbClr val="F1F5F9"/>
            </a:solidFill>
            <a:prstDash val="solid"/>
          </a:ln>
        </p:spPr>
      </p:sp>
      <p:sp>
        <p:nvSpPr>
          <p:cNvPr id="39" name="Text 37"/>
          <p:cNvSpPr/>
          <p:nvPr/>
        </p:nvSpPr>
        <p:spPr>
          <a:xfrm>
            <a:off x="9290304" y="4343400"/>
            <a:ext cx="2221992" cy="219456"/>
          </a:xfrm>
          <a:prstGeom prst="rect">
            <a:avLst/>
          </a:prstGeom>
          <a:noFill/>
          <a:ln/>
        </p:spPr>
        <p:txBody>
          <a:bodyPr wrap="square" lIns="0" tIns="0" rIns="0" bIns="0" rtlCol="0" anchor="ctr">
            <a:normAutofit/>
          </a:bodyPr>
          <a:lstStyle/>
          <a:p>
            <a:pPr algn="ctr" indent="0" marL="0">
              <a:buNone/>
            </a:pPr>
            <a:r>
              <a:rPr lang="en-US" sz="1040" b="1" dirty="0">
                <a:solidFill>
                  <a:srgbClr val="334155"/>
                </a:solidFill>
              </a:rPr>
              <a:t>failed citation check</a:t>
            </a:r>
            <a:endParaRPr lang="en-US" sz="1040" dirty="0"/>
          </a:p>
        </p:txBody>
      </p:sp>
      <p:sp>
        <p:nvSpPr>
          <p:cNvPr id="40" name="Shape 38"/>
          <p:cNvSpPr/>
          <p:nvPr/>
        </p:nvSpPr>
        <p:spPr>
          <a:xfrm>
            <a:off x="914400" y="5623560"/>
            <a:ext cx="9875520" cy="658368"/>
          </a:xfrm>
          <a:prstGeom prst="roundRect">
            <a:avLst>
              <a:gd name="adj" fmla="val 11111"/>
            </a:avLst>
          </a:prstGeom>
          <a:solidFill>
            <a:srgbClr val="DCFCE7"/>
          </a:solidFill>
          <a:ln w="12700">
            <a:solidFill>
              <a:srgbClr val="2E7D32"/>
            </a:solidFill>
            <a:prstDash val="solid"/>
          </a:ln>
        </p:spPr>
      </p:sp>
      <p:sp>
        <p:nvSpPr>
          <p:cNvPr id="41" name="Text 39"/>
          <p:cNvSpPr/>
          <p:nvPr/>
        </p:nvSpPr>
        <p:spPr>
          <a:xfrm>
            <a:off x="1060704" y="5669280"/>
            <a:ext cx="9582912" cy="566928"/>
          </a:xfrm>
          <a:prstGeom prst="rect">
            <a:avLst/>
          </a:prstGeom>
          <a:noFill/>
          <a:ln/>
        </p:spPr>
        <p:txBody>
          <a:bodyPr wrap="square" lIns="254" tIns="254" rIns="254" bIns="254" rtlCol="0" anchor="ctr">
            <a:normAutofit/>
          </a:bodyPr>
          <a:lstStyle/>
          <a:p>
            <a:pPr algn="ctr" indent="0" marL="0">
              <a:buNone/>
            </a:pPr>
            <a:r>
              <a:rPr lang="en-US" sz="1720" b="1" i="1" dirty="0">
                <a:solidFill>
                  <a:srgbClr val="0B1F3A"/>
                </a:solidFill>
              </a:rPr>
              <a:t>The evaluation harness should test the assistant as a system: retrieval, access, routing, generation and refusal together.</a:t>
            </a:r>
            <a:endParaRPr lang="en-US" sz="172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10698480" cy="411480"/>
          </a:xfrm>
          <a:prstGeom prst="rect">
            <a:avLst/>
          </a:prstGeom>
          <a:noFill/>
          <a:ln/>
        </p:spPr>
        <p:txBody>
          <a:bodyPr wrap="square" lIns="0" tIns="0" rIns="0" bIns="0" rtlCol="0" anchor="ctr">
            <a:normAutofit/>
          </a:bodyPr>
          <a:lstStyle/>
          <a:p>
            <a:pPr indent="0" marL="0">
              <a:buNone/>
            </a:pPr>
            <a:r>
              <a:rPr lang="en-US" sz="2700" b="1" dirty="0">
                <a:solidFill>
                  <a:srgbClr val="0B1F3A"/>
                </a:solidFill>
                <a:latin typeface="Aptos Display" pitchFamily="34" charset="0"/>
                <a:ea typeface="Aptos Display" pitchFamily="34" charset="-122"/>
                <a:cs typeface="Aptos Display" pitchFamily="34" charset="-120"/>
              </a:rPr>
              <a:t>The explanation you should give</a:t>
            </a:r>
            <a:endParaRPr lang="en-US" sz="2700" dirty="0"/>
          </a:p>
        </p:txBody>
      </p:sp>
      <p:sp>
        <p:nvSpPr>
          <p:cNvPr id="3" name="Text 1"/>
          <p:cNvSpPr/>
          <p:nvPr/>
        </p:nvSpPr>
        <p:spPr>
          <a:xfrm>
            <a:off x="566928" y="768096"/>
            <a:ext cx="10424160" cy="256032"/>
          </a:xfrm>
          <a:prstGeom prst="rect">
            <a:avLst/>
          </a:prstGeom>
          <a:noFill/>
          <a:ln/>
        </p:spPr>
        <p:txBody>
          <a:bodyPr wrap="square" lIns="0" tIns="0" rIns="0" bIns="0" rtlCol="0" anchor="ctr">
            <a:normAutofit/>
          </a:bodyPr>
          <a:lstStyle/>
          <a:p>
            <a:pPr indent="0" marL="0">
              <a:buNone/>
            </a:pPr>
            <a:r>
              <a:rPr lang="en-US" sz="1100" dirty="0">
                <a:solidFill>
                  <a:srgbClr val="64748B"/>
                </a:solidFill>
              </a:rPr>
              <a:t>A concise narrative that shows judgement, not just implementation effort.</a:t>
            </a:r>
            <a:endParaRPr lang="en-US" sz="1100" dirty="0"/>
          </a:p>
        </p:txBody>
      </p:sp>
      <p:sp>
        <p:nvSpPr>
          <p:cNvPr id="4" name="Shape 2"/>
          <p:cNvSpPr/>
          <p:nvPr/>
        </p:nvSpPr>
        <p:spPr>
          <a:xfrm>
            <a:off x="548640" y="1060704"/>
            <a:ext cx="11064240" cy="0"/>
          </a:xfrm>
          <a:prstGeom prst="line">
            <a:avLst/>
          </a:prstGeom>
          <a:noFill/>
          <a:ln w="9525">
            <a:solidFill>
              <a:srgbClr val="E2E8F0"/>
            </a:solidFill>
            <a:prstDash val="solid"/>
          </a:ln>
        </p:spPr>
      </p:sp>
      <p:sp>
        <p:nvSpPr>
          <p:cNvPr id="5" name="Text 3"/>
          <p:cNvSpPr/>
          <p:nvPr/>
        </p:nvSpPr>
        <p:spPr>
          <a:xfrm>
            <a:off x="777240" y="1325880"/>
            <a:ext cx="10652760" cy="4343400"/>
          </a:xfrm>
          <a:prstGeom prst="rect">
            <a:avLst/>
          </a:prstGeom>
          <a:noFill/>
          <a:ln/>
        </p:spPr>
        <p:txBody>
          <a:bodyPr wrap="square" lIns="1016" tIns="1016" rIns="1016" bIns="1016" rtlCol="0" anchor="ctr">
            <a:normAutofit/>
          </a:bodyPr>
          <a:lstStyle/>
          <a:p>
            <a:pPr indent="0" marL="0">
              <a:buNone/>
            </a:pPr>
            <a:r>
              <a:rPr lang="en-US" sz="1620" dirty="0">
                <a:solidFill>
                  <a:srgbClr val="334155"/>
                </a:solidFill>
              </a:rPr>
              <a:t>“I did not start by choosing a RAG framework. I started by mapping the users: public customers, trade users and staff advisors. Then I broke their needs into jobs-to-be-done: selecting products, verifying suitability, looking up exact datasheet values, calculating quantities, troubleshooting defects and escalating uncertain cases.</a:t>
            </a:r>
            <a:endParaRPr lang="en-US" sz="1620" dirty="0"/>
          </a:p>
          <a:p>
            <a:pPr indent="0" marL="0">
              <a:buNone/>
            </a:pPr>
            <a:endParaRPr lang="en-US" sz="1620" dirty="0"/>
          </a:p>
          <a:p>
            <a:pPr indent="0" marL="0">
              <a:buNone/>
            </a:pPr>
            <a:r>
              <a:rPr lang="en-US" sz="1620" dirty="0">
                <a:solidFill>
                  <a:srgbClr val="334155"/>
                </a:solidFill>
              </a:rPr>
              <a:t>Each job creates different risks. A paraphrased number can cause site mistakes. A stale datasheet can create conflicting specifications. A public user must not see staff-only guidance. And a photo of a damaged wall should not let a model make a confident diagnosis.</a:t>
            </a:r>
            <a:endParaRPr lang="en-US" sz="1620" dirty="0"/>
          </a:p>
          <a:p>
            <a:pPr indent="0" marL="0">
              <a:buNone/>
            </a:pPr>
            <a:endParaRPr lang="en-US" sz="1620" dirty="0"/>
          </a:p>
          <a:p>
            <a:pPr indent="0" marL="0">
              <a:buNone/>
            </a:pPr>
            <a:r>
              <a:rPr lang="en-US" sz="1620" dirty="0">
                <a:solidFill>
                  <a:srgbClr val="334155"/>
                </a:solidFill>
              </a:rPr>
              <a:t>Those risks drove the architecture. The knowledge side keeps Lime Green content versioned, current and auditable. The answer side retrieves only active, audience-allowed evidence. A deterministic router decides whether to extract, compose, refuse or hand off. The local LLM is used only for grounded composition, and its output is checked before anything is shown.</a:t>
            </a:r>
            <a:endParaRPr lang="en-US" sz="1620" dirty="0"/>
          </a:p>
          <a:p>
            <a:pPr indent="0" marL="0">
              <a:buNone/>
            </a:pPr>
            <a:endParaRPr lang="en-US" sz="1620" dirty="0"/>
          </a:p>
          <a:p>
            <a:pPr indent="0" marL="0">
              <a:buNone/>
            </a:pPr>
            <a:r>
              <a:rPr lang="en-US" sz="1620" dirty="0">
                <a:solidFill>
                  <a:srgbClr val="334155"/>
                </a:solidFill>
              </a:rPr>
              <a:t>So the system is not just a chatbot. It is a controlled technical assistant designed around the cost of being wrong.”</a:t>
            </a:r>
            <a:endParaRPr lang="en-US" sz="1620" dirty="0"/>
          </a:p>
        </p:txBody>
      </p:sp>
      <p:sp>
        <p:nvSpPr>
          <p:cNvPr id="6" name="Shape 4"/>
          <p:cNvSpPr/>
          <p:nvPr/>
        </p:nvSpPr>
        <p:spPr>
          <a:xfrm>
            <a:off x="1051560" y="5833872"/>
            <a:ext cx="2011680" cy="347472"/>
          </a:xfrm>
          <a:prstGeom prst="roundRect">
            <a:avLst>
              <a:gd name="adj" fmla="val 18421"/>
            </a:avLst>
          </a:prstGeom>
          <a:solidFill>
            <a:srgbClr val="CCFBF1"/>
          </a:solidFill>
          <a:ln w="12700">
            <a:solidFill>
              <a:srgbClr val="CCFBF1"/>
            </a:solidFill>
            <a:prstDash val="solid"/>
          </a:ln>
        </p:spPr>
      </p:sp>
      <p:sp>
        <p:nvSpPr>
          <p:cNvPr id="7" name="Text 5"/>
          <p:cNvSpPr/>
          <p:nvPr/>
        </p:nvSpPr>
        <p:spPr>
          <a:xfrm>
            <a:off x="1106424" y="5897880"/>
            <a:ext cx="1901952" cy="237744"/>
          </a:xfrm>
          <a:prstGeom prst="rect">
            <a:avLst/>
          </a:prstGeom>
          <a:noFill/>
          <a:ln/>
        </p:spPr>
        <p:txBody>
          <a:bodyPr wrap="square" lIns="0" tIns="0" rIns="0" bIns="0" rtlCol="0" anchor="ctr">
            <a:normAutofit/>
          </a:bodyPr>
          <a:lstStyle/>
          <a:p>
            <a:pPr algn="ctr" indent="0" marL="0">
              <a:buNone/>
            </a:pPr>
            <a:r>
              <a:rPr lang="en-US" sz="1150" b="1" dirty="0">
                <a:solidFill>
                  <a:srgbClr val="0E7C7B"/>
                </a:solidFill>
              </a:rPr>
              <a:t>User-led</a:t>
            </a:r>
            <a:endParaRPr lang="en-US" sz="1150" dirty="0"/>
          </a:p>
        </p:txBody>
      </p:sp>
      <p:sp>
        <p:nvSpPr>
          <p:cNvPr id="8" name="Shape 6"/>
          <p:cNvSpPr/>
          <p:nvPr/>
        </p:nvSpPr>
        <p:spPr>
          <a:xfrm>
            <a:off x="3429000" y="5833872"/>
            <a:ext cx="2194560" cy="347472"/>
          </a:xfrm>
          <a:prstGeom prst="roundRect">
            <a:avLst>
              <a:gd name="adj" fmla="val 18421"/>
            </a:avLst>
          </a:prstGeom>
          <a:solidFill>
            <a:srgbClr val="FEE2E2"/>
          </a:solidFill>
          <a:ln w="12700">
            <a:solidFill>
              <a:srgbClr val="FEE2E2"/>
            </a:solidFill>
            <a:prstDash val="solid"/>
          </a:ln>
        </p:spPr>
      </p:sp>
      <p:sp>
        <p:nvSpPr>
          <p:cNvPr id="9" name="Text 7"/>
          <p:cNvSpPr/>
          <p:nvPr/>
        </p:nvSpPr>
        <p:spPr>
          <a:xfrm>
            <a:off x="3483864" y="5897880"/>
            <a:ext cx="2084832" cy="237744"/>
          </a:xfrm>
          <a:prstGeom prst="rect">
            <a:avLst/>
          </a:prstGeom>
          <a:noFill/>
          <a:ln/>
        </p:spPr>
        <p:txBody>
          <a:bodyPr wrap="square" lIns="0" tIns="0" rIns="0" bIns="0" rtlCol="0" anchor="ctr">
            <a:normAutofit/>
          </a:bodyPr>
          <a:lstStyle/>
          <a:p>
            <a:pPr algn="ctr" indent="0" marL="0">
              <a:buNone/>
            </a:pPr>
            <a:r>
              <a:rPr lang="en-US" sz="1150" b="1" dirty="0">
                <a:solidFill>
                  <a:srgbClr val="DC2626"/>
                </a:solidFill>
              </a:rPr>
              <a:t>Risk-aware</a:t>
            </a:r>
            <a:endParaRPr lang="en-US" sz="1150" dirty="0"/>
          </a:p>
        </p:txBody>
      </p:sp>
      <p:sp>
        <p:nvSpPr>
          <p:cNvPr id="10" name="Shape 8"/>
          <p:cNvSpPr/>
          <p:nvPr/>
        </p:nvSpPr>
        <p:spPr>
          <a:xfrm>
            <a:off x="5989320" y="5833872"/>
            <a:ext cx="2468880" cy="347472"/>
          </a:xfrm>
          <a:prstGeom prst="roundRect">
            <a:avLst>
              <a:gd name="adj" fmla="val 18421"/>
            </a:avLst>
          </a:prstGeom>
          <a:solidFill>
            <a:srgbClr val="DBEAFE"/>
          </a:solidFill>
          <a:ln w="12700">
            <a:solidFill>
              <a:srgbClr val="DBEAFE"/>
            </a:solidFill>
            <a:prstDash val="solid"/>
          </a:ln>
        </p:spPr>
      </p:sp>
      <p:sp>
        <p:nvSpPr>
          <p:cNvPr id="11" name="Text 9"/>
          <p:cNvSpPr/>
          <p:nvPr/>
        </p:nvSpPr>
        <p:spPr>
          <a:xfrm>
            <a:off x="6044184" y="5897880"/>
            <a:ext cx="2359152" cy="237744"/>
          </a:xfrm>
          <a:prstGeom prst="rect">
            <a:avLst/>
          </a:prstGeom>
          <a:noFill/>
          <a:ln/>
        </p:spPr>
        <p:txBody>
          <a:bodyPr wrap="square" lIns="0" tIns="0" rIns="0" bIns="0" rtlCol="0" anchor="ctr">
            <a:normAutofit/>
          </a:bodyPr>
          <a:lstStyle/>
          <a:p>
            <a:pPr algn="ctr" indent="0" marL="0">
              <a:buNone/>
            </a:pPr>
            <a:r>
              <a:rPr lang="en-US" sz="1150" b="1" dirty="0">
                <a:solidFill>
                  <a:srgbClr val="1F4E79"/>
                </a:solidFill>
              </a:rPr>
              <a:t>Evidence-first</a:t>
            </a:r>
            <a:endParaRPr lang="en-US" sz="1150" dirty="0"/>
          </a:p>
        </p:txBody>
      </p:sp>
      <p:sp>
        <p:nvSpPr>
          <p:cNvPr id="12" name="Shape 10"/>
          <p:cNvSpPr/>
          <p:nvPr/>
        </p:nvSpPr>
        <p:spPr>
          <a:xfrm>
            <a:off x="8823960" y="5833872"/>
            <a:ext cx="2148840" cy="347472"/>
          </a:xfrm>
          <a:prstGeom prst="roundRect">
            <a:avLst>
              <a:gd name="adj" fmla="val 18421"/>
            </a:avLst>
          </a:prstGeom>
          <a:solidFill>
            <a:srgbClr val="DCFCE7"/>
          </a:solidFill>
          <a:ln w="12700">
            <a:solidFill>
              <a:srgbClr val="DCFCE7"/>
            </a:solidFill>
            <a:prstDash val="solid"/>
          </a:ln>
        </p:spPr>
      </p:sp>
      <p:sp>
        <p:nvSpPr>
          <p:cNvPr id="13" name="Text 11"/>
          <p:cNvSpPr/>
          <p:nvPr/>
        </p:nvSpPr>
        <p:spPr>
          <a:xfrm>
            <a:off x="8878824" y="5897880"/>
            <a:ext cx="2039112" cy="237744"/>
          </a:xfrm>
          <a:prstGeom prst="rect">
            <a:avLst/>
          </a:prstGeom>
          <a:noFill/>
          <a:ln/>
        </p:spPr>
        <p:txBody>
          <a:bodyPr wrap="square" lIns="0" tIns="0" rIns="0" bIns="0" rtlCol="0" anchor="ctr">
            <a:normAutofit/>
          </a:bodyPr>
          <a:lstStyle/>
          <a:p>
            <a:pPr algn="ctr" indent="0" marL="0">
              <a:buNone/>
            </a:pPr>
            <a:r>
              <a:rPr lang="en-US" sz="1150" b="1" dirty="0">
                <a:solidFill>
                  <a:srgbClr val="2E7D32"/>
                </a:solidFill>
              </a:rPr>
              <a:t>Production-minded</a:t>
            </a:r>
            <a:endParaRPr lang="en-US" sz="1150" dirty="0"/>
          </a:p>
        </p:txBody>
      </p:sp>
      <p:sp>
        <p:nvSpPr>
          <p:cNvPr id="25" name="Slide Number Placeholder 0"/>
          <p:cNvSpPr>
            <a:spLocks noGrp="1"/>
          </p:cNvSpPr>
          <p:nvPr>
            <p:ph type="sldNum" sz="quarter" idx="4294967295"/>
          </p:nvPr>
        </p:nvSpPr>
        <p:spPr>
          <a:xfrm>
            <a:off x="1138428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User Jobs to Architecture Decisions</dc:title>
  <dc:subject>Lime Green Technical Knowledge Assistant — JTBD to architecture decision journey</dc:subject>
  <dc:creator>OpenAI</dc:creator>
  <cp:lastModifiedBy>OpenAI</cp:lastModifiedBy>
  <cp:revision>1</cp:revision>
  <dcterms:created xsi:type="dcterms:W3CDTF">2026-09-15T14:02:27Z</dcterms:created>
  <dcterms:modified xsi:type="dcterms:W3CDTF">2026-09-15T14:02:27Z</dcterms:modified>
</cp:coreProperties>
</file>